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54a0ba23f1846f9b7c5a60fcc74854161c1e42aa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rcRect l="0" r="0" t="28848" b="2884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5763" y="385763"/>
            <a:ext cx="2343150" cy="352425"/>
          </a:xfrm>
          <a:custGeom>
            <a:avLst/>
            <a:gdLst/>
            <a:ahLst/>
            <a:cxnLst/>
            <a:rect l="l" t="t" r="r" b="b"/>
            <a:pathLst>
              <a:path w="2343150" h="352425">
                <a:moveTo>
                  <a:pt x="38101" y="0"/>
                </a:moveTo>
                <a:lnTo>
                  <a:pt x="2305049" y="0"/>
                </a:lnTo>
                <a:cubicBezTo>
                  <a:pt x="2326092" y="0"/>
                  <a:pt x="2343150" y="17058"/>
                  <a:pt x="2343150" y="38101"/>
                </a:cubicBezTo>
                <a:lnTo>
                  <a:pt x="2343150" y="314324"/>
                </a:lnTo>
                <a:cubicBezTo>
                  <a:pt x="2343150" y="335367"/>
                  <a:pt x="2326092" y="352425"/>
                  <a:pt x="2305049" y="352425"/>
                </a:cubicBezTo>
                <a:lnTo>
                  <a:pt x="38101" y="352425"/>
                </a:lnTo>
                <a:cubicBezTo>
                  <a:pt x="17058" y="352425"/>
                  <a:pt x="0" y="335367"/>
                  <a:pt x="0" y="314324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00A9E0">
              <a:alpha val="2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81025" y="466725"/>
            <a:ext cx="2019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63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HACKATHON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47750"/>
            <a:ext cx="11811000" cy="2171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Aircraft Engine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RUL Prediction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00A9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&amp; Monitoring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681413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0" y="0"/>
                </a:moveTo>
                <a:lnTo>
                  <a:pt x="762000" y="0"/>
                </a:lnTo>
                <a:lnTo>
                  <a:pt x="7620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8" name="Text 5"/>
          <p:cNvSpPr/>
          <p:nvPr/>
        </p:nvSpPr>
        <p:spPr>
          <a:xfrm>
            <a:off x="1295400" y="3524250"/>
            <a:ext cx="289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Innovate for Efficiency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0050" y="4724400"/>
            <a:ext cx="11410950" cy="1066800"/>
          </a:xfrm>
          <a:custGeom>
            <a:avLst/>
            <a:gdLst/>
            <a:ahLst/>
            <a:cxnLst/>
            <a:rect l="l" t="t" r="r" b="b"/>
            <a:pathLst>
              <a:path w="11410950" h="1066800">
                <a:moveTo>
                  <a:pt x="0" y="0"/>
                </a:moveTo>
                <a:lnTo>
                  <a:pt x="11410950" y="0"/>
                </a:lnTo>
                <a:lnTo>
                  <a:pt x="1141095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00050" y="4724400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0" y="10668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Text 8"/>
          <p:cNvSpPr/>
          <p:nvPr/>
        </p:nvSpPr>
        <p:spPr>
          <a:xfrm>
            <a:off x="647700" y="4953000"/>
            <a:ext cx="110299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Predictive Maintenance system that estimates the </a:t>
            </a:r>
            <a:pPr>
              <a:lnSpc>
                <a:spcPct val="140000"/>
              </a:lnSpc>
            </a:pPr>
            <a:r>
              <a:rPr lang="en-US" sz="1500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Remaining Useful Life (RUL)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aircraft engines using Deep Learning and provides a real-time monitoring dashboard for factory operators.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16719" y="61531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3" name="Text 10"/>
          <p:cNvSpPr/>
          <p:nvPr/>
        </p:nvSpPr>
        <p:spPr>
          <a:xfrm>
            <a:off x="733425" y="6019800"/>
            <a:ext cx="3629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Contributors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3425" y="6210300"/>
            <a:ext cx="3648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Soumyadeep De, Rishav Kundu, Ayindrik Dev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1354" y="351354"/>
            <a:ext cx="11752807" cy="527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1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51354" y="1018928"/>
            <a:ext cx="1124334" cy="26352"/>
          </a:xfrm>
          <a:custGeom>
            <a:avLst/>
            <a:gdLst/>
            <a:ahLst/>
            <a:cxnLst/>
            <a:rect l="l" t="t" r="r" b="b"/>
            <a:pathLst>
              <a:path w="1124334" h="26352">
                <a:moveTo>
                  <a:pt x="0" y="0"/>
                </a:moveTo>
                <a:lnTo>
                  <a:pt x="1124334" y="0"/>
                </a:lnTo>
                <a:lnTo>
                  <a:pt x="1124334" y="26352"/>
                </a:lnTo>
                <a:lnTo>
                  <a:pt x="0" y="26352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" name="Shape 2"/>
          <p:cNvSpPr/>
          <p:nvPr/>
        </p:nvSpPr>
        <p:spPr>
          <a:xfrm>
            <a:off x="351354" y="1396634"/>
            <a:ext cx="562167" cy="562167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0" y="0"/>
                </a:moveTo>
                <a:lnTo>
                  <a:pt x="562167" y="0"/>
                </a:lnTo>
                <a:lnTo>
                  <a:pt x="562167" y="562167"/>
                </a:lnTo>
                <a:lnTo>
                  <a:pt x="0" y="56216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Text 3"/>
          <p:cNvSpPr/>
          <p:nvPr/>
        </p:nvSpPr>
        <p:spPr>
          <a:xfrm>
            <a:off x="488328" y="1519608"/>
            <a:ext cx="421625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89199" y="1396634"/>
            <a:ext cx="4971666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89199" y="1747988"/>
            <a:ext cx="4936530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Hackathon context, problem statement, and the critical need for predictive maintenance in aviation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38463" y="1396634"/>
            <a:ext cx="562167" cy="562167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0" y="0"/>
                </a:moveTo>
                <a:lnTo>
                  <a:pt x="562167" y="0"/>
                </a:lnTo>
                <a:lnTo>
                  <a:pt x="562167" y="562167"/>
                </a:lnTo>
                <a:lnTo>
                  <a:pt x="0" y="56216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9" name="Text 7"/>
          <p:cNvSpPr/>
          <p:nvPr/>
        </p:nvSpPr>
        <p:spPr>
          <a:xfrm>
            <a:off x="6351555" y="1519608"/>
            <a:ext cx="465545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76308" y="1396634"/>
            <a:ext cx="4945314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76308" y="1747988"/>
            <a:ext cx="4910179" cy="22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and the complete system architecture from data to dashboard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1354" y="3170974"/>
            <a:ext cx="562167" cy="562167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0" y="0"/>
                </a:moveTo>
                <a:lnTo>
                  <a:pt x="562167" y="0"/>
                </a:lnTo>
                <a:lnTo>
                  <a:pt x="562167" y="562167"/>
                </a:lnTo>
                <a:lnTo>
                  <a:pt x="0" y="56216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3" name="Text 11"/>
          <p:cNvSpPr/>
          <p:nvPr/>
        </p:nvSpPr>
        <p:spPr>
          <a:xfrm>
            <a:off x="463211" y="3293948"/>
            <a:ext cx="474329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89199" y="3170974"/>
            <a:ext cx="4971666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9199" y="3522329"/>
            <a:ext cx="4936530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pipeline, LSTM model architecture, and tech stack implementation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38463" y="3170974"/>
            <a:ext cx="562167" cy="562167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0" y="0"/>
                </a:moveTo>
                <a:lnTo>
                  <a:pt x="562167" y="0"/>
                </a:lnTo>
                <a:lnTo>
                  <a:pt x="562167" y="562167"/>
                </a:lnTo>
                <a:lnTo>
                  <a:pt x="0" y="56216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0457" y="3293948"/>
            <a:ext cx="465545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76308" y="3170974"/>
            <a:ext cx="4962882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&amp; Demo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76308" y="3522329"/>
            <a:ext cx="4927746" cy="228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capabilities, health classification, and real-time monitoring interface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1354" y="4945314"/>
            <a:ext cx="562167" cy="562167"/>
          </a:xfrm>
          <a:custGeom>
            <a:avLst/>
            <a:gdLst/>
            <a:ahLst/>
            <a:cxnLst/>
            <a:rect l="l" t="t" r="r" b="b"/>
            <a:pathLst>
              <a:path w="562167" h="562167">
                <a:moveTo>
                  <a:pt x="0" y="0"/>
                </a:moveTo>
                <a:lnTo>
                  <a:pt x="562167" y="0"/>
                </a:lnTo>
                <a:lnTo>
                  <a:pt x="562167" y="562167"/>
                </a:lnTo>
                <a:lnTo>
                  <a:pt x="0" y="56216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1" name="Text 19"/>
          <p:cNvSpPr/>
          <p:nvPr/>
        </p:nvSpPr>
        <p:spPr>
          <a:xfrm>
            <a:off x="465133" y="5068288"/>
            <a:ext cx="465545" cy="31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75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9199" y="4945314"/>
            <a:ext cx="4971666" cy="28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6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Future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9199" y="5296669"/>
            <a:ext cx="4936530" cy="4567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benefits, model performance, and potential enhancements for production deployment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42855" y="4949706"/>
            <a:ext cx="5595320" cy="1554744"/>
          </a:xfrm>
          <a:custGeom>
            <a:avLst/>
            <a:gdLst/>
            <a:ahLst/>
            <a:cxnLst/>
            <a:rect l="l" t="t" r="r" b="b"/>
            <a:pathLst>
              <a:path w="5595320" h="1554744">
                <a:moveTo>
                  <a:pt x="0" y="0"/>
                </a:moveTo>
                <a:lnTo>
                  <a:pt x="5595320" y="0"/>
                </a:lnTo>
                <a:lnTo>
                  <a:pt x="5595320" y="1554744"/>
                </a:lnTo>
                <a:lnTo>
                  <a:pt x="0" y="155474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83229" y="5164911"/>
            <a:ext cx="316219" cy="421625"/>
          </a:xfrm>
          <a:custGeom>
            <a:avLst/>
            <a:gdLst/>
            <a:ahLst/>
            <a:cxnLst/>
            <a:rect l="l" t="t" r="r" b="b"/>
            <a:pathLst>
              <a:path w="316219" h="421625">
                <a:moveTo>
                  <a:pt x="241199" y="316219"/>
                </a:moveTo>
                <a:cubicBezTo>
                  <a:pt x="247211" y="297855"/>
                  <a:pt x="259234" y="281221"/>
                  <a:pt x="272821" y="266892"/>
                </a:cubicBezTo>
                <a:cubicBezTo>
                  <a:pt x="299749" y="238564"/>
                  <a:pt x="316219" y="200272"/>
                  <a:pt x="316219" y="158110"/>
                </a:cubicBezTo>
                <a:cubicBezTo>
                  <a:pt x="316219" y="70820"/>
                  <a:pt x="245399" y="0"/>
                  <a:pt x="158110" y="0"/>
                </a:cubicBezTo>
                <a:cubicBezTo>
                  <a:pt x="70820" y="0"/>
                  <a:pt x="0" y="70820"/>
                  <a:pt x="0" y="158110"/>
                </a:cubicBezTo>
                <a:cubicBezTo>
                  <a:pt x="0" y="200272"/>
                  <a:pt x="16470" y="238564"/>
                  <a:pt x="43398" y="266892"/>
                </a:cubicBezTo>
                <a:cubicBezTo>
                  <a:pt x="56985" y="281221"/>
                  <a:pt x="69091" y="297855"/>
                  <a:pt x="75020" y="316219"/>
                </a:cubicBezTo>
                <a:lnTo>
                  <a:pt x="241117" y="316219"/>
                </a:lnTo>
                <a:close/>
                <a:moveTo>
                  <a:pt x="237164" y="355746"/>
                </a:moveTo>
                <a:lnTo>
                  <a:pt x="79055" y="355746"/>
                </a:lnTo>
                <a:lnTo>
                  <a:pt x="79055" y="368922"/>
                </a:lnTo>
                <a:cubicBezTo>
                  <a:pt x="79055" y="405320"/>
                  <a:pt x="108536" y="434801"/>
                  <a:pt x="144934" y="434801"/>
                </a:cubicBezTo>
                <a:lnTo>
                  <a:pt x="171285" y="434801"/>
                </a:lnTo>
                <a:cubicBezTo>
                  <a:pt x="207683" y="434801"/>
                  <a:pt x="237164" y="405320"/>
                  <a:pt x="237164" y="368922"/>
                </a:cubicBezTo>
                <a:lnTo>
                  <a:pt x="237164" y="355746"/>
                </a:lnTo>
                <a:close/>
                <a:moveTo>
                  <a:pt x="151522" y="92231"/>
                </a:moveTo>
                <a:cubicBezTo>
                  <a:pt x="118747" y="92231"/>
                  <a:pt x="92231" y="118747"/>
                  <a:pt x="92231" y="151522"/>
                </a:cubicBezTo>
                <a:cubicBezTo>
                  <a:pt x="92231" y="162474"/>
                  <a:pt x="83419" y="171285"/>
                  <a:pt x="72467" y="171285"/>
                </a:cubicBezTo>
                <a:cubicBezTo>
                  <a:pt x="61514" y="171285"/>
                  <a:pt x="52703" y="162474"/>
                  <a:pt x="52703" y="151522"/>
                </a:cubicBezTo>
                <a:cubicBezTo>
                  <a:pt x="52703" y="96924"/>
                  <a:pt x="96924" y="52703"/>
                  <a:pt x="151522" y="52703"/>
                </a:cubicBezTo>
                <a:cubicBezTo>
                  <a:pt x="162474" y="52703"/>
                  <a:pt x="171285" y="61514"/>
                  <a:pt x="171285" y="72467"/>
                </a:cubicBezTo>
                <a:cubicBezTo>
                  <a:pt x="171285" y="83419"/>
                  <a:pt x="162474" y="92231"/>
                  <a:pt x="151522" y="92231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6" name="Text 24"/>
          <p:cNvSpPr/>
          <p:nvPr/>
        </p:nvSpPr>
        <p:spPr>
          <a:xfrm>
            <a:off x="7131809" y="5762213"/>
            <a:ext cx="3820980" cy="245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8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40593" y="6078432"/>
            <a:ext cx="3803412" cy="2108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reactive maintenance to predictive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rtx.com/b22fc1a4700d405873df9b1fa836ab4b3e145124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5" b="2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0382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Text 2"/>
          <p:cNvSpPr/>
          <p:nvPr/>
        </p:nvSpPr>
        <p:spPr>
          <a:xfrm>
            <a:off x="525661" y="1209675"/>
            <a:ext cx="9144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0382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257425"/>
            <a:ext cx="11858625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00A9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Challenge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81475"/>
            <a:ext cx="74580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the hackathon requirements and problem statement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672138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0" name="Text 7"/>
          <p:cNvSpPr/>
          <p:nvPr/>
        </p:nvSpPr>
        <p:spPr>
          <a:xfrm>
            <a:off x="1905000" y="5553075"/>
            <a:ext cx="1981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Innovate for Efficiency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797" y="340797"/>
            <a:ext cx="11570046" cy="17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9" b="1" spc="188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797" y="579354"/>
            <a:ext cx="11714885" cy="817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Problem Statement: Predictive Maintenance for Jet Engines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0797" y="1533585"/>
            <a:ext cx="817912" cy="25560"/>
          </a:xfrm>
          <a:custGeom>
            <a:avLst/>
            <a:gdLst/>
            <a:ahLst/>
            <a:cxnLst/>
            <a:rect l="l" t="t" r="r" b="b"/>
            <a:pathLst>
              <a:path w="817912" h="25560">
                <a:moveTo>
                  <a:pt x="0" y="0"/>
                </a:moveTo>
                <a:lnTo>
                  <a:pt x="817912" y="0"/>
                </a:lnTo>
                <a:lnTo>
                  <a:pt x="817912" y="25560"/>
                </a:lnTo>
                <a:lnTo>
                  <a:pt x="0" y="2556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45057" y="1767883"/>
            <a:ext cx="6815933" cy="1951061"/>
          </a:xfrm>
          <a:custGeom>
            <a:avLst/>
            <a:gdLst/>
            <a:ahLst/>
            <a:cxnLst/>
            <a:rect l="l" t="t" r="r" b="b"/>
            <a:pathLst>
              <a:path w="6815933" h="1951061">
                <a:moveTo>
                  <a:pt x="0" y="0"/>
                </a:moveTo>
                <a:lnTo>
                  <a:pt x="6815933" y="0"/>
                </a:lnTo>
                <a:lnTo>
                  <a:pt x="6815933" y="1951061"/>
                </a:lnTo>
                <a:lnTo>
                  <a:pt x="0" y="1951061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9354" y="2002180"/>
            <a:ext cx="204478" cy="204478"/>
          </a:xfrm>
          <a:custGeom>
            <a:avLst/>
            <a:gdLst/>
            <a:ahLst/>
            <a:cxnLst/>
            <a:rect l="l" t="t" r="r" b="b"/>
            <a:pathLst>
              <a:path w="204478" h="204478">
                <a:moveTo>
                  <a:pt x="102239" y="0"/>
                </a:moveTo>
                <a:cubicBezTo>
                  <a:pt x="108110" y="0"/>
                  <a:pt x="113501" y="3235"/>
                  <a:pt x="116297" y="8387"/>
                </a:cubicBezTo>
                <a:lnTo>
                  <a:pt x="202561" y="168135"/>
                </a:lnTo>
                <a:cubicBezTo>
                  <a:pt x="205237" y="173087"/>
                  <a:pt x="205117" y="179078"/>
                  <a:pt x="202242" y="183910"/>
                </a:cubicBezTo>
                <a:cubicBezTo>
                  <a:pt x="199366" y="188743"/>
                  <a:pt x="194134" y="191698"/>
                  <a:pt x="188503" y="191698"/>
                </a:cubicBezTo>
                <a:lnTo>
                  <a:pt x="15975" y="191698"/>
                </a:lnTo>
                <a:cubicBezTo>
                  <a:pt x="10344" y="191698"/>
                  <a:pt x="5152" y="188743"/>
                  <a:pt x="2236" y="183910"/>
                </a:cubicBezTo>
                <a:cubicBezTo>
                  <a:pt x="-679" y="179078"/>
                  <a:pt x="-759" y="173087"/>
                  <a:pt x="1917" y="168135"/>
                </a:cubicBezTo>
                <a:lnTo>
                  <a:pt x="88181" y="8387"/>
                </a:lnTo>
                <a:cubicBezTo>
                  <a:pt x="90977" y="3235"/>
                  <a:pt x="96368" y="0"/>
                  <a:pt x="102239" y="0"/>
                </a:cubicBezTo>
                <a:close/>
                <a:moveTo>
                  <a:pt x="102239" y="67094"/>
                </a:moveTo>
                <a:cubicBezTo>
                  <a:pt x="96927" y="67094"/>
                  <a:pt x="92654" y="71368"/>
                  <a:pt x="92654" y="76679"/>
                </a:cubicBezTo>
                <a:lnTo>
                  <a:pt x="92654" y="121409"/>
                </a:lnTo>
                <a:cubicBezTo>
                  <a:pt x="92654" y="126720"/>
                  <a:pt x="96927" y="130994"/>
                  <a:pt x="102239" y="130994"/>
                </a:cubicBezTo>
                <a:cubicBezTo>
                  <a:pt x="107551" y="130994"/>
                  <a:pt x="111824" y="126720"/>
                  <a:pt x="111824" y="121409"/>
                </a:cubicBezTo>
                <a:lnTo>
                  <a:pt x="111824" y="76679"/>
                </a:lnTo>
                <a:cubicBezTo>
                  <a:pt x="111824" y="71368"/>
                  <a:pt x="107551" y="67094"/>
                  <a:pt x="102239" y="67094"/>
                </a:cubicBezTo>
                <a:close/>
                <a:moveTo>
                  <a:pt x="112902" y="153358"/>
                </a:moveTo>
                <a:cubicBezTo>
                  <a:pt x="113145" y="149400"/>
                  <a:pt x="111171" y="145635"/>
                  <a:pt x="107778" y="143582"/>
                </a:cubicBezTo>
                <a:cubicBezTo>
                  <a:pt x="104385" y="141530"/>
                  <a:pt x="100133" y="141530"/>
                  <a:pt x="96740" y="143582"/>
                </a:cubicBezTo>
                <a:cubicBezTo>
                  <a:pt x="93347" y="145635"/>
                  <a:pt x="91373" y="149400"/>
                  <a:pt x="91616" y="153358"/>
                </a:cubicBezTo>
                <a:cubicBezTo>
                  <a:pt x="91373" y="157317"/>
                  <a:pt x="93347" y="161082"/>
                  <a:pt x="96740" y="163135"/>
                </a:cubicBezTo>
                <a:cubicBezTo>
                  <a:pt x="100133" y="165187"/>
                  <a:pt x="104385" y="165187"/>
                  <a:pt x="107778" y="163135"/>
                </a:cubicBezTo>
                <a:cubicBezTo>
                  <a:pt x="111171" y="161082"/>
                  <a:pt x="113145" y="157317"/>
                  <a:pt x="112902" y="153358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877980" y="1976621"/>
            <a:ext cx="6176511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Need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3795" y="2385577"/>
            <a:ext cx="6466616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Jet engines are the heart of modern aviation, but their maintenance remains a significant challenge. </a:t>
            </a:r>
            <a:pPr>
              <a:lnSpc>
                <a:spcPct val="140000"/>
              </a:lnSpc>
            </a:pPr>
            <a:r>
              <a:rPr lang="en-US" sz="107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Unexpected failures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can lead to: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5094" y="2981971"/>
            <a:ext cx="170398" cy="170398"/>
          </a:xfrm>
          <a:custGeom>
            <a:avLst/>
            <a:gdLst/>
            <a:ahLst/>
            <a:cxnLst/>
            <a:rect l="l" t="t" r="r" b="b"/>
            <a:pathLst>
              <a:path w="170398" h="170398">
                <a:moveTo>
                  <a:pt x="85199" y="170398"/>
                </a:moveTo>
                <a:cubicBezTo>
                  <a:pt x="132222" y="170398"/>
                  <a:pt x="170398" y="132222"/>
                  <a:pt x="170398" y="85199"/>
                </a:cubicBezTo>
                <a:cubicBezTo>
                  <a:pt x="170398" y="38176"/>
                  <a:pt x="132222" y="0"/>
                  <a:pt x="85199" y="0"/>
                </a:cubicBezTo>
                <a:cubicBezTo>
                  <a:pt x="38176" y="0"/>
                  <a:pt x="0" y="38176"/>
                  <a:pt x="0" y="85199"/>
                </a:cubicBezTo>
                <a:cubicBezTo>
                  <a:pt x="0" y="132222"/>
                  <a:pt x="38176" y="170398"/>
                  <a:pt x="85199" y="170398"/>
                </a:cubicBezTo>
                <a:close/>
                <a:moveTo>
                  <a:pt x="55579" y="55579"/>
                </a:moveTo>
                <a:cubicBezTo>
                  <a:pt x="58708" y="52451"/>
                  <a:pt x="63766" y="52451"/>
                  <a:pt x="66861" y="55579"/>
                </a:cubicBezTo>
                <a:lnTo>
                  <a:pt x="85166" y="73884"/>
                </a:lnTo>
                <a:lnTo>
                  <a:pt x="103470" y="55579"/>
                </a:lnTo>
                <a:cubicBezTo>
                  <a:pt x="106599" y="52451"/>
                  <a:pt x="111657" y="52451"/>
                  <a:pt x="114753" y="55579"/>
                </a:cubicBezTo>
                <a:cubicBezTo>
                  <a:pt x="117848" y="58708"/>
                  <a:pt x="117881" y="63766"/>
                  <a:pt x="114753" y="66861"/>
                </a:cubicBezTo>
                <a:lnTo>
                  <a:pt x="96448" y="85166"/>
                </a:lnTo>
                <a:lnTo>
                  <a:pt x="114753" y="103470"/>
                </a:lnTo>
                <a:cubicBezTo>
                  <a:pt x="117881" y="106599"/>
                  <a:pt x="117881" y="111657"/>
                  <a:pt x="114753" y="114753"/>
                </a:cubicBezTo>
                <a:cubicBezTo>
                  <a:pt x="111624" y="117848"/>
                  <a:pt x="106566" y="117881"/>
                  <a:pt x="103470" y="114753"/>
                </a:cubicBezTo>
                <a:lnTo>
                  <a:pt x="85166" y="96448"/>
                </a:lnTo>
                <a:lnTo>
                  <a:pt x="66861" y="114753"/>
                </a:lnTo>
                <a:cubicBezTo>
                  <a:pt x="63733" y="117881"/>
                  <a:pt x="58674" y="117881"/>
                  <a:pt x="55579" y="114753"/>
                </a:cubicBezTo>
                <a:cubicBezTo>
                  <a:pt x="52484" y="111624"/>
                  <a:pt x="52451" y="106566"/>
                  <a:pt x="55579" y="103470"/>
                </a:cubicBezTo>
                <a:lnTo>
                  <a:pt x="73884" y="85166"/>
                </a:lnTo>
                <a:lnTo>
                  <a:pt x="55579" y="66861"/>
                </a:lnTo>
                <a:cubicBezTo>
                  <a:pt x="52451" y="63733"/>
                  <a:pt x="52451" y="58674"/>
                  <a:pt x="55579" y="55579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0" name="Text 8"/>
          <p:cNvSpPr/>
          <p:nvPr/>
        </p:nvSpPr>
        <p:spPr>
          <a:xfrm>
            <a:off x="869031" y="2973451"/>
            <a:ext cx="1927560" cy="18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Catastrophic in-flight failures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74698" y="2981971"/>
            <a:ext cx="106499" cy="170398"/>
          </a:xfrm>
          <a:custGeom>
            <a:avLst/>
            <a:gdLst/>
            <a:ahLst/>
            <a:cxnLst/>
            <a:rect l="l" t="t" r="r" b="b"/>
            <a:pathLst>
              <a:path w="106499" h="170398">
                <a:moveTo>
                  <a:pt x="45262" y="7987"/>
                </a:moveTo>
                <a:cubicBezTo>
                  <a:pt x="45262" y="3561"/>
                  <a:pt x="48823" y="0"/>
                  <a:pt x="53249" y="0"/>
                </a:cubicBezTo>
                <a:cubicBezTo>
                  <a:pt x="57676" y="0"/>
                  <a:pt x="61237" y="3561"/>
                  <a:pt x="61237" y="7987"/>
                </a:cubicBezTo>
                <a:lnTo>
                  <a:pt x="61237" y="21300"/>
                </a:lnTo>
                <a:lnTo>
                  <a:pt x="79874" y="21300"/>
                </a:lnTo>
                <a:cubicBezTo>
                  <a:pt x="85765" y="21300"/>
                  <a:pt x="90524" y="26059"/>
                  <a:pt x="90524" y="31950"/>
                </a:cubicBezTo>
                <a:cubicBezTo>
                  <a:pt x="90524" y="37840"/>
                  <a:pt x="85765" y="42600"/>
                  <a:pt x="79874" y="42600"/>
                </a:cubicBezTo>
                <a:lnTo>
                  <a:pt x="41634" y="42600"/>
                </a:lnTo>
                <a:cubicBezTo>
                  <a:pt x="33347" y="42600"/>
                  <a:pt x="26625" y="49322"/>
                  <a:pt x="26625" y="57609"/>
                </a:cubicBezTo>
                <a:cubicBezTo>
                  <a:pt x="26625" y="65097"/>
                  <a:pt x="32116" y="71421"/>
                  <a:pt x="39504" y="72486"/>
                </a:cubicBezTo>
                <a:lnTo>
                  <a:pt x="69990" y="76846"/>
                </a:lnTo>
                <a:cubicBezTo>
                  <a:pt x="87895" y="79408"/>
                  <a:pt x="101174" y="94718"/>
                  <a:pt x="101174" y="112789"/>
                </a:cubicBezTo>
                <a:cubicBezTo>
                  <a:pt x="101174" y="132857"/>
                  <a:pt x="84900" y="149099"/>
                  <a:pt x="64865" y="149099"/>
                </a:cubicBezTo>
                <a:lnTo>
                  <a:pt x="61237" y="149099"/>
                </a:lnTo>
                <a:lnTo>
                  <a:pt x="61237" y="162411"/>
                </a:lnTo>
                <a:cubicBezTo>
                  <a:pt x="61237" y="166837"/>
                  <a:pt x="57676" y="170398"/>
                  <a:pt x="53249" y="170398"/>
                </a:cubicBezTo>
                <a:cubicBezTo>
                  <a:pt x="48823" y="170398"/>
                  <a:pt x="45262" y="166837"/>
                  <a:pt x="45262" y="162411"/>
                </a:cubicBezTo>
                <a:lnTo>
                  <a:pt x="45262" y="149099"/>
                </a:lnTo>
                <a:lnTo>
                  <a:pt x="21300" y="149099"/>
                </a:lnTo>
                <a:cubicBezTo>
                  <a:pt x="15409" y="149099"/>
                  <a:pt x="10650" y="144339"/>
                  <a:pt x="10650" y="138449"/>
                </a:cubicBezTo>
                <a:cubicBezTo>
                  <a:pt x="10650" y="132558"/>
                  <a:pt x="15409" y="127799"/>
                  <a:pt x="21300" y="127799"/>
                </a:cubicBezTo>
                <a:lnTo>
                  <a:pt x="64865" y="127799"/>
                </a:lnTo>
                <a:cubicBezTo>
                  <a:pt x="73151" y="127799"/>
                  <a:pt x="79874" y="121076"/>
                  <a:pt x="79874" y="112789"/>
                </a:cubicBezTo>
                <a:cubicBezTo>
                  <a:pt x="79874" y="105301"/>
                  <a:pt x="74383" y="98977"/>
                  <a:pt x="66994" y="97912"/>
                </a:cubicBezTo>
                <a:lnTo>
                  <a:pt x="36509" y="93553"/>
                </a:lnTo>
                <a:cubicBezTo>
                  <a:pt x="18604" y="91023"/>
                  <a:pt x="5325" y="75681"/>
                  <a:pt x="5325" y="57609"/>
                </a:cubicBezTo>
                <a:cubicBezTo>
                  <a:pt x="5325" y="37574"/>
                  <a:pt x="21599" y="21300"/>
                  <a:pt x="41634" y="21300"/>
                </a:cubicBezTo>
                <a:lnTo>
                  <a:pt x="45262" y="21300"/>
                </a:lnTo>
                <a:lnTo>
                  <a:pt x="45262" y="7987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4136686" y="2973451"/>
            <a:ext cx="2067863" cy="18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Millions in unplanned downtime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4444" y="3322767"/>
            <a:ext cx="191698" cy="170398"/>
          </a:xfrm>
          <a:custGeom>
            <a:avLst/>
            <a:gdLst/>
            <a:ahLst/>
            <a:cxnLst/>
            <a:rect l="l" t="t" r="r" b="b"/>
            <a:pathLst>
              <a:path w="191698" h="170398">
                <a:moveTo>
                  <a:pt x="169533" y="32815"/>
                </a:moveTo>
                <a:cubicBezTo>
                  <a:pt x="172062" y="30286"/>
                  <a:pt x="176289" y="30918"/>
                  <a:pt x="177554" y="34246"/>
                </a:cubicBezTo>
                <a:cubicBezTo>
                  <a:pt x="179817" y="40137"/>
                  <a:pt x="181048" y="46560"/>
                  <a:pt x="181048" y="53249"/>
                </a:cubicBezTo>
                <a:cubicBezTo>
                  <a:pt x="181048" y="82670"/>
                  <a:pt x="157219" y="106499"/>
                  <a:pt x="127799" y="106499"/>
                </a:cubicBezTo>
                <a:cubicBezTo>
                  <a:pt x="121975" y="106499"/>
                  <a:pt x="116350" y="105567"/>
                  <a:pt x="111092" y="103836"/>
                </a:cubicBezTo>
                <a:lnTo>
                  <a:pt x="48890" y="166039"/>
                </a:lnTo>
                <a:cubicBezTo>
                  <a:pt x="39538" y="175390"/>
                  <a:pt x="24362" y="175390"/>
                  <a:pt x="15010" y="166039"/>
                </a:cubicBezTo>
                <a:cubicBezTo>
                  <a:pt x="5658" y="156687"/>
                  <a:pt x="5658" y="141510"/>
                  <a:pt x="15010" y="132159"/>
                </a:cubicBezTo>
                <a:lnTo>
                  <a:pt x="77212" y="69956"/>
                </a:lnTo>
                <a:cubicBezTo>
                  <a:pt x="75481" y="64698"/>
                  <a:pt x="74549" y="59107"/>
                  <a:pt x="74549" y="53249"/>
                </a:cubicBezTo>
                <a:cubicBezTo>
                  <a:pt x="74549" y="23829"/>
                  <a:pt x="98378" y="0"/>
                  <a:pt x="127799" y="0"/>
                </a:cubicBezTo>
                <a:cubicBezTo>
                  <a:pt x="134488" y="0"/>
                  <a:pt x="140911" y="1231"/>
                  <a:pt x="146802" y="3494"/>
                </a:cubicBezTo>
                <a:cubicBezTo>
                  <a:pt x="150130" y="4759"/>
                  <a:pt x="150729" y="8986"/>
                  <a:pt x="148233" y="11515"/>
                </a:cubicBezTo>
                <a:lnTo>
                  <a:pt x="118713" y="41035"/>
                </a:lnTo>
                <a:cubicBezTo>
                  <a:pt x="117715" y="42034"/>
                  <a:pt x="117149" y="43398"/>
                  <a:pt x="117149" y="44796"/>
                </a:cubicBezTo>
                <a:lnTo>
                  <a:pt x="117149" y="58574"/>
                </a:lnTo>
                <a:cubicBezTo>
                  <a:pt x="117149" y="61503"/>
                  <a:pt x="119545" y="63899"/>
                  <a:pt x="122474" y="63899"/>
                </a:cubicBezTo>
                <a:lnTo>
                  <a:pt x="136252" y="63899"/>
                </a:lnTo>
                <a:cubicBezTo>
                  <a:pt x="137650" y="63899"/>
                  <a:pt x="139014" y="63334"/>
                  <a:pt x="140013" y="62335"/>
                </a:cubicBezTo>
                <a:lnTo>
                  <a:pt x="169533" y="32815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4" name="Text 12"/>
          <p:cNvSpPr/>
          <p:nvPr/>
        </p:nvSpPr>
        <p:spPr>
          <a:xfrm>
            <a:off x="869031" y="3314247"/>
            <a:ext cx="1836787" cy="18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maintenance costs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21449" y="3322767"/>
            <a:ext cx="212998" cy="170398"/>
          </a:xfrm>
          <a:custGeom>
            <a:avLst/>
            <a:gdLst/>
            <a:ahLst/>
            <a:cxnLst/>
            <a:rect l="l" t="t" r="r" b="b"/>
            <a:pathLst>
              <a:path w="212998" h="170398">
                <a:moveTo>
                  <a:pt x="106499" y="5325"/>
                </a:moveTo>
                <a:cubicBezTo>
                  <a:pt x="125602" y="5325"/>
                  <a:pt x="141111" y="20834"/>
                  <a:pt x="141111" y="39937"/>
                </a:cubicBezTo>
                <a:cubicBezTo>
                  <a:pt x="141111" y="59040"/>
                  <a:pt x="125602" y="74549"/>
                  <a:pt x="106499" y="74549"/>
                </a:cubicBezTo>
                <a:cubicBezTo>
                  <a:pt x="87396" y="74549"/>
                  <a:pt x="71887" y="59040"/>
                  <a:pt x="71887" y="39937"/>
                </a:cubicBezTo>
                <a:cubicBezTo>
                  <a:pt x="71887" y="20834"/>
                  <a:pt x="87396" y="5325"/>
                  <a:pt x="106499" y="5325"/>
                </a:cubicBezTo>
                <a:close/>
                <a:moveTo>
                  <a:pt x="31950" y="29287"/>
                </a:moveTo>
                <a:cubicBezTo>
                  <a:pt x="45175" y="29287"/>
                  <a:pt x="55912" y="40024"/>
                  <a:pt x="55912" y="53249"/>
                </a:cubicBezTo>
                <a:cubicBezTo>
                  <a:pt x="55912" y="66475"/>
                  <a:pt x="45175" y="77212"/>
                  <a:pt x="31950" y="77212"/>
                </a:cubicBezTo>
                <a:cubicBezTo>
                  <a:pt x="18725" y="77212"/>
                  <a:pt x="7987" y="66475"/>
                  <a:pt x="7987" y="53249"/>
                </a:cubicBezTo>
                <a:cubicBezTo>
                  <a:pt x="7987" y="40024"/>
                  <a:pt x="18725" y="29287"/>
                  <a:pt x="31950" y="29287"/>
                </a:cubicBezTo>
                <a:close/>
                <a:moveTo>
                  <a:pt x="0" y="138449"/>
                </a:moveTo>
                <a:cubicBezTo>
                  <a:pt x="0" y="114919"/>
                  <a:pt x="19070" y="95849"/>
                  <a:pt x="42600" y="95849"/>
                </a:cubicBezTo>
                <a:cubicBezTo>
                  <a:pt x="46860" y="95849"/>
                  <a:pt x="50986" y="96481"/>
                  <a:pt x="54880" y="97646"/>
                </a:cubicBezTo>
                <a:cubicBezTo>
                  <a:pt x="43931" y="109894"/>
                  <a:pt x="37275" y="126068"/>
                  <a:pt x="37275" y="143774"/>
                </a:cubicBezTo>
                <a:lnTo>
                  <a:pt x="37275" y="149099"/>
                </a:lnTo>
                <a:cubicBezTo>
                  <a:pt x="37275" y="152893"/>
                  <a:pt x="38073" y="156487"/>
                  <a:pt x="39504" y="159748"/>
                </a:cubicBezTo>
                <a:lnTo>
                  <a:pt x="10650" y="159748"/>
                </a:lnTo>
                <a:cubicBezTo>
                  <a:pt x="4759" y="159748"/>
                  <a:pt x="0" y="154989"/>
                  <a:pt x="0" y="149099"/>
                </a:cubicBezTo>
                <a:lnTo>
                  <a:pt x="0" y="138449"/>
                </a:lnTo>
                <a:close/>
                <a:moveTo>
                  <a:pt x="173493" y="159748"/>
                </a:moveTo>
                <a:cubicBezTo>
                  <a:pt x="174925" y="156487"/>
                  <a:pt x="175723" y="152893"/>
                  <a:pt x="175723" y="149099"/>
                </a:cubicBezTo>
                <a:lnTo>
                  <a:pt x="175723" y="143774"/>
                </a:lnTo>
                <a:cubicBezTo>
                  <a:pt x="175723" y="126068"/>
                  <a:pt x="169067" y="109894"/>
                  <a:pt x="158118" y="97646"/>
                </a:cubicBezTo>
                <a:cubicBezTo>
                  <a:pt x="162012" y="96481"/>
                  <a:pt x="166138" y="95849"/>
                  <a:pt x="170398" y="95849"/>
                </a:cubicBezTo>
                <a:cubicBezTo>
                  <a:pt x="193928" y="95849"/>
                  <a:pt x="212998" y="114919"/>
                  <a:pt x="212998" y="138449"/>
                </a:cubicBezTo>
                <a:lnTo>
                  <a:pt x="212998" y="149099"/>
                </a:lnTo>
                <a:cubicBezTo>
                  <a:pt x="212998" y="154989"/>
                  <a:pt x="208239" y="159748"/>
                  <a:pt x="202348" y="159748"/>
                </a:cubicBezTo>
                <a:lnTo>
                  <a:pt x="173493" y="159748"/>
                </a:lnTo>
                <a:close/>
                <a:moveTo>
                  <a:pt x="157086" y="53249"/>
                </a:moveTo>
                <a:cubicBezTo>
                  <a:pt x="157086" y="40024"/>
                  <a:pt x="167823" y="29287"/>
                  <a:pt x="181048" y="29287"/>
                </a:cubicBezTo>
                <a:cubicBezTo>
                  <a:pt x="194273" y="29287"/>
                  <a:pt x="205010" y="40024"/>
                  <a:pt x="205010" y="53249"/>
                </a:cubicBezTo>
                <a:cubicBezTo>
                  <a:pt x="205010" y="66475"/>
                  <a:pt x="194273" y="77212"/>
                  <a:pt x="181048" y="77212"/>
                </a:cubicBezTo>
                <a:cubicBezTo>
                  <a:pt x="167823" y="77212"/>
                  <a:pt x="157086" y="66475"/>
                  <a:pt x="157086" y="53249"/>
                </a:cubicBezTo>
                <a:close/>
                <a:moveTo>
                  <a:pt x="53249" y="143774"/>
                </a:moveTo>
                <a:cubicBezTo>
                  <a:pt x="53249" y="114353"/>
                  <a:pt x="77079" y="90524"/>
                  <a:pt x="106499" y="90524"/>
                </a:cubicBezTo>
                <a:cubicBezTo>
                  <a:pt x="135919" y="90524"/>
                  <a:pt x="159748" y="114353"/>
                  <a:pt x="159748" y="143774"/>
                </a:cubicBezTo>
                <a:lnTo>
                  <a:pt x="159748" y="149099"/>
                </a:lnTo>
                <a:cubicBezTo>
                  <a:pt x="159748" y="154989"/>
                  <a:pt x="154989" y="159748"/>
                  <a:pt x="149099" y="159748"/>
                </a:cubicBezTo>
                <a:lnTo>
                  <a:pt x="63899" y="159748"/>
                </a:lnTo>
                <a:cubicBezTo>
                  <a:pt x="58009" y="159748"/>
                  <a:pt x="53249" y="154989"/>
                  <a:pt x="53249" y="149099"/>
                </a:cubicBezTo>
                <a:lnTo>
                  <a:pt x="53249" y="143774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6" name="Text 14"/>
          <p:cNvSpPr/>
          <p:nvPr/>
        </p:nvSpPr>
        <p:spPr>
          <a:xfrm>
            <a:off x="4136686" y="3314247"/>
            <a:ext cx="1774051" cy="187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risks for passengers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7836" y="3859522"/>
            <a:ext cx="6807413" cy="1840302"/>
          </a:xfrm>
          <a:custGeom>
            <a:avLst/>
            <a:gdLst/>
            <a:ahLst/>
            <a:cxnLst/>
            <a:rect l="l" t="t" r="r" b="b"/>
            <a:pathLst>
              <a:path w="6807413" h="1840302">
                <a:moveTo>
                  <a:pt x="0" y="0"/>
                </a:moveTo>
                <a:lnTo>
                  <a:pt x="6807413" y="0"/>
                </a:lnTo>
                <a:lnTo>
                  <a:pt x="6807413" y="1840302"/>
                </a:lnTo>
                <a:lnTo>
                  <a:pt x="0" y="184030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57836" y="3859522"/>
            <a:ext cx="34080" cy="1840302"/>
          </a:xfrm>
          <a:custGeom>
            <a:avLst/>
            <a:gdLst/>
            <a:ahLst/>
            <a:cxnLst/>
            <a:rect l="l" t="t" r="r" b="b"/>
            <a:pathLst>
              <a:path w="34080" h="1840302">
                <a:moveTo>
                  <a:pt x="0" y="0"/>
                </a:moveTo>
                <a:lnTo>
                  <a:pt x="34080" y="0"/>
                </a:lnTo>
                <a:lnTo>
                  <a:pt x="34080" y="1840302"/>
                </a:lnTo>
                <a:lnTo>
                  <a:pt x="0" y="1840302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9" name="Shape 17"/>
          <p:cNvSpPr/>
          <p:nvPr/>
        </p:nvSpPr>
        <p:spPr>
          <a:xfrm>
            <a:off x="604914" y="4089560"/>
            <a:ext cx="204478" cy="204478"/>
          </a:xfrm>
          <a:custGeom>
            <a:avLst/>
            <a:gdLst/>
            <a:ahLst/>
            <a:cxnLst/>
            <a:rect l="l" t="t" r="r" b="b"/>
            <a:pathLst>
              <a:path w="204478" h="204478">
                <a:moveTo>
                  <a:pt x="178918" y="102239"/>
                </a:moveTo>
                <a:cubicBezTo>
                  <a:pt x="178918" y="59919"/>
                  <a:pt x="144559" y="25560"/>
                  <a:pt x="102239" y="25560"/>
                </a:cubicBezTo>
                <a:cubicBezTo>
                  <a:pt x="59919" y="25560"/>
                  <a:pt x="25560" y="59919"/>
                  <a:pt x="25560" y="102239"/>
                </a:cubicBezTo>
                <a:cubicBezTo>
                  <a:pt x="25560" y="144559"/>
                  <a:pt x="59919" y="178918"/>
                  <a:pt x="102239" y="178918"/>
                </a:cubicBezTo>
                <a:cubicBezTo>
                  <a:pt x="144559" y="178918"/>
                  <a:pt x="178918" y="144559"/>
                  <a:pt x="178918" y="102239"/>
                </a:cubicBezTo>
                <a:close/>
                <a:moveTo>
                  <a:pt x="0" y="102239"/>
                </a:moveTo>
                <a:cubicBezTo>
                  <a:pt x="0" y="45812"/>
                  <a:pt x="45812" y="0"/>
                  <a:pt x="102239" y="0"/>
                </a:cubicBezTo>
                <a:cubicBezTo>
                  <a:pt x="158666" y="0"/>
                  <a:pt x="204478" y="45812"/>
                  <a:pt x="204478" y="102239"/>
                </a:cubicBezTo>
                <a:cubicBezTo>
                  <a:pt x="204478" y="158666"/>
                  <a:pt x="158666" y="204478"/>
                  <a:pt x="102239" y="204478"/>
                </a:cubicBezTo>
                <a:cubicBezTo>
                  <a:pt x="45812" y="204478"/>
                  <a:pt x="0" y="158666"/>
                  <a:pt x="0" y="102239"/>
                </a:cubicBezTo>
                <a:close/>
                <a:moveTo>
                  <a:pt x="102239" y="134189"/>
                </a:moveTo>
                <a:cubicBezTo>
                  <a:pt x="119873" y="134189"/>
                  <a:pt x="134189" y="119873"/>
                  <a:pt x="134189" y="102239"/>
                </a:cubicBezTo>
                <a:cubicBezTo>
                  <a:pt x="134189" y="84605"/>
                  <a:pt x="119873" y="70289"/>
                  <a:pt x="102239" y="70289"/>
                </a:cubicBezTo>
                <a:cubicBezTo>
                  <a:pt x="84605" y="70289"/>
                  <a:pt x="70289" y="84605"/>
                  <a:pt x="70289" y="102239"/>
                </a:cubicBezTo>
                <a:cubicBezTo>
                  <a:pt x="70289" y="119873"/>
                  <a:pt x="84605" y="134189"/>
                  <a:pt x="102239" y="134189"/>
                </a:cubicBezTo>
                <a:close/>
                <a:moveTo>
                  <a:pt x="102239" y="44730"/>
                </a:moveTo>
                <a:cubicBezTo>
                  <a:pt x="133979" y="44730"/>
                  <a:pt x="159748" y="70499"/>
                  <a:pt x="159748" y="102239"/>
                </a:cubicBezTo>
                <a:cubicBezTo>
                  <a:pt x="159748" y="133979"/>
                  <a:pt x="133979" y="159748"/>
                  <a:pt x="102239" y="159748"/>
                </a:cubicBezTo>
                <a:cubicBezTo>
                  <a:pt x="70499" y="159748"/>
                  <a:pt x="44730" y="133979"/>
                  <a:pt x="44730" y="102239"/>
                </a:cubicBezTo>
                <a:cubicBezTo>
                  <a:pt x="44730" y="70499"/>
                  <a:pt x="70499" y="44730"/>
                  <a:pt x="102239" y="44730"/>
                </a:cubicBezTo>
                <a:close/>
                <a:moveTo>
                  <a:pt x="89459" y="102239"/>
                </a:moveTo>
                <a:cubicBezTo>
                  <a:pt x="89459" y="95186"/>
                  <a:pt x="95186" y="89459"/>
                  <a:pt x="102239" y="89459"/>
                </a:cubicBezTo>
                <a:cubicBezTo>
                  <a:pt x="109292" y="89459"/>
                  <a:pt x="115019" y="95186"/>
                  <a:pt x="115019" y="102239"/>
                </a:cubicBezTo>
                <a:cubicBezTo>
                  <a:pt x="115019" y="109292"/>
                  <a:pt x="109292" y="115019"/>
                  <a:pt x="102239" y="115019"/>
                </a:cubicBezTo>
                <a:cubicBezTo>
                  <a:pt x="95186" y="115019"/>
                  <a:pt x="89459" y="109292"/>
                  <a:pt x="89459" y="102239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903540" y="4064000"/>
            <a:ext cx="6159471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9354" y="4438876"/>
            <a:ext cx="6449577" cy="443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Accurately predict when a jet engine will fail using sensor data, and present it in a way that </a:t>
            </a:r>
            <a:pPr>
              <a:lnSpc>
                <a:spcPct val="140000"/>
              </a:lnSpc>
            </a:pPr>
            <a:r>
              <a:rPr lang="en-US" sz="10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factory operators can immediately understand and act upon</a:t>
            </a:r>
            <a:pPr>
              <a:lnSpc>
                <a:spcPct val="14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354" y="5018231"/>
            <a:ext cx="6381417" cy="477115"/>
          </a:xfrm>
          <a:custGeom>
            <a:avLst/>
            <a:gdLst/>
            <a:ahLst/>
            <a:cxnLst/>
            <a:rect l="l" t="t" r="r" b="b"/>
            <a:pathLst>
              <a:path w="6381417" h="477115">
                <a:moveTo>
                  <a:pt x="0" y="0"/>
                </a:moveTo>
                <a:lnTo>
                  <a:pt x="6381417" y="0"/>
                </a:lnTo>
                <a:lnTo>
                  <a:pt x="6381417" y="477115"/>
                </a:lnTo>
                <a:lnTo>
                  <a:pt x="0" y="47711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4013" y="5154549"/>
            <a:ext cx="178918" cy="204478"/>
          </a:xfrm>
          <a:custGeom>
            <a:avLst/>
            <a:gdLst/>
            <a:ahLst/>
            <a:cxnLst/>
            <a:rect l="l" t="t" r="r" b="b"/>
            <a:pathLst>
              <a:path w="178918" h="204478">
                <a:moveTo>
                  <a:pt x="178918" y="82191"/>
                </a:moveTo>
                <a:cubicBezTo>
                  <a:pt x="173008" y="86104"/>
                  <a:pt x="166218" y="89259"/>
                  <a:pt x="159149" y="91775"/>
                </a:cubicBezTo>
                <a:cubicBezTo>
                  <a:pt x="140379" y="98485"/>
                  <a:pt x="115738" y="102239"/>
                  <a:pt x="89459" y="102239"/>
                </a:cubicBezTo>
                <a:cubicBezTo>
                  <a:pt x="63181" y="102239"/>
                  <a:pt x="38499" y="98445"/>
                  <a:pt x="19769" y="91775"/>
                </a:cubicBezTo>
                <a:cubicBezTo>
                  <a:pt x="12740" y="89259"/>
                  <a:pt x="5911" y="86104"/>
                  <a:pt x="0" y="82191"/>
                </a:cubicBezTo>
                <a:lnTo>
                  <a:pt x="0" y="115019"/>
                </a:lnTo>
                <a:cubicBezTo>
                  <a:pt x="0" y="132671"/>
                  <a:pt x="40057" y="146969"/>
                  <a:pt x="89459" y="146969"/>
                </a:cubicBezTo>
                <a:cubicBezTo>
                  <a:pt x="138861" y="146969"/>
                  <a:pt x="178918" y="132671"/>
                  <a:pt x="178918" y="115019"/>
                </a:cubicBezTo>
                <a:lnTo>
                  <a:pt x="178918" y="82191"/>
                </a:lnTo>
                <a:close/>
                <a:moveTo>
                  <a:pt x="178918" y="51119"/>
                </a:moveTo>
                <a:lnTo>
                  <a:pt x="178918" y="31950"/>
                </a:lnTo>
                <a:cubicBezTo>
                  <a:pt x="178918" y="14297"/>
                  <a:pt x="138861" y="0"/>
                  <a:pt x="89459" y="0"/>
                </a:cubicBezTo>
                <a:cubicBezTo>
                  <a:pt x="40057" y="0"/>
                  <a:pt x="0" y="14297"/>
                  <a:pt x="0" y="31950"/>
                </a:cubicBezTo>
                <a:lnTo>
                  <a:pt x="0" y="51119"/>
                </a:lnTo>
                <a:cubicBezTo>
                  <a:pt x="0" y="68772"/>
                  <a:pt x="40057" y="83069"/>
                  <a:pt x="89459" y="83069"/>
                </a:cubicBezTo>
                <a:cubicBezTo>
                  <a:pt x="138861" y="83069"/>
                  <a:pt x="178918" y="68772"/>
                  <a:pt x="178918" y="51119"/>
                </a:cubicBezTo>
                <a:close/>
                <a:moveTo>
                  <a:pt x="159149" y="155675"/>
                </a:moveTo>
                <a:cubicBezTo>
                  <a:pt x="140419" y="162344"/>
                  <a:pt x="115778" y="166138"/>
                  <a:pt x="89459" y="166138"/>
                </a:cubicBezTo>
                <a:cubicBezTo>
                  <a:pt x="63141" y="166138"/>
                  <a:pt x="38499" y="162344"/>
                  <a:pt x="19769" y="155675"/>
                </a:cubicBezTo>
                <a:cubicBezTo>
                  <a:pt x="12740" y="153159"/>
                  <a:pt x="5911" y="150004"/>
                  <a:pt x="0" y="146090"/>
                </a:cubicBezTo>
                <a:lnTo>
                  <a:pt x="0" y="172528"/>
                </a:lnTo>
                <a:cubicBezTo>
                  <a:pt x="0" y="190181"/>
                  <a:pt x="40057" y="204478"/>
                  <a:pt x="89459" y="204478"/>
                </a:cubicBezTo>
                <a:cubicBezTo>
                  <a:pt x="138861" y="204478"/>
                  <a:pt x="178918" y="190181"/>
                  <a:pt x="178918" y="172528"/>
                </a:cubicBezTo>
                <a:lnTo>
                  <a:pt x="178918" y="146090"/>
                </a:lnTo>
                <a:cubicBezTo>
                  <a:pt x="173008" y="150004"/>
                  <a:pt x="166218" y="153159"/>
                  <a:pt x="159149" y="15567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4" name="Text 22"/>
          <p:cNvSpPr/>
          <p:nvPr/>
        </p:nvSpPr>
        <p:spPr>
          <a:xfrm>
            <a:off x="1107589" y="5154549"/>
            <a:ext cx="392768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Dataset:</a:t>
            </a:r>
            <a:pPr>
              <a:lnSpc>
                <a:spcPct val="130000"/>
              </a:lnSpc>
            </a:pPr>
            <a:r>
              <a:rPr lang="en-US" sz="10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NASA CMAPSS Turbofan Degradation Dataset (FD001)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87300" y="1763623"/>
            <a:ext cx="4464436" cy="2419656"/>
          </a:xfrm>
          <a:custGeom>
            <a:avLst/>
            <a:gdLst/>
            <a:ahLst/>
            <a:cxnLst/>
            <a:rect l="l" t="t" r="r" b="b"/>
            <a:pathLst>
              <a:path w="4464436" h="2419656">
                <a:moveTo>
                  <a:pt x="0" y="0"/>
                </a:moveTo>
                <a:lnTo>
                  <a:pt x="4464436" y="0"/>
                </a:lnTo>
                <a:lnTo>
                  <a:pt x="4464436" y="2419656"/>
                </a:lnTo>
                <a:lnTo>
                  <a:pt x="0" y="24196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387300" y="1763623"/>
            <a:ext cx="34080" cy="2419656"/>
          </a:xfrm>
          <a:custGeom>
            <a:avLst/>
            <a:gdLst/>
            <a:ahLst/>
            <a:cxnLst/>
            <a:rect l="l" t="t" r="r" b="b"/>
            <a:pathLst>
              <a:path w="34080" h="2419656">
                <a:moveTo>
                  <a:pt x="0" y="0"/>
                </a:moveTo>
                <a:lnTo>
                  <a:pt x="34080" y="0"/>
                </a:lnTo>
                <a:lnTo>
                  <a:pt x="34080" y="2419656"/>
                </a:lnTo>
                <a:lnTo>
                  <a:pt x="0" y="2419656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7" name="Shape 25"/>
          <p:cNvSpPr/>
          <p:nvPr/>
        </p:nvSpPr>
        <p:spPr>
          <a:xfrm>
            <a:off x="7634377" y="1993660"/>
            <a:ext cx="204478" cy="204478"/>
          </a:xfrm>
          <a:custGeom>
            <a:avLst/>
            <a:gdLst/>
            <a:ahLst/>
            <a:cxnLst/>
            <a:rect l="l" t="t" r="r" b="b"/>
            <a:pathLst>
              <a:path w="204478" h="204478">
                <a:moveTo>
                  <a:pt x="47925" y="22365"/>
                </a:moveTo>
                <a:cubicBezTo>
                  <a:pt x="47925" y="10024"/>
                  <a:pt x="57949" y="0"/>
                  <a:pt x="70289" y="0"/>
                </a:cubicBezTo>
                <a:lnTo>
                  <a:pt x="79874" y="0"/>
                </a:lnTo>
                <a:cubicBezTo>
                  <a:pt x="86943" y="0"/>
                  <a:pt x="92654" y="5711"/>
                  <a:pt x="92654" y="12780"/>
                </a:cubicBezTo>
                <a:lnTo>
                  <a:pt x="92654" y="191698"/>
                </a:lnTo>
                <a:cubicBezTo>
                  <a:pt x="92654" y="198767"/>
                  <a:pt x="86943" y="204478"/>
                  <a:pt x="79874" y="204478"/>
                </a:cubicBezTo>
                <a:lnTo>
                  <a:pt x="67094" y="204478"/>
                </a:lnTo>
                <a:cubicBezTo>
                  <a:pt x="55193" y="204478"/>
                  <a:pt x="45169" y="196331"/>
                  <a:pt x="42333" y="185308"/>
                </a:cubicBezTo>
                <a:cubicBezTo>
                  <a:pt x="42054" y="185308"/>
                  <a:pt x="41814" y="185308"/>
                  <a:pt x="41535" y="185308"/>
                </a:cubicBezTo>
                <a:cubicBezTo>
                  <a:pt x="23882" y="185308"/>
                  <a:pt x="9585" y="171011"/>
                  <a:pt x="9585" y="153358"/>
                </a:cubicBezTo>
                <a:cubicBezTo>
                  <a:pt x="9585" y="146170"/>
                  <a:pt x="11981" y="139540"/>
                  <a:pt x="15975" y="134189"/>
                </a:cubicBezTo>
                <a:cubicBezTo>
                  <a:pt x="8227" y="128358"/>
                  <a:pt x="3195" y="119092"/>
                  <a:pt x="3195" y="108629"/>
                </a:cubicBezTo>
                <a:cubicBezTo>
                  <a:pt x="3195" y="96288"/>
                  <a:pt x="10224" y="85545"/>
                  <a:pt x="20448" y="80234"/>
                </a:cubicBezTo>
                <a:cubicBezTo>
                  <a:pt x="17612" y="75441"/>
                  <a:pt x="15975" y="69850"/>
                  <a:pt x="15975" y="63899"/>
                </a:cubicBezTo>
                <a:cubicBezTo>
                  <a:pt x="15975" y="46247"/>
                  <a:pt x="30272" y="31950"/>
                  <a:pt x="47925" y="31950"/>
                </a:cubicBezTo>
                <a:lnTo>
                  <a:pt x="47925" y="22365"/>
                </a:lnTo>
                <a:close/>
                <a:moveTo>
                  <a:pt x="156553" y="22365"/>
                </a:moveTo>
                <a:lnTo>
                  <a:pt x="156553" y="31950"/>
                </a:lnTo>
                <a:cubicBezTo>
                  <a:pt x="174206" y="31950"/>
                  <a:pt x="188503" y="46247"/>
                  <a:pt x="188503" y="63899"/>
                </a:cubicBezTo>
                <a:cubicBezTo>
                  <a:pt x="188503" y="69890"/>
                  <a:pt x="186866" y="75481"/>
                  <a:pt x="184030" y="80234"/>
                </a:cubicBezTo>
                <a:cubicBezTo>
                  <a:pt x="194294" y="85545"/>
                  <a:pt x="201283" y="96248"/>
                  <a:pt x="201283" y="108629"/>
                </a:cubicBezTo>
                <a:cubicBezTo>
                  <a:pt x="201283" y="119092"/>
                  <a:pt x="196251" y="128358"/>
                  <a:pt x="188503" y="134189"/>
                </a:cubicBezTo>
                <a:cubicBezTo>
                  <a:pt x="192497" y="139540"/>
                  <a:pt x="194893" y="146170"/>
                  <a:pt x="194893" y="153358"/>
                </a:cubicBezTo>
                <a:cubicBezTo>
                  <a:pt x="194893" y="171011"/>
                  <a:pt x="180596" y="185308"/>
                  <a:pt x="162943" y="185308"/>
                </a:cubicBezTo>
                <a:cubicBezTo>
                  <a:pt x="162664" y="185308"/>
                  <a:pt x="162424" y="185308"/>
                  <a:pt x="162145" y="185308"/>
                </a:cubicBezTo>
                <a:cubicBezTo>
                  <a:pt x="159309" y="196331"/>
                  <a:pt x="149285" y="204478"/>
                  <a:pt x="137384" y="204478"/>
                </a:cubicBezTo>
                <a:lnTo>
                  <a:pt x="124604" y="204478"/>
                </a:lnTo>
                <a:cubicBezTo>
                  <a:pt x="117535" y="204478"/>
                  <a:pt x="111824" y="198767"/>
                  <a:pt x="111824" y="191698"/>
                </a:cubicBezTo>
                <a:lnTo>
                  <a:pt x="111824" y="12780"/>
                </a:lnTo>
                <a:cubicBezTo>
                  <a:pt x="111824" y="5711"/>
                  <a:pt x="117535" y="0"/>
                  <a:pt x="124604" y="0"/>
                </a:cubicBezTo>
                <a:lnTo>
                  <a:pt x="134189" y="0"/>
                </a:lnTo>
                <a:cubicBezTo>
                  <a:pt x="146529" y="0"/>
                  <a:pt x="156553" y="10024"/>
                  <a:pt x="156553" y="2236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8" name="Text 26"/>
          <p:cNvSpPr/>
          <p:nvPr/>
        </p:nvSpPr>
        <p:spPr>
          <a:xfrm>
            <a:off x="7933003" y="1968101"/>
            <a:ext cx="3816494" cy="2726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Approach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08818" y="2377057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0" name="Shape 28"/>
          <p:cNvSpPr/>
          <p:nvPr/>
        </p:nvSpPr>
        <p:spPr>
          <a:xfrm>
            <a:off x="7711057" y="2479296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7040" y="17040"/>
                </a:moveTo>
                <a:cubicBezTo>
                  <a:pt x="17040" y="12327"/>
                  <a:pt x="13232" y="8520"/>
                  <a:pt x="8520" y="8520"/>
                </a:cubicBezTo>
                <a:cubicBezTo>
                  <a:pt x="3807" y="8520"/>
                  <a:pt x="0" y="12327"/>
                  <a:pt x="0" y="17040"/>
                </a:cubicBezTo>
                <a:lnTo>
                  <a:pt x="0" y="106499"/>
                </a:lnTo>
                <a:cubicBezTo>
                  <a:pt x="0" y="118267"/>
                  <a:pt x="9532" y="127799"/>
                  <a:pt x="21300" y="127799"/>
                </a:cubicBezTo>
                <a:lnTo>
                  <a:pt x="127799" y="127799"/>
                </a:lnTo>
                <a:cubicBezTo>
                  <a:pt x="132511" y="127799"/>
                  <a:pt x="136319" y="123991"/>
                  <a:pt x="136319" y="119279"/>
                </a:cubicBezTo>
                <a:cubicBezTo>
                  <a:pt x="136319" y="114566"/>
                  <a:pt x="132511" y="110759"/>
                  <a:pt x="127799" y="110759"/>
                </a:cubicBezTo>
                <a:lnTo>
                  <a:pt x="21300" y="110759"/>
                </a:lnTo>
                <a:cubicBezTo>
                  <a:pt x="18957" y="110759"/>
                  <a:pt x="17040" y="108842"/>
                  <a:pt x="17040" y="106499"/>
                </a:cubicBezTo>
                <a:lnTo>
                  <a:pt x="17040" y="17040"/>
                </a:lnTo>
                <a:close/>
                <a:moveTo>
                  <a:pt x="125296" y="40097"/>
                </a:moveTo>
                <a:cubicBezTo>
                  <a:pt x="128624" y="36769"/>
                  <a:pt x="128624" y="31364"/>
                  <a:pt x="125296" y="28036"/>
                </a:cubicBezTo>
                <a:cubicBezTo>
                  <a:pt x="121968" y="24708"/>
                  <a:pt x="116563" y="24708"/>
                  <a:pt x="113235" y="28036"/>
                </a:cubicBezTo>
                <a:lnTo>
                  <a:pt x="85199" y="56098"/>
                </a:lnTo>
                <a:lnTo>
                  <a:pt x="69917" y="40842"/>
                </a:lnTo>
                <a:cubicBezTo>
                  <a:pt x="66588" y="37514"/>
                  <a:pt x="61184" y="37514"/>
                  <a:pt x="57856" y="40842"/>
                </a:cubicBezTo>
                <a:lnTo>
                  <a:pt x="32296" y="66402"/>
                </a:lnTo>
                <a:cubicBezTo>
                  <a:pt x="28968" y="69730"/>
                  <a:pt x="28968" y="75135"/>
                  <a:pt x="32296" y="78463"/>
                </a:cubicBezTo>
                <a:cubicBezTo>
                  <a:pt x="35624" y="81791"/>
                  <a:pt x="41029" y="81791"/>
                  <a:pt x="44357" y="78463"/>
                </a:cubicBezTo>
                <a:lnTo>
                  <a:pt x="63899" y="58921"/>
                </a:lnTo>
                <a:lnTo>
                  <a:pt x="79182" y="74203"/>
                </a:lnTo>
                <a:cubicBezTo>
                  <a:pt x="82510" y="77531"/>
                  <a:pt x="87915" y="77531"/>
                  <a:pt x="91243" y="74203"/>
                </a:cubicBezTo>
                <a:lnTo>
                  <a:pt x="125323" y="40123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1" name="Text 29"/>
          <p:cNvSpPr/>
          <p:nvPr/>
        </p:nvSpPr>
        <p:spPr>
          <a:xfrm>
            <a:off x="8051853" y="2377057"/>
            <a:ext cx="2181099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RUL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51853" y="2615614"/>
            <a:ext cx="2172579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forecasting with LSTM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08818" y="2956411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4" name="Shape 32"/>
          <p:cNvSpPr/>
          <p:nvPr/>
        </p:nvSpPr>
        <p:spPr>
          <a:xfrm>
            <a:off x="7711057" y="3058650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68159" y="28728"/>
                </a:moveTo>
                <a:lnTo>
                  <a:pt x="64166" y="23190"/>
                </a:lnTo>
                <a:cubicBezTo>
                  <a:pt x="57509" y="13978"/>
                  <a:pt x="46833" y="8520"/>
                  <a:pt x="35438" y="8520"/>
                </a:cubicBezTo>
                <a:cubicBezTo>
                  <a:pt x="15868" y="8520"/>
                  <a:pt x="0" y="24388"/>
                  <a:pt x="0" y="43957"/>
                </a:cubicBezTo>
                <a:lnTo>
                  <a:pt x="0" y="44650"/>
                </a:lnTo>
                <a:cubicBezTo>
                  <a:pt x="0" y="50933"/>
                  <a:pt x="1651" y="57430"/>
                  <a:pt x="4420" y="63899"/>
                </a:cubicBezTo>
                <a:lnTo>
                  <a:pt x="32642" y="63899"/>
                </a:lnTo>
                <a:cubicBezTo>
                  <a:pt x="33494" y="63899"/>
                  <a:pt x="34266" y="63394"/>
                  <a:pt x="34612" y="62595"/>
                </a:cubicBezTo>
                <a:lnTo>
                  <a:pt x="43079" y="42280"/>
                </a:lnTo>
                <a:cubicBezTo>
                  <a:pt x="44064" y="39937"/>
                  <a:pt x="46354" y="38393"/>
                  <a:pt x="48883" y="38340"/>
                </a:cubicBezTo>
                <a:cubicBezTo>
                  <a:pt x="51412" y="38286"/>
                  <a:pt x="53755" y="39777"/>
                  <a:pt x="54794" y="42094"/>
                </a:cubicBezTo>
                <a:lnTo>
                  <a:pt x="68452" y="72419"/>
                </a:lnTo>
                <a:lnTo>
                  <a:pt x="79475" y="50374"/>
                </a:lnTo>
                <a:cubicBezTo>
                  <a:pt x="80566" y="48217"/>
                  <a:pt x="82776" y="46833"/>
                  <a:pt x="85199" y="46833"/>
                </a:cubicBezTo>
                <a:cubicBezTo>
                  <a:pt x="87622" y="46833"/>
                  <a:pt x="89832" y="48191"/>
                  <a:pt x="90923" y="50374"/>
                </a:cubicBezTo>
                <a:lnTo>
                  <a:pt x="97100" y="62701"/>
                </a:lnTo>
                <a:cubicBezTo>
                  <a:pt x="97473" y="63420"/>
                  <a:pt x="98192" y="63873"/>
                  <a:pt x="99017" y="63873"/>
                </a:cubicBezTo>
                <a:lnTo>
                  <a:pt x="131926" y="63873"/>
                </a:lnTo>
                <a:cubicBezTo>
                  <a:pt x="134721" y="57403"/>
                  <a:pt x="136345" y="50906"/>
                  <a:pt x="136345" y="44623"/>
                </a:cubicBezTo>
                <a:lnTo>
                  <a:pt x="136345" y="43931"/>
                </a:lnTo>
                <a:cubicBezTo>
                  <a:pt x="136319" y="24388"/>
                  <a:pt x="120450" y="8520"/>
                  <a:pt x="100881" y="8520"/>
                </a:cubicBezTo>
                <a:cubicBezTo>
                  <a:pt x="89512" y="8520"/>
                  <a:pt x="78809" y="13978"/>
                  <a:pt x="72153" y="23190"/>
                </a:cubicBezTo>
                <a:lnTo>
                  <a:pt x="68159" y="28701"/>
                </a:lnTo>
                <a:close/>
                <a:moveTo>
                  <a:pt x="125030" y="76679"/>
                </a:moveTo>
                <a:lnTo>
                  <a:pt x="98991" y="76679"/>
                </a:lnTo>
                <a:cubicBezTo>
                  <a:pt x="93346" y="76679"/>
                  <a:pt x="88181" y="73484"/>
                  <a:pt x="85652" y="68426"/>
                </a:cubicBezTo>
                <a:lnTo>
                  <a:pt x="85199" y="67520"/>
                </a:lnTo>
                <a:lnTo>
                  <a:pt x="73884" y="90178"/>
                </a:lnTo>
                <a:cubicBezTo>
                  <a:pt x="72792" y="92388"/>
                  <a:pt x="70502" y="93772"/>
                  <a:pt x="68026" y="93719"/>
                </a:cubicBezTo>
                <a:cubicBezTo>
                  <a:pt x="65550" y="93666"/>
                  <a:pt x="63340" y="92201"/>
                  <a:pt x="62329" y="89965"/>
                </a:cubicBezTo>
                <a:lnTo>
                  <a:pt x="49203" y="60811"/>
                </a:lnTo>
                <a:lnTo>
                  <a:pt x="46407" y="67520"/>
                </a:lnTo>
                <a:cubicBezTo>
                  <a:pt x="44091" y="73085"/>
                  <a:pt x="38659" y="76706"/>
                  <a:pt x="32642" y="76706"/>
                </a:cubicBezTo>
                <a:lnTo>
                  <a:pt x="11289" y="76706"/>
                </a:lnTo>
                <a:cubicBezTo>
                  <a:pt x="23856" y="96355"/>
                  <a:pt x="44037" y="114433"/>
                  <a:pt x="56657" y="124071"/>
                </a:cubicBezTo>
                <a:cubicBezTo>
                  <a:pt x="59959" y="126574"/>
                  <a:pt x="64006" y="127825"/>
                  <a:pt x="68133" y="127825"/>
                </a:cubicBezTo>
                <a:cubicBezTo>
                  <a:pt x="72260" y="127825"/>
                  <a:pt x="76333" y="126601"/>
                  <a:pt x="79608" y="124071"/>
                </a:cubicBezTo>
                <a:cubicBezTo>
                  <a:pt x="92281" y="114406"/>
                  <a:pt x="112463" y="96328"/>
                  <a:pt x="125030" y="7667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Text 33"/>
          <p:cNvSpPr/>
          <p:nvPr/>
        </p:nvSpPr>
        <p:spPr>
          <a:xfrm>
            <a:off x="8051853" y="2956411"/>
            <a:ext cx="1925501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Score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051853" y="3194969"/>
            <a:ext cx="1916981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to intuitive percentage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08818" y="3535765"/>
            <a:ext cx="340797" cy="340797"/>
          </a:xfrm>
          <a:custGeom>
            <a:avLst/>
            <a:gdLst/>
            <a:ahLst/>
            <a:cxnLst/>
            <a:rect l="l" t="t" r="r" b="b"/>
            <a:pathLst>
              <a:path w="340797" h="340797">
                <a:moveTo>
                  <a:pt x="0" y="0"/>
                </a:moveTo>
                <a:lnTo>
                  <a:pt x="340797" y="0"/>
                </a:lnTo>
                <a:lnTo>
                  <a:pt x="340797" y="340797"/>
                </a:lnTo>
                <a:lnTo>
                  <a:pt x="0" y="340797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8" name="Shape 36"/>
          <p:cNvSpPr/>
          <p:nvPr/>
        </p:nvSpPr>
        <p:spPr>
          <a:xfrm>
            <a:off x="7711057" y="3638004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7040" y="8520"/>
                </a:moveTo>
                <a:cubicBezTo>
                  <a:pt x="7641" y="8520"/>
                  <a:pt x="0" y="16161"/>
                  <a:pt x="0" y="25560"/>
                </a:cubicBezTo>
                <a:lnTo>
                  <a:pt x="0" y="93719"/>
                </a:lnTo>
                <a:cubicBezTo>
                  <a:pt x="0" y="103118"/>
                  <a:pt x="7641" y="110759"/>
                  <a:pt x="17040" y="110759"/>
                </a:cubicBezTo>
                <a:lnTo>
                  <a:pt x="55379" y="110759"/>
                </a:lnTo>
                <a:lnTo>
                  <a:pt x="51119" y="123539"/>
                </a:lnTo>
                <a:lnTo>
                  <a:pt x="31950" y="123539"/>
                </a:lnTo>
                <a:cubicBezTo>
                  <a:pt x="28409" y="123539"/>
                  <a:pt x="25560" y="126388"/>
                  <a:pt x="25560" y="129929"/>
                </a:cubicBezTo>
                <a:cubicBezTo>
                  <a:pt x="25560" y="133470"/>
                  <a:pt x="28409" y="136319"/>
                  <a:pt x="31950" y="136319"/>
                </a:cubicBezTo>
                <a:lnTo>
                  <a:pt x="104369" y="136319"/>
                </a:lnTo>
                <a:cubicBezTo>
                  <a:pt x="107910" y="136319"/>
                  <a:pt x="110759" y="133470"/>
                  <a:pt x="110759" y="129929"/>
                </a:cubicBezTo>
                <a:cubicBezTo>
                  <a:pt x="110759" y="126388"/>
                  <a:pt x="107910" y="123539"/>
                  <a:pt x="104369" y="123539"/>
                </a:cubicBezTo>
                <a:lnTo>
                  <a:pt x="85199" y="123539"/>
                </a:lnTo>
                <a:lnTo>
                  <a:pt x="80939" y="110759"/>
                </a:lnTo>
                <a:lnTo>
                  <a:pt x="119279" y="110759"/>
                </a:lnTo>
                <a:cubicBezTo>
                  <a:pt x="128677" y="110759"/>
                  <a:pt x="136319" y="103118"/>
                  <a:pt x="136319" y="93719"/>
                </a:cubicBezTo>
                <a:lnTo>
                  <a:pt x="136319" y="25560"/>
                </a:lnTo>
                <a:cubicBezTo>
                  <a:pt x="136319" y="16161"/>
                  <a:pt x="128677" y="8520"/>
                  <a:pt x="119279" y="8520"/>
                </a:cubicBezTo>
                <a:lnTo>
                  <a:pt x="17040" y="8520"/>
                </a:lnTo>
                <a:close/>
                <a:moveTo>
                  <a:pt x="25560" y="25560"/>
                </a:moveTo>
                <a:lnTo>
                  <a:pt x="110759" y="25560"/>
                </a:lnTo>
                <a:cubicBezTo>
                  <a:pt x="115471" y="25560"/>
                  <a:pt x="119279" y="29367"/>
                  <a:pt x="119279" y="34080"/>
                </a:cubicBezTo>
                <a:lnTo>
                  <a:pt x="119279" y="76679"/>
                </a:lnTo>
                <a:cubicBezTo>
                  <a:pt x="119279" y="81392"/>
                  <a:pt x="115471" y="85199"/>
                  <a:pt x="110759" y="85199"/>
                </a:cubicBezTo>
                <a:lnTo>
                  <a:pt x="25560" y="85199"/>
                </a:lnTo>
                <a:cubicBezTo>
                  <a:pt x="20847" y="85199"/>
                  <a:pt x="17040" y="81392"/>
                  <a:pt x="17040" y="76679"/>
                </a:cubicBezTo>
                <a:lnTo>
                  <a:pt x="17040" y="34080"/>
                </a:lnTo>
                <a:cubicBezTo>
                  <a:pt x="17040" y="29367"/>
                  <a:pt x="20847" y="25560"/>
                  <a:pt x="25560" y="2556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Text 37"/>
          <p:cNvSpPr/>
          <p:nvPr/>
        </p:nvSpPr>
        <p:spPr>
          <a:xfrm>
            <a:off x="8051853" y="3535765"/>
            <a:ext cx="2002180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8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051853" y="3774323"/>
            <a:ext cx="1993660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 dashboard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7374520" y="4323857"/>
            <a:ext cx="4472956" cy="2189618"/>
          </a:xfrm>
          <a:custGeom>
            <a:avLst/>
            <a:gdLst/>
            <a:ahLst/>
            <a:cxnLst/>
            <a:rect l="l" t="t" r="r" b="b"/>
            <a:pathLst>
              <a:path w="4472956" h="2189618">
                <a:moveTo>
                  <a:pt x="0" y="0"/>
                </a:moveTo>
                <a:lnTo>
                  <a:pt x="4472956" y="0"/>
                </a:lnTo>
                <a:lnTo>
                  <a:pt x="4472956" y="2189618"/>
                </a:lnTo>
                <a:lnTo>
                  <a:pt x="0" y="218961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0658" y="4532595"/>
            <a:ext cx="4140679" cy="238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4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Evolution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583258" y="4873392"/>
            <a:ext cx="4055480" cy="408956"/>
          </a:xfrm>
          <a:custGeom>
            <a:avLst/>
            <a:gdLst/>
            <a:ahLst/>
            <a:cxnLst/>
            <a:rect l="l" t="t" r="r" b="b"/>
            <a:pathLst>
              <a:path w="4055480" h="408956">
                <a:moveTo>
                  <a:pt x="0" y="0"/>
                </a:moveTo>
                <a:lnTo>
                  <a:pt x="4055480" y="0"/>
                </a:lnTo>
                <a:lnTo>
                  <a:pt x="4055480" y="408956"/>
                </a:lnTo>
                <a:lnTo>
                  <a:pt x="0" y="4089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685497" y="4975631"/>
            <a:ext cx="587874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383407" y="5009711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33816" y="74177"/>
                </a:moveTo>
                <a:cubicBezTo>
                  <a:pt x="137144" y="70848"/>
                  <a:pt x="137144" y="65444"/>
                  <a:pt x="133816" y="62116"/>
                </a:cubicBezTo>
                <a:lnTo>
                  <a:pt x="91216" y="19516"/>
                </a:lnTo>
                <a:cubicBezTo>
                  <a:pt x="87888" y="16188"/>
                  <a:pt x="82483" y="16188"/>
                  <a:pt x="79155" y="19516"/>
                </a:cubicBezTo>
                <a:cubicBezTo>
                  <a:pt x="75827" y="22844"/>
                  <a:pt x="75827" y="28249"/>
                  <a:pt x="79155" y="31577"/>
                </a:cubicBezTo>
                <a:lnTo>
                  <a:pt x="107218" y="59639"/>
                </a:lnTo>
                <a:lnTo>
                  <a:pt x="8520" y="59639"/>
                </a:lnTo>
                <a:cubicBezTo>
                  <a:pt x="3807" y="59639"/>
                  <a:pt x="0" y="63447"/>
                  <a:pt x="0" y="68159"/>
                </a:cubicBezTo>
                <a:cubicBezTo>
                  <a:pt x="0" y="72872"/>
                  <a:pt x="3807" y="76679"/>
                  <a:pt x="8520" y="76679"/>
                </a:cubicBezTo>
                <a:lnTo>
                  <a:pt x="107218" y="76679"/>
                </a:lnTo>
                <a:lnTo>
                  <a:pt x="79155" y="104742"/>
                </a:lnTo>
                <a:cubicBezTo>
                  <a:pt x="75827" y="108070"/>
                  <a:pt x="75827" y="113475"/>
                  <a:pt x="79155" y="116803"/>
                </a:cubicBezTo>
                <a:cubicBezTo>
                  <a:pt x="82483" y="120131"/>
                  <a:pt x="87888" y="120131"/>
                  <a:pt x="91216" y="116803"/>
                </a:cubicBezTo>
                <a:lnTo>
                  <a:pt x="133816" y="74203"/>
                </a:lnTo>
                <a:close/>
              </a:path>
            </a:pathLst>
          </a:custGeom>
          <a:solidFill>
            <a:srgbClr val="8A9199"/>
          </a:solidFill>
          <a:ln/>
        </p:spPr>
      </p:sp>
      <p:sp>
        <p:nvSpPr>
          <p:cNvPr id="46" name="Shape 44"/>
          <p:cNvSpPr/>
          <p:nvPr/>
        </p:nvSpPr>
        <p:spPr>
          <a:xfrm>
            <a:off x="7583258" y="5384587"/>
            <a:ext cx="4055480" cy="408956"/>
          </a:xfrm>
          <a:custGeom>
            <a:avLst/>
            <a:gdLst/>
            <a:ahLst/>
            <a:cxnLst/>
            <a:rect l="l" t="t" r="r" b="b"/>
            <a:pathLst>
              <a:path w="4055480" h="408956">
                <a:moveTo>
                  <a:pt x="0" y="0"/>
                </a:moveTo>
                <a:lnTo>
                  <a:pt x="4055480" y="0"/>
                </a:lnTo>
                <a:lnTo>
                  <a:pt x="4055480" y="408956"/>
                </a:lnTo>
                <a:lnTo>
                  <a:pt x="0" y="4089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685497" y="5486826"/>
            <a:ext cx="69863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Preventive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383407" y="5520906"/>
            <a:ext cx="136319" cy="136319"/>
          </a:xfrm>
          <a:custGeom>
            <a:avLst/>
            <a:gdLst/>
            <a:ahLst/>
            <a:cxnLst/>
            <a:rect l="l" t="t" r="r" b="b"/>
            <a:pathLst>
              <a:path w="136319" h="136319">
                <a:moveTo>
                  <a:pt x="133816" y="74177"/>
                </a:moveTo>
                <a:cubicBezTo>
                  <a:pt x="137144" y="70848"/>
                  <a:pt x="137144" y="65444"/>
                  <a:pt x="133816" y="62116"/>
                </a:cubicBezTo>
                <a:lnTo>
                  <a:pt x="91216" y="19516"/>
                </a:lnTo>
                <a:cubicBezTo>
                  <a:pt x="87888" y="16188"/>
                  <a:pt x="82483" y="16188"/>
                  <a:pt x="79155" y="19516"/>
                </a:cubicBezTo>
                <a:cubicBezTo>
                  <a:pt x="75827" y="22844"/>
                  <a:pt x="75827" y="28249"/>
                  <a:pt x="79155" y="31577"/>
                </a:cubicBezTo>
                <a:lnTo>
                  <a:pt x="107218" y="59639"/>
                </a:lnTo>
                <a:lnTo>
                  <a:pt x="8520" y="59639"/>
                </a:lnTo>
                <a:cubicBezTo>
                  <a:pt x="3807" y="59639"/>
                  <a:pt x="0" y="63447"/>
                  <a:pt x="0" y="68159"/>
                </a:cubicBezTo>
                <a:cubicBezTo>
                  <a:pt x="0" y="72872"/>
                  <a:pt x="3807" y="76679"/>
                  <a:pt x="8520" y="76679"/>
                </a:cubicBezTo>
                <a:lnTo>
                  <a:pt x="107218" y="76679"/>
                </a:lnTo>
                <a:lnTo>
                  <a:pt x="79155" y="104742"/>
                </a:lnTo>
                <a:cubicBezTo>
                  <a:pt x="75827" y="108070"/>
                  <a:pt x="75827" y="113475"/>
                  <a:pt x="79155" y="116803"/>
                </a:cubicBezTo>
                <a:cubicBezTo>
                  <a:pt x="82483" y="120131"/>
                  <a:pt x="87888" y="120131"/>
                  <a:pt x="91216" y="116803"/>
                </a:cubicBezTo>
                <a:lnTo>
                  <a:pt x="133816" y="74203"/>
                </a:lnTo>
                <a:close/>
              </a:path>
            </a:pathLst>
          </a:custGeom>
          <a:solidFill>
            <a:srgbClr val="8A9199"/>
          </a:solidFill>
          <a:ln/>
        </p:spPr>
      </p:sp>
      <p:sp>
        <p:nvSpPr>
          <p:cNvPr id="49" name="Shape 47"/>
          <p:cNvSpPr/>
          <p:nvPr/>
        </p:nvSpPr>
        <p:spPr>
          <a:xfrm>
            <a:off x="7583258" y="5895782"/>
            <a:ext cx="4055480" cy="408956"/>
          </a:xfrm>
          <a:custGeom>
            <a:avLst/>
            <a:gdLst/>
            <a:ahLst/>
            <a:cxnLst/>
            <a:rect l="l" t="t" r="r" b="b"/>
            <a:pathLst>
              <a:path w="4055480" h="408956">
                <a:moveTo>
                  <a:pt x="0" y="0"/>
                </a:moveTo>
                <a:lnTo>
                  <a:pt x="4055480" y="0"/>
                </a:lnTo>
                <a:lnTo>
                  <a:pt x="4055480" y="408956"/>
                </a:lnTo>
                <a:lnTo>
                  <a:pt x="0" y="408956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0" name="Text 48"/>
          <p:cNvSpPr/>
          <p:nvPr/>
        </p:nvSpPr>
        <p:spPr>
          <a:xfrm>
            <a:off x="7685497" y="5998021"/>
            <a:ext cx="707153" cy="204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3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391927" y="6032101"/>
            <a:ext cx="119279" cy="136319"/>
          </a:xfrm>
          <a:custGeom>
            <a:avLst/>
            <a:gdLst/>
            <a:ahLst/>
            <a:cxnLst/>
            <a:rect l="l" t="t" r="r" b="b"/>
            <a:pathLst>
              <a:path w="119279" h="136319">
                <a:moveTo>
                  <a:pt x="115764" y="18664"/>
                </a:moveTo>
                <a:cubicBezTo>
                  <a:pt x="119572" y="21433"/>
                  <a:pt x="120424" y="26758"/>
                  <a:pt x="117655" y="30565"/>
                </a:cubicBezTo>
                <a:lnTo>
                  <a:pt x="49495" y="124284"/>
                </a:lnTo>
                <a:cubicBezTo>
                  <a:pt x="48031" y="126308"/>
                  <a:pt x="45768" y="127559"/>
                  <a:pt x="43265" y="127772"/>
                </a:cubicBezTo>
                <a:cubicBezTo>
                  <a:pt x="40762" y="127985"/>
                  <a:pt x="38340" y="127053"/>
                  <a:pt x="36582" y="125296"/>
                </a:cubicBezTo>
                <a:lnTo>
                  <a:pt x="2503" y="91216"/>
                </a:lnTo>
                <a:cubicBezTo>
                  <a:pt x="-825" y="87888"/>
                  <a:pt x="-825" y="82483"/>
                  <a:pt x="2503" y="79155"/>
                </a:cubicBezTo>
                <a:cubicBezTo>
                  <a:pt x="5831" y="75827"/>
                  <a:pt x="11236" y="75827"/>
                  <a:pt x="14564" y="79155"/>
                </a:cubicBezTo>
                <a:lnTo>
                  <a:pt x="41588" y="106179"/>
                </a:lnTo>
                <a:lnTo>
                  <a:pt x="103890" y="20528"/>
                </a:lnTo>
                <a:cubicBezTo>
                  <a:pt x="106659" y="16720"/>
                  <a:pt x="111984" y="15868"/>
                  <a:pt x="115791" y="18637"/>
                </a:cubicBezTo>
                <a:close/>
              </a:path>
            </a:pathLst>
          </a:custGeom>
          <a:solidFill>
            <a:srgbClr val="1A1D21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3aa89f9a5ba76d1470edb3fdde5600a0e78c48a3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Text 2"/>
          <p:cNvSpPr/>
          <p:nvPr/>
        </p:nvSpPr>
        <p:spPr>
          <a:xfrm>
            <a:off x="473869" y="1438275"/>
            <a:ext cx="1009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2668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486025"/>
            <a:ext cx="11858625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Our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00A9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Solution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10075"/>
            <a:ext cx="7458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Project overview and system capabilities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443538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0" name="Text 7"/>
          <p:cNvSpPr/>
          <p:nvPr/>
        </p:nvSpPr>
        <p:spPr>
          <a:xfrm>
            <a:off x="1905000" y="53244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Engine Monitoring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914" y="317914"/>
            <a:ext cx="11611807" cy="158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6" b="1" spc="175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914" y="540454"/>
            <a:ext cx="11746920" cy="381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4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Overview: Intelligent Engine Monitoring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914" y="1049116"/>
            <a:ext cx="762993" cy="23844"/>
          </a:xfrm>
          <a:custGeom>
            <a:avLst/>
            <a:gdLst/>
            <a:ahLst/>
            <a:cxnLst/>
            <a:rect l="l" t="t" r="r" b="b"/>
            <a:pathLst>
              <a:path w="762993" h="23844">
                <a:moveTo>
                  <a:pt x="0" y="0"/>
                </a:moveTo>
                <a:lnTo>
                  <a:pt x="762993" y="0"/>
                </a:lnTo>
                <a:lnTo>
                  <a:pt x="762993" y="23844"/>
                </a:lnTo>
                <a:lnTo>
                  <a:pt x="0" y="23844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21888" y="1267682"/>
            <a:ext cx="7629935" cy="1947223"/>
          </a:xfrm>
          <a:custGeom>
            <a:avLst/>
            <a:gdLst/>
            <a:ahLst/>
            <a:cxnLst/>
            <a:rect l="l" t="t" r="r" b="b"/>
            <a:pathLst>
              <a:path w="7629935" h="1947223">
                <a:moveTo>
                  <a:pt x="0" y="0"/>
                </a:moveTo>
                <a:lnTo>
                  <a:pt x="7629935" y="0"/>
                </a:lnTo>
                <a:lnTo>
                  <a:pt x="7629935" y="1947223"/>
                </a:lnTo>
                <a:lnTo>
                  <a:pt x="0" y="194722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0454" y="1486248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44707" y="20863"/>
                </a:moveTo>
                <a:cubicBezTo>
                  <a:pt x="44707" y="9351"/>
                  <a:pt x="54058" y="0"/>
                  <a:pt x="65570" y="0"/>
                </a:cubicBezTo>
                <a:lnTo>
                  <a:pt x="74511" y="0"/>
                </a:lnTo>
                <a:cubicBezTo>
                  <a:pt x="81105" y="0"/>
                  <a:pt x="86433" y="5328"/>
                  <a:pt x="86433" y="11922"/>
                </a:cubicBezTo>
                <a:lnTo>
                  <a:pt x="86433" y="178827"/>
                </a:lnTo>
                <a:cubicBezTo>
                  <a:pt x="86433" y="185421"/>
                  <a:pt x="81105" y="190748"/>
                  <a:pt x="74511" y="190748"/>
                </a:cubicBezTo>
                <a:lnTo>
                  <a:pt x="62589" y="190748"/>
                </a:lnTo>
                <a:cubicBezTo>
                  <a:pt x="51487" y="190748"/>
                  <a:pt x="42136" y="183148"/>
                  <a:pt x="39491" y="172866"/>
                </a:cubicBezTo>
                <a:cubicBezTo>
                  <a:pt x="39230" y="172866"/>
                  <a:pt x="39007" y="172866"/>
                  <a:pt x="38746" y="172866"/>
                </a:cubicBezTo>
                <a:cubicBezTo>
                  <a:pt x="22279" y="172866"/>
                  <a:pt x="8941" y="159528"/>
                  <a:pt x="8941" y="143061"/>
                </a:cubicBezTo>
                <a:cubicBezTo>
                  <a:pt x="8941" y="136355"/>
                  <a:pt x="11177" y="130171"/>
                  <a:pt x="14902" y="125179"/>
                </a:cubicBezTo>
                <a:cubicBezTo>
                  <a:pt x="7675" y="119739"/>
                  <a:pt x="2980" y="111096"/>
                  <a:pt x="2980" y="101335"/>
                </a:cubicBezTo>
                <a:cubicBezTo>
                  <a:pt x="2980" y="89823"/>
                  <a:pt x="9537" y="79801"/>
                  <a:pt x="19075" y="74846"/>
                </a:cubicBezTo>
                <a:cubicBezTo>
                  <a:pt x="16430" y="70376"/>
                  <a:pt x="14902" y="65160"/>
                  <a:pt x="14902" y="59609"/>
                </a:cubicBezTo>
                <a:cubicBezTo>
                  <a:pt x="14902" y="43142"/>
                  <a:pt x="28240" y="29804"/>
                  <a:pt x="44707" y="29804"/>
                </a:cubicBezTo>
                <a:lnTo>
                  <a:pt x="44707" y="20863"/>
                </a:lnTo>
                <a:close/>
                <a:moveTo>
                  <a:pt x="146042" y="20863"/>
                </a:moveTo>
                <a:lnTo>
                  <a:pt x="146042" y="29804"/>
                </a:lnTo>
                <a:cubicBezTo>
                  <a:pt x="162509" y="29804"/>
                  <a:pt x="175846" y="43142"/>
                  <a:pt x="175846" y="59609"/>
                </a:cubicBezTo>
                <a:cubicBezTo>
                  <a:pt x="175846" y="65197"/>
                  <a:pt x="174319" y="70413"/>
                  <a:pt x="171674" y="74846"/>
                </a:cubicBezTo>
                <a:cubicBezTo>
                  <a:pt x="181248" y="79801"/>
                  <a:pt x="187768" y="89786"/>
                  <a:pt x="187768" y="101335"/>
                </a:cubicBezTo>
                <a:cubicBezTo>
                  <a:pt x="187768" y="111096"/>
                  <a:pt x="183074" y="119739"/>
                  <a:pt x="175846" y="125179"/>
                </a:cubicBezTo>
                <a:cubicBezTo>
                  <a:pt x="179572" y="130171"/>
                  <a:pt x="181807" y="136355"/>
                  <a:pt x="181807" y="143061"/>
                </a:cubicBezTo>
                <a:cubicBezTo>
                  <a:pt x="181807" y="159528"/>
                  <a:pt x="168470" y="172866"/>
                  <a:pt x="152003" y="172866"/>
                </a:cubicBezTo>
                <a:cubicBezTo>
                  <a:pt x="151742" y="172866"/>
                  <a:pt x="151518" y="172866"/>
                  <a:pt x="151257" y="172866"/>
                </a:cubicBezTo>
                <a:cubicBezTo>
                  <a:pt x="148612" y="183148"/>
                  <a:pt x="139261" y="190748"/>
                  <a:pt x="128159" y="190748"/>
                </a:cubicBezTo>
                <a:lnTo>
                  <a:pt x="116237" y="190748"/>
                </a:lnTo>
                <a:cubicBezTo>
                  <a:pt x="109643" y="190748"/>
                  <a:pt x="104316" y="185421"/>
                  <a:pt x="104316" y="178827"/>
                </a:cubicBezTo>
                <a:lnTo>
                  <a:pt x="104316" y="11922"/>
                </a:lnTo>
                <a:cubicBezTo>
                  <a:pt x="104316" y="5328"/>
                  <a:pt x="109643" y="0"/>
                  <a:pt x="116237" y="0"/>
                </a:cubicBezTo>
                <a:lnTo>
                  <a:pt x="125179" y="0"/>
                </a:lnTo>
                <a:cubicBezTo>
                  <a:pt x="136691" y="0"/>
                  <a:pt x="146042" y="9351"/>
                  <a:pt x="146042" y="20863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814732" y="1462404"/>
            <a:ext cx="7037742" cy="254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6610" y="1812110"/>
            <a:ext cx="7304073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</a:t>
            </a:r>
            <a:pPr>
              <a:lnSpc>
                <a:spcPct val="140000"/>
              </a:lnSpc>
            </a:pPr>
            <a:r>
              <a:rPr lang="en-US" sz="1001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Maintenance system</a:t>
            </a:r>
            <a:pPr>
              <a:lnSpc>
                <a:spcPct val="140000"/>
              </a:lnSpc>
            </a:pPr>
            <a:r>
              <a:rPr lang="en-US" sz="100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leverages Deep Learning (LSTM) to estimate the Remaining Useful Life (RUL) of aircraft engines and provides a real-time monitoring dashboard for factory operators.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4558" y="2352563"/>
            <a:ext cx="7232542" cy="667619"/>
          </a:xfrm>
          <a:custGeom>
            <a:avLst/>
            <a:gdLst/>
            <a:ahLst/>
            <a:cxnLst/>
            <a:rect l="l" t="t" r="r" b="b"/>
            <a:pathLst>
              <a:path w="7232542" h="667619">
                <a:moveTo>
                  <a:pt x="0" y="0"/>
                </a:moveTo>
                <a:lnTo>
                  <a:pt x="7232542" y="0"/>
                </a:lnTo>
                <a:lnTo>
                  <a:pt x="7232542" y="667619"/>
                </a:lnTo>
                <a:lnTo>
                  <a:pt x="0" y="66761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4558" y="2352563"/>
            <a:ext cx="15896" cy="667619"/>
          </a:xfrm>
          <a:custGeom>
            <a:avLst/>
            <a:gdLst/>
            <a:ahLst/>
            <a:cxnLst/>
            <a:rect l="l" t="t" r="r" b="b"/>
            <a:pathLst>
              <a:path w="15896" h="667619">
                <a:moveTo>
                  <a:pt x="0" y="0"/>
                </a:moveTo>
                <a:lnTo>
                  <a:pt x="15896" y="0"/>
                </a:lnTo>
                <a:lnTo>
                  <a:pt x="15896" y="667619"/>
                </a:lnTo>
                <a:lnTo>
                  <a:pt x="0" y="667619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Shape 9"/>
          <p:cNvSpPr/>
          <p:nvPr/>
        </p:nvSpPr>
        <p:spPr>
          <a:xfrm>
            <a:off x="683515" y="2519468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11270" y="51115"/>
                </a:moveTo>
                <a:cubicBezTo>
                  <a:pt x="107594" y="53549"/>
                  <a:pt x="103372" y="55511"/>
                  <a:pt x="98976" y="57075"/>
                </a:cubicBezTo>
                <a:cubicBezTo>
                  <a:pt x="87302" y="61248"/>
                  <a:pt x="71978" y="63583"/>
                  <a:pt x="55635" y="63583"/>
                </a:cubicBezTo>
                <a:cubicBezTo>
                  <a:pt x="39292" y="63583"/>
                  <a:pt x="23943" y="61223"/>
                  <a:pt x="12294" y="57075"/>
                </a:cubicBezTo>
                <a:cubicBezTo>
                  <a:pt x="7923" y="55511"/>
                  <a:pt x="3676" y="53549"/>
                  <a:pt x="0" y="51115"/>
                </a:cubicBezTo>
                <a:lnTo>
                  <a:pt x="0" y="71531"/>
                </a:lnTo>
                <a:cubicBezTo>
                  <a:pt x="0" y="82509"/>
                  <a:pt x="24912" y="91400"/>
                  <a:pt x="55635" y="91400"/>
                </a:cubicBezTo>
                <a:cubicBezTo>
                  <a:pt x="86358" y="91400"/>
                  <a:pt x="111270" y="82509"/>
                  <a:pt x="111270" y="71531"/>
                </a:cubicBezTo>
                <a:lnTo>
                  <a:pt x="111270" y="51115"/>
                </a:lnTo>
                <a:close/>
                <a:moveTo>
                  <a:pt x="111270" y="31791"/>
                </a:moveTo>
                <a:lnTo>
                  <a:pt x="111270" y="19870"/>
                </a:lnTo>
                <a:cubicBezTo>
                  <a:pt x="111270" y="8892"/>
                  <a:pt x="86358" y="0"/>
                  <a:pt x="55635" y="0"/>
                </a:cubicBezTo>
                <a:cubicBezTo>
                  <a:pt x="24912" y="0"/>
                  <a:pt x="0" y="8892"/>
                  <a:pt x="0" y="19870"/>
                </a:cubicBezTo>
                <a:lnTo>
                  <a:pt x="0" y="31791"/>
                </a:lnTo>
                <a:cubicBezTo>
                  <a:pt x="0" y="42769"/>
                  <a:pt x="24912" y="51661"/>
                  <a:pt x="55635" y="51661"/>
                </a:cubicBezTo>
                <a:cubicBezTo>
                  <a:pt x="86358" y="51661"/>
                  <a:pt x="111270" y="42769"/>
                  <a:pt x="111270" y="31791"/>
                </a:cubicBezTo>
                <a:close/>
                <a:moveTo>
                  <a:pt x="98976" y="96815"/>
                </a:moveTo>
                <a:cubicBezTo>
                  <a:pt x="87327" y="100963"/>
                  <a:pt x="72003" y="103322"/>
                  <a:pt x="55635" y="103322"/>
                </a:cubicBezTo>
                <a:cubicBezTo>
                  <a:pt x="39267" y="103322"/>
                  <a:pt x="23943" y="100963"/>
                  <a:pt x="12294" y="96815"/>
                </a:cubicBezTo>
                <a:cubicBezTo>
                  <a:pt x="7923" y="95250"/>
                  <a:pt x="3676" y="93288"/>
                  <a:pt x="0" y="90854"/>
                </a:cubicBezTo>
                <a:lnTo>
                  <a:pt x="0" y="107296"/>
                </a:lnTo>
                <a:cubicBezTo>
                  <a:pt x="0" y="118274"/>
                  <a:pt x="24912" y="127166"/>
                  <a:pt x="55635" y="127166"/>
                </a:cubicBezTo>
                <a:cubicBezTo>
                  <a:pt x="86358" y="127166"/>
                  <a:pt x="111270" y="118274"/>
                  <a:pt x="111270" y="107296"/>
                </a:cubicBezTo>
                <a:lnTo>
                  <a:pt x="111270" y="90854"/>
                </a:lnTo>
                <a:cubicBezTo>
                  <a:pt x="107594" y="93288"/>
                  <a:pt x="103372" y="95250"/>
                  <a:pt x="98976" y="9681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858419" y="2479729"/>
            <a:ext cx="6835098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Trained on the </a:t>
            </a:r>
            <a:pPr>
              <a:lnSpc>
                <a:spcPct val="140000"/>
              </a:lnSpc>
            </a:pPr>
            <a:r>
              <a:rPr lang="en-US" sz="100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NASA C-MAPSS Turbofan Degradation Dataset</a:t>
            </a:r>
            <a:pPr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predict exactly when maintenance is required, preventing catastrophic failures and optimizing maintenance schedules.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810" y="3346044"/>
            <a:ext cx="3743437" cy="1017325"/>
          </a:xfrm>
          <a:custGeom>
            <a:avLst/>
            <a:gdLst/>
            <a:ahLst/>
            <a:cxnLst/>
            <a:rect l="l" t="t" r="r" b="b"/>
            <a:pathLst>
              <a:path w="3743437" h="1017325">
                <a:moveTo>
                  <a:pt x="0" y="0"/>
                </a:moveTo>
                <a:lnTo>
                  <a:pt x="3743437" y="0"/>
                </a:lnTo>
                <a:lnTo>
                  <a:pt x="3743437" y="1017325"/>
                </a:lnTo>
                <a:lnTo>
                  <a:pt x="0" y="10173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33810" y="3346044"/>
            <a:ext cx="31791" cy="1017325"/>
          </a:xfrm>
          <a:custGeom>
            <a:avLst/>
            <a:gdLst/>
            <a:ahLst/>
            <a:cxnLst/>
            <a:rect l="l" t="t" r="r" b="b"/>
            <a:pathLst>
              <a:path w="31791" h="1017325">
                <a:moveTo>
                  <a:pt x="0" y="0"/>
                </a:moveTo>
                <a:lnTo>
                  <a:pt x="31791" y="0"/>
                </a:lnTo>
                <a:lnTo>
                  <a:pt x="31791" y="1017325"/>
                </a:lnTo>
                <a:lnTo>
                  <a:pt x="0" y="10173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584" y="3505001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0"/>
                </a:moveTo>
                <a:cubicBezTo>
                  <a:pt x="148013" y="0"/>
                  <a:pt x="190748" y="42736"/>
                  <a:pt x="190748" y="95374"/>
                </a:cubicBezTo>
                <a:cubicBezTo>
                  <a:pt x="190748" y="148013"/>
                  <a:pt x="148013" y="190748"/>
                  <a:pt x="95374" y="190748"/>
                </a:cubicBezTo>
                <a:cubicBezTo>
                  <a:pt x="42736" y="190748"/>
                  <a:pt x="0" y="148013"/>
                  <a:pt x="0" y="95374"/>
                </a:cubicBezTo>
                <a:cubicBezTo>
                  <a:pt x="0" y="42736"/>
                  <a:pt x="42736" y="0"/>
                  <a:pt x="95374" y="0"/>
                </a:cubicBezTo>
                <a:close/>
                <a:moveTo>
                  <a:pt x="86433" y="44707"/>
                </a:moveTo>
                <a:lnTo>
                  <a:pt x="86433" y="95374"/>
                </a:lnTo>
                <a:cubicBezTo>
                  <a:pt x="86433" y="98355"/>
                  <a:pt x="87923" y="101149"/>
                  <a:pt x="90419" y="102825"/>
                </a:cubicBezTo>
                <a:lnTo>
                  <a:pt x="126185" y="126669"/>
                </a:lnTo>
                <a:cubicBezTo>
                  <a:pt x="130283" y="129426"/>
                  <a:pt x="135834" y="128308"/>
                  <a:pt x="138591" y="124173"/>
                </a:cubicBezTo>
                <a:cubicBezTo>
                  <a:pt x="141348" y="120037"/>
                  <a:pt x="140230" y="114524"/>
                  <a:pt x="136094" y="111767"/>
                </a:cubicBezTo>
                <a:lnTo>
                  <a:pt x="104316" y="90605"/>
                </a:lnTo>
                <a:lnTo>
                  <a:pt x="104316" y="44707"/>
                </a:lnTo>
                <a:cubicBezTo>
                  <a:pt x="104316" y="39752"/>
                  <a:pt x="100329" y="35765"/>
                  <a:pt x="95374" y="35765"/>
                </a:cubicBezTo>
                <a:cubicBezTo>
                  <a:pt x="90419" y="35765"/>
                  <a:pt x="86433" y="39752"/>
                  <a:pt x="86433" y="44707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6" name="Text 14"/>
          <p:cNvSpPr/>
          <p:nvPr/>
        </p:nvSpPr>
        <p:spPr>
          <a:xfrm>
            <a:off x="818132" y="3505001"/>
            <a:ext cx="3179140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Monitoring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132" y="3791124"/>
            <a:ext cx="3163244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health status tracking with live dashboard updates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18197" y="3346044"/>
            <a:ext cx="3743437" cy="1017325"/>
          </a:xfrm>
          <a:custGeom>
            <a:avLst/>
            <a:gdLst/>
            <a:ahLst/>
            <a:cxnLst/>
            <a:rect l="l" t="t" r="r" b="b"/>
            <a:pathLst>
              <a:path w="3743437" h="1017325">
                <a:moveTo>
                  <a:pt x="0" y="0"/>
                </a:moveTo>
                <a:lnTo>
                  <a:pt x="3743437" y="0"/>
                </a:lnTo>
                <a:lnTo>
                  <a:pt x="3743437" y="1017325"/>
                </a:lnTo>
                <a:lnTo>
                  <a:pt x="0" y="10173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218197" y="3346044"/>
            <a:ext cx="31791" cy="1017325"/>
          </a:xfrm>
          <a:custGeom>
            <a:avLst/>
            <a:gdLst/>
            <a:ahLst/>
            <a:cxnLst/>
            <a:rect l="l" t="t" r="r" b="b"/>
            <a:pathLst>
              <a:path w="31791" h="1017325">
                <a:moveTo>
                  <a:pt x="0" y="0"/>
                </a:moveTo>
                <a:lnTo>
                  <a:pt x="31791" y="0"/>
                </a:lnTo>
                <a:lnTo>
                  <a:pt x="31791" y="1017325"/>
                </a:lnTo>
                <a:lnTo>
                  <a:pt x="0" y="10173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0" name="Shape 18"/>
          <p:cNvSpPr/>
          <p:nvPr/>
        </p:nvSpPr>
        <p:spPr>
          <a:xfrm>
            <a:off x="4404971" y="3505001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23844" y="23844"/>
                </a:moveTo>
                <a:cubicBezTo>
                  <a:pt x="23844" y="17249"/>
                  <a:pt x="18516" y="11922"/>
                  <a:pt x="11922" y="11922"/>
                </a:cubicBezTo>
                <a:cubicBezTo>
                  <a:pt x="5328" y="11922"/>
                  <a:pt x="0" y="17249"/>
                  <a:pt x="0" y="23844"/>
                </a:cubicBezTo>
                <a:lnTo>
                  <a:pt x="0" y="149022"/>
                </a:lnTo>
                <a:cubicBezTo>
                  <a:pt x="0" y="165489"/>
                  <a:pt x="13337" y="178827"/>
                  <a:pt x="29804" y="178827"/>
                </a:cubicBezTo>
                <a:lnTo>
                  <a:pt x="178827" y="178827"/>
                </a:lnTo>
                <a:cubicBezTo>
                  <a:pt x="185421" y="178827"/>
                  <a:pt x="190748" y="173499"/>
                  <a:pt x="190748" y="166905"/>
                </a:cubicBezTo>
                <a:cubicBezTo>
                  <a:pt x="190748" y="160311"/>
                  <a:pt x="185421" y="154983"/>
                  <a:pt x="178827" y="154983"/>
                </a:cubicBezTo>
                <a:lnTo>
                  <a:pt x="29804" y="154983"/>
                </a:lnTo>
                <a:cubicBezTo>
                  <a:pt x="26526" y="154983"/>
                  <a:pt x="23844" y="152301"/>
                  <a:pt x="23844" y="149022"/>
                </a:cubicBezTo>
                <a:lnTo>
                  <a:pt x="23844" y="23844"/>
                </a:lnTo>
                <a:close/>
                <a:moveTo>
                  <a:pt x="175325" y="56107"/>
                </a:moveTo>
                <a:cubicBezTo>
                  <a:pt x="179982" y="51450"/>
                  <a:pt x="179982" y="43887"/>
                  <a:pt x="175325" y="39230"/>
                </a:cubicBezTo>
                <a:cubicBezTo>
                  <a:pt x="170668" y="34573"/>
                  <a:pt x="163105" y="34573"/>
                  <a:pt x="158448" y="39230"/>
                </a:cubicBezTo>
                <a:lnTo>
                  <a:pt x="119218" y="78497"/>
                </a:lnTo>
                <a:lnTo>
                  <a:pt x="97833" y="57150"/>
                </a:lnTo>
                <a:cubicBezTo>
                  <a:pt x="93176" y="52493"/>
                  <a:pt x="85613" y="52493"/>
                  <a:pt x="80956" y="57150"/>
                </a:cubicBezTo>
                <a:lnTo>
                  <a:pt x="45191" y="92915"/>
                </a:lnTo>
                <a:cubicBezTo>
                  <a:pt x="40534" y="97572"/>
                  <a:pt x="40534" y="105135"/>
                  <a:pt x="45191" y="109792"/>
                </a:cubicBezTo>
                <a:cubicBezTo>
                  <a:pt x="49848" y="114449"/>
                  <a:pt x="57411" y="114449"/>
                  <a:pt x="62068" y="109792"/>
                </a:cubicBezTo>
                <a:lnTo>
                  <a:pt x="89413" y="82447"/>
                </a:lnTo>
                <a:lnTo>
                  <a:pt x="110798" y="103831"/>
                </a:lnTo>
                <a:cubicBezTo>
                  <a:pt x="115455" y="108488"/>
                  <a:pt x="123018" y="108488"/>
                  <a:pt x="127675" y="103831"/>
                </a:cubicBezTo>
                <a:lnTo>
                  <a:pt x="175362" y="56144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1" name="Text 19"/>
          <p:cNvSpPr/>
          <p:nvPr/>
        </p:nvSpPr>
        <p:spPr>
          <a:xfrm>
            <a:off x="4703015" y="3505001"/>
            <a:ext cx="3179140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 Prediction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03015" y="3791124"/>
            <a:ext cx="3163244" cy="413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Precise estimation of remaining operational cycles until failure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3810" y="4490535"/>
            <a:ext cx="3743437" cy="810681"/>
          </a:xfrm>
          <a:custGeom>
            <a:avLst/>
            <a:gdLst/>
            <a:ahLst/>
            <a:cxnLst/>
            <a:rect l="l" t="t" r="r" b="b"/>
            <a:pathLst>
              <a:path w="3743437" h="810681">
                <a:moveTo>
                  <a:pt x="0" y="0"/>
                </a:moveTo>
                <a:lnTo>
                  <a:pt x="3743437" y="0"/>
                </a:lnTo>
                <a:lnTo>
                  <a:pt x="3743437" y="810681"/>
                </a:lnTo>
                <a:lnTo>
                  <a:pt x="0" y="8106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33810" y="4490535"/>
            <a:ext cx="31791" cy="810681"/>
          </a:xfrm>
          <a:custGeom>
            <a:avLst/>
            <a:gdLst/>
            <a:ahLst/>
            <a:cxnLst/>
            <a:rect l="l" t="t" r="r" b="b"/>
            <a:pathLst>
              <a:path w="31791" h="810681">
                <a:moveTo>
                  <a:pt x="0" y="0"/>
                </a:moveTo>
                <a:lnTo>
                  <a:pt x="31791" y="0"/>
                </a:lnTo>
                <a:lnTo>
                  <a:pt x="31791" y="810681"/>
                </a:lnTo>
                <a:lnTo>
                  <a:pt x="0" y="810681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5" name="Shape 23"/>
          <p:cNvSpPr/>
          <p:nvPr/>
        </p:nvSpPr>
        <p:spPr>
          <a:xfrm>
            <a:off x="532506" y="4649492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0" y="26824"/>
                </a:moveTo>
                <a:cubicBezTo>
                  <a:pt x="0" y="21906"/>
                  <a:pt x="3986" y="17883"/>
                  <a:pt x="8941" y="17883"/>
                </a:cubicBezTo>
                <a:lnTo>
                  <a:pt x="26824" y="17883"/>
                </a:lnTo>
                <a:cubicBezTo>
                  <a:pt x="31779" y="17883"/>
                  <a:pt x="35765" y="21869"/>
                  <a:pt x="35765" y="26824"/>
                </a:cubicBezTo>
                <a:lnTo>
                  <a:pt x="35765" y="65570"/>
                </a:lnTo>
                <a:lnTo>
                  <a:pt x="44707" y="65570"/>
                </a:lnTo>
                <a:cubicBezTo>
                  <a:pt x="49662" y="65570"/>
                  <a:pt x="53648" y="69556"/>
                  <a:pt x="53648" y="74511"/>
                </a:cubicBezTo>
                <a:cubicBezTo>
                  <a:pt x="53648" y="79466"/>
                  <a:pt x="49662" y="83452"/>
                  <a:pt x="44707" y="83452"/>
                </a:cubicBezTo>
                <a:lnTo>
                  <a:pt x="8941" y="83452"/>
                </a:lnTo>
                <a:cubicBezTo>
                  <a:pt x="3986" y="83452"/>
                  <a:pt x="0" y="79466"/>
                  <a:pt x="0" y="74511"/>
                </a:cubicBezTo>
                <a:cubicBezTo>
                  <a:pt x="0" y="69556"/>
                  <a:pt x="3986" y="65570"/>
                  <a:pt x="8941" y="65570"/>
                </a:cubicBezTo>
                <a:lnTo>
                  <a:pt x="17883" y="65570"/>
                </a:lnTo>
                <a:lnTo>
                  <a:pt x="17883" y="35765"/>
                </a:lnTo>
                <a:lnTo>
                  <a:pt x="8941" y="35765"/>
                </a:lnTo>
                <a:cubicBezTo>
                  <a:pt x="3986" y="35765"/>
                  <a:pt x="0" y="31779"/>
                  <a:pt x="0" y="26824"/>
                </a:cubicBezTo>
                <a:close/>
                <a:moveTo>
                  <a:pt x="11326" y="112214"/>
                </a:moveTo>
                <a:cubicBezTo>
                  <a:pt x="15573" y="109010"/>
                  <a:pt x="20751" y="107296"/>
                  <a:pt x="26079" y="107296"/>
                </a:cubicBezTo>
                <a:lnTo>
                  <a:pt x="27904" y="107296"/>
                </a:lnTo>
                <a:cubicBezTo>
                  <a:pt x="40460" y="107296"/>
                  <a:pt x="50668" y="117504"/>
                  <a:pt x="50668" y="130059"/>
                </a:cubicBezTo>
                <a:cubicBezTo>
                  <a:pt x="50668" y="137361"/>
                  <a:pt x="47166" y="144179"/>
                  <a:pt x="41279" y="148463"/>
                </a:cubicBezTo>
                <a:lnTo>
                  <a:pt x="32338" y="154983"/>
                </a:lnTo>
                <a:lnTo>
                  <a:pt x="44707" y="154983"/>
                </a:lnTo>
                <a:cubicBezTo>
                  <a:pt x="49662" y="154983"/>
                  <a:pt x="53648" y="158969"/>
                  <a:pt x="53648" y="163924"/>
                </a:cubicBezTo>
                <a:cubicBezTo>
                  <a:pt x="53648" y="168879"/>
                  <a:pt x="49662" y="172866"/>
                  <a:pt x="44707" y="172866"/>
                </a:cubicBezTo>
                <a:lnTo>
                  <a:pt x="10916" y="172866"/>
                </a:lnTo>
                <a:cubicBezTo>
                  <a:pt x="4880" y="172866"/>
                  <a:pt x="0" y="167985"/>
                  <a:pt x="0" y="161950"/>
                </a:cubicBezTo>
                <a:cubicBezTo>
                  <a:pt x="0" y="158448"/>
                  <a:pt x="1676" y="155169"/>
                  <a:pt x="4508" y="153120"/>
                </a:cubicBezTo>
                <a:lnTo>
                  <a:pt x="30773" y="134008"/>
                </a:lnTo>
                <a:cubicBezTo>
                  <a:pt x="32040" y="133077"/>
                  <a:pt x="32785" y="131624"/>
                  <a:pt x="32785" y="130059"/>
                </a:cubicBezTo>
                <a:cubicBezTo>
                  <a:pt x="32785" y="127377"/>
                  <a:pt x="30587" y="125179"/>
                  <a:pt x="27904" y="125179"/>
                </a:cubicBezTo>
                <a:lnTo>
                  <a:pt x="26079" y="125179"/>
                </a:lnTo>
                <a:cubicBezTo>
                  <a:pt x="24626" y="125179"/>
                  <a:pt x="23210" y="125663"/>
                  <a:pt x="22055" y="126520"/>
                </a:cubicBezTo>
                <a:lnTo>
                  <a:pt x="14306" y="132332"/>
                </a:lnTo>
                <a:cubicBezTo>
                  <a:pt x="10357" y="135312"/>
                  <a:pt x="4769" y="134493"/>
                  <a:pt x="1788" y="130543"/>
                </a:cubicBezTo>
                <a:cubicBezTo>
                  <a:pt x="-1192" y="126594"/>
                  <a:pt x="-373" y="121006"/>
                  <a:pt x="3577" y="118026"/>
                </a:cubicBezTo>
                <a:lnTo>
                  <a:pt x="11326" y="112214"/>
                </a:lnTo>
                <a:close/>
                <a:moveTo>
                  <a:pt x="83452" y="23844"/>
                </a:moveTo>
                <a:lnTo>
                  <a:pt x="178827" y="23844"/>
                </a:lnTo>
                <a:cubicBezTo>
                  <a:pt x="185421" y="23844"/>
                  <a:pt x="190748" y="29171"/>
                  <a:pt x="190748" y="35765"/>
                </a:cubicBezTo>
                <a:cubicBezTo>
                  <a:pt x="190748" y="42360"/>
                  <a:pt x="185421" y="47687"/>
                  <a:pt x="178827" y="47687"/>
                </a:cubicBezTo>
                <a:lnTo>
                  <a:pt x="83452" y="47687"/>
                </a:lnTo>
                <a:cubicBezTo>
                  <a:pt x="76858" y="47687"/>
                  <a:pt x="71531" y="42360"/>
                  <a:pt x="71531" y="35765"/>
                </a:cubicBezTo>
                <a:cubicBezTo>
                  <a:pt x="71531" y="29171"/>
                  <a:pt x="76858" y="23844"/>
                  <a:pt x="83452" y="23844"/>
                </a:cubicBezTo>
                <a:close/>
                <a:moveTo>
                  <a:pt x="83452" y="83452"/>
                </a:moveTo>
                <a:lnTo>
                  <a:pt x="178827" y="83452"/>
                </a:lnTo>
                <a:cubicBezTo>
                  <a:pt x="185421" y="83452"/>
                  <a:pt x="190748" y="88780"/>
                  <a:pt x="190748" y="95374"/>
                </a:cubicBezTo>
                <a:cubicBezTo>
                  <a:pt x="190748" y="101968"/>
                  <a:pt x="185421" y="107296"/>
                  <a:pt x="178827" y="107296"/>
                </a:cubicBezTo>
                <a:lnTo>
                  <a:pt x="83452" y="107296"/>
                </a:lnTo>
                <a:cubicBezTo>
                  <a:pt x="76858" y="107296"/>
                  <a:pt x="71531" y="101968"/>
                  <a:pt x="71531" y="95374"/>
                </a:cubicBezTo>
                <a:cubicBezTo>
                  <a:pt x="71531" y="88780"/>
                  <a:pt x="76858" y="83452"/>
                  <a:pt x="83452" y="83452"/>
                </a:cubicBezTo>
                <a:close/>
                <a:moveTo>
                  <a:pt x="83452" y="143061"/>
                </a:moveTo>
                <a:lnTo>
                  <a:pt x="178827" y="143061"/>
                </a:lnTo>
                <a:cubicBezTo>
                  <a:pt x="185421" y="143061"/>
                  <a:pt x="190748" y="148389"/>
                  <a:pt x="190748" y="154983"/>
                </a:cubicBezTo>
                <a:cubicBezTo>
                  <a:pt x="190748" y="161577"/>
                  <a:pt x="185421" y="166905"/>
                  <a:pt x="178827" y="166905"/>
                </a:cubicBezTo>
                <a:lnTo>
                  <a:pt x="83452" y="166905"/>
                </a:lnTo>
                <a:cubicBezTo>
                  <a:pt x="76858" y="166905"/>
                  <a:pt x="71531" y="161577"/>
                  <a:pt x="71531" y="154983"/>
                </a:cubicBezTo>
                <a:cubicBezTo>
                  <a:pt x="71531" y="148389"/>
                  <a:pt x="76858" y="143061"/>
                  <a:pt x="83452" y="143061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6" name="Text 24"/>
          <p:cNvSpPr/>
          <p:nvPr/>
        </p:nvSpPr>
        <p:spPr>
          <a:xfrm>
            <a:off x="842472" y="4649492"/>
            <a:ext cx="3123505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Queue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2472" y="4935614"/>
            <a:ext cx="3107609" cy="20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Prioritized list to help operators focus on urgent repairs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18197" y="4490535"/>
            <a:ext cx="3743437" cy="810681"/>
          </a:xfrm>
          <a:custGeom>
            <a:avLst/>
            <a:gdLst/>
            <a:ahLst/>
            <a:cxnLst/>
            <a:rect l="l" t="t" r="r" b="b"/>
            <a:pathLst>
              <a:path w="3743437" h="810681">
                <a:moveTo>
                  <a:pt x="0" y="0"/>
                </a:moveTo>
                <a:lnTo>
                  <a:pt x="3743437" y="0"/>
                </a:lnTo>
                <a:lnTo>
                  <a:pt x="3743437" y="810681"/>
                </a:lnTo>
                <a:lnTo>
                  <a:pt x="0" y="8106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218197" y="4490535"/>
            <a:ext cx="31791" cy="810681"/>
          </a:xfrm>
          <a:custGeom>
            <a:avLst/>
            <a:gdLst/>
            <a:ahLst/>
            <a:cxnLst/>
            <a:rect l="l" t="t" r="r" b="b"/>
            <a:pathLst>
              <a:path w="31791" h="810681">
                <a:moveTo>
                  <a:pt x="0" y="0"/>
                </a:moveTo>
                <a:lnTo>
                  <a:pt x="31791" y="0"/>
                </a:lnTo>
                <a:lnTo>
                  <a:pt x="31791" y="810681"/>
                </a:lnTo>
                <a:lnTo>
                  <a:pt x="0" y="810681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0" name="Shape 28"/>
          <p:cNvSpPr/>
          <p:nvPr/>
        </p:nvSpPr>
        <p:spPr>
          <a:xfrm>
            <a:off x="4416893" y="4649492"/>
            <a:ext cx="190748" cy="190748"/>
          </a:xfrm>
          <a:custGeom>
            <a:avLst/>
            <a:gdLst/>
            <a:ahLst/>
            <a:cxnLst/>
            <a:rect l="l" t="t" r="r" b="b"/>
            <a:pathLst>
              <a:path w="190748" h="190748">
                <a:moveTo>
                  <a:pt x="95374" y="190748"/>
                </a:moveTo>
                <a:cubicBezTo>
                  <a:pt x="148013" y="190748"/>
                  <a:pt x="190748" y="148013"/>
                  <a:pt x="190748" y="95374"/>
                </a:cubicBezTo>
                <a:cubicBezTo>
                  <a:pt x="190748" y="42736"/>
                  <a:pt x="148013" y="0"/>
                  <a:pt x="95374" y="0"/>
                </a:cubicBezTo>
                <a:cubicBezTo>
                  <a:pt x="42736" y="0"/>
                  <a:pt x="0" y="42736"/>
                  <a:pt x="0" y="95374"/>
                </a:cubicBezTo>
                <a:cubicBezTo>
                  <a:pt x="0" y="148013"/>
                  <a:pt x="42736" y="190748"/>
                  <a:pt x="95374" y="190748"/>
                </a:cubicBezTo>
                <a:close/>
                <a:moveTo>
                  <a:pt x="95374" y="50668"/>
                </a:moveTo>
                <a:cubicBezTo>
                  <a:pt x="100329" y="50668"/>
                  <a:pt x="104316" y="54654"/>
                  <a:pt x="104316" y="59609"/>
                </a:cubicBezTo>
                <a:lnTo>
                  <a:pt x="104316" y="101335"/>
                </a:lnTo>
                <a:cubicBezTo>
                  <a:pt x="104316" y="106290"/>
                  <a:pt x="100329" y="110276"/>
                  <a:pt x="95374" y="110276"/>
                </a:cubicBezTo>
                <a:cubicBezTo>
                  <a:pt x="90419" y="110276"/>
                  <a:pt x="86433" y="106290"/>
                  <a:pt x="86433" y="101335"/>
                </a:cubicBezTo>
                <a:lnTo>
                  <a:pt x="86433" y="59609"/>
                </a:lnTo>
                <a:cubicBezTo>
                  <a:pt x="86433" y="54654"/>
                  <a:pt x="90419" y="50668"/>
                  <a:pt x="95374" y="50668"/>
                </a:cubicBezTo>
                <a:close/>
                <a:moveTo>
                  <a:pt x="85427" y="131140"/>
                </a:moveTo>
                <a:cubicBezTo>
                  <a:pt x="85201" y="127447"/>
                  <a:pt x="87042" y="123934"/>
                  <a:pt x="90207" y="122020"/>
                </a:cubicBezTo>
                <a:cubicBezTo>
                  <a:pt x="93372" y="120105"/>
                  <a:pt x="97339" y="120105"/>
                  <a:pt x="100504" y="122020"/>
                </a:cubicBezTo>
                <a:cubicBezTo>
                  <a:pt x="103669" y="123934"/>
                  <a:pt x="105510" y="127447"/>
                  <a:pt x="105284" y="131140"/>
                </a:cubicBezTo>
                <a:cubicBezTo>
                  <a:pt x="105510" y="134832"/>
                  <a:pt x="103669" y="138345"/>
                  <a:pt x="100504" y="140259"/>
                </a:cubicBezTo>
                <a:cubicBezTo>
                  <a:pt x="97339" y="142174"/>
                  <a:pt x="93372" y="142174"/>
                  <a:pt x="90207" y="140259"/>
                </a:cubicBezTo>
                <a:cubicBezTo>
                  <a:pt x="87042" y="138345"/>
                  <a:pt x="85201" y="134832"/>
                  <a:pt x="85427" y="131140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4726859" y="4649492"/>
            <a:ext cx="2757904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Alerts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726859" y="4935614"/>
            <a:ext cx="2742008" cy="20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flagging of engines below 25% health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54244" y="1267682"/>
            <a:ext cx="3719593" cy="3187087"/>
          </a:xfrm>
          <a:custGeom>
            <a:avLst/>
            <a:gdLst/>
            <a:ahLst/>
            <a:cxnLst/>
            <a:rect l="l" t="t" r="r" b="b"/>
            <a:pathLst>
              <a:path w="3719593" h="3187087">
                <a:moveTo>
                  <a:pt x="0" y="0"/>
                </a:moveTo>
                <a:lnTo>
                  <a:pt x="3719593" y="0"/>
                </a:lnTo>
                <a:lnTo>
                  <a:pt x="3719593" y="3187087"/>
                </a:lnTo>
                <a:lnTo>
                  <a:pt x="0" y="318708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09228" y="1462404"/>
            <a:ext cx="3409627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Capabilities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48967" y="1843901"/>
            <a:ext cx="3330149" cy="508662"/>
          </a:xfrm>
          <a:custGeom>
            <a:avLst/>
            <a:gdLst/>
            <a:ahLst/>
            <a:cxnLst/>
            <a:rect l="l" t="t" r="r" b="b"/>
            <a:pathLst>
              <a:path w="3330149" h="508662">
                <a:moveTo>
                  <a:pt x="0" y="0"/>
                </a:moveTo>
                <a:lnTo>
                  <a:pt x="3330149" y="0"/>
                </a:lnTo>
                <a:lnTo>
                  <a:pt x="3330149" y="508662"/>
                </a:lnTo>
                <a:lnTo>
                  <a:pt x="0" y="5086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444341" y="1939275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0" y="0"/>
                </a:moveTo>
                <a:lnTo>
                  <a:pt x="317914" y="0"/>
                </a:lnTo>
                <a:lnTo>
                  <a:pt x="317914" y="317914"/>
                </a:lnTo>
                <a:lnTo>
                  <a:pt x="0" y="3179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7" name="Shape 35"/>
          <p:cNvSpPr/>
          <p:nvPr/>
        </p:nvSpPr>
        <p:spPr>
          <a:xfrm>
            <a:off x="8547663" y="2034649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8" name="Text 36"/>
          <p:cNvSpPr/>
          <p:nvPr/>
        </p:nvSpPr>
        <p:spPr>
          <a:xfrm>
            <a:off x="8857629" y="2002858"/>
            <a:ext cx="160546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Status Classification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48967" y="2479729"/>
            <a:ext cx="3330149" cy="508662"/>
          </a:xfrm>
          <a:custGeom>
            <a:avLst/>
            <a:gdLst/>
            <a:ahLst/>
            <a:cxnLst/>
            <a:rect l="l" t="t" r="r" b="b"/>
            <a:pathLst>
              <a:path w="3330149" h="508662">
                <a:moveTo>
                  <a:pt x="0" y="0"/>
                </a:moveTo>
                <a:lnTo>
                  <a:pt x="3330149" y="0"/>
                </a:lnTo>
                <a:lnTo>
                  <a:pt x="3330149" y="508662"/>
                </a:lnTo>
                <a:lnTo>
                  <a:pt x="0" y="5086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444341" y="2575103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0" y="0"/>
                </a:moveTo>
                <a:lnTo>
                  <a:pt x="317914" y="0"/>
                </a:lnTo>
                <a:lnTo>
                  <a:pt x="317914" y="317914"/>
                </a:lnTo>
                <a:lnTo>
                  <a:pt x="0" y="3179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1" name="Shape 39"/>
          <p:cNvSpPr/>
          <p:nvPr/>
        </p:nvSpPr>
        <p:spPr>
          <a:xfrm>
            <a:off x="8547663" y="2670477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2" name="Text 40"/>
          <p:cNvSpPr/>
          <p:nvPr/>
        </p:nvSpPr>
        <p:spPr>
          <a:xfrm>
            <a:off x="8857629" y="2638686"/>
            <a:ext cx="1128595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Urgency Indicators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348967" y="3115557"/>
            <a:ext cx="3330149" cy="508662"/>
          </a:xfrm>
          <a:custGeom>
            <a:avLst/>
            <a:gdLst/>
            <a:ahLst/>
            <a:cxnLst/>
            <a:rect l="l" t="t" r="r" b="b"/>
            <a:pathLst>
              <a:path w="3330149" h="508662">
                <a:moveTo>
                  <a:pt x="0" y="0"/>
                </a:moveTo>
                <a:lnTo>
                  <a:pt x="3330149" y="0"/>
                </a:lnTo>
                <a:lnTo>
                  <a:pt x="3330149" y="508662"/>
                </a:lnTo>
                <a:lnTo>
                  <a:pt x="0" y="5086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444341" y="3210931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0" y="0"/>
                </a:moveTo>
                <a:lnTo>
                  <a:pt x="317914" y="0"/>
                </a:lnTo>
                <a:lnTo>
                  <a:pt x="317914" y="317914"/>
                </a:lnTo>
                <a:lnTo>
                  <a:pt x="0" y="3179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5" name="Shape 43"/>
          <p:cNvSpPr/>
          <p:nvPr/>
        </p:nvSpPr>
        <p:spPr>
          <a:xfrm>
            <a:off x="8547663" y="3306305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8857629" y="3274514"/>
            <a:ext cx="1057064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Deep Dive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48967" y="3751385"/>
            <a:ext cx="3330149" cy="508662"/>
          </a:xfrm>
          <a:custGeom>
            <a:avLst/>
            <a:gdLst/>
            <a:ahLst/>
            <a:cxnLst/>
            <a:rect l="l" t="t" r="r" b="b"/>
            <a:pathLst>
              <a:path w="3330149" h="508662">
                <a:moveTo>
                  <a:pt x="0" y="0"/>
                </a:moveTo>
                <a:lnTo>
                  <a:pt x="3330149" y="0"/>
                </a:lnTo>
                <a:lnTo>
                  <a:pt x="3330149" y="508662"/>
                </a:lnTo>
                <a:lnTo>
                  <a:pt x="0" y="50866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444341" y="3846759"/>
            <a:ext cx="317914" cy="317914"/>
          </a:xfrm>
          <a:custGeom>
            <a:avLst/>
            <a:gdLst/>
            <a:ahLst/>
            <a:cxnLst/>
            <a:rect l="l" t="t" r="r" b="b"/>
            <a:pathLst>
              <a:path w="317914" h="317914">
                <a:moveTo>
                  <a:pt x="0" y="0"/>
                </a:moveTo>
                <a:lnTo>
                  <a:pt x="317914" y="0"/>
                </a:lnTo>
                <a:lnTo>
                  <a:pt x="317914" y="317914"/>
                </a:lnTo>
                <a:lnTo>
                  <a:pt x="0" y="3179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9" name="Shape 47"/>
          <p:cNvSpPr/>
          <p:nvPr/>
        </p:nvSpPr>
        <p:spPr>
          <a:xfrm>
            <a:off x="8547663" y="3942133"/>
            <a:ext cx="111270" cy="127166"/>
          </a:xfrm>
          <a:custGeom>
            <a:avLst/>
            <a:gdLst/>
            <a:ahLst/>
            <a:cxnLst/>
            <a:rect l="l" t="t" r="r" b="b"/>
            <a:pathLst>
              <a:path w="111270" h="127166">
                <a:moveTo>
                  <a:pt x="107991" y="17411"/>
                </a:moveTo>
                <a:cubicBezTo>
                  <a:pt x="111543" y="19994"/>
                  <a:pt x="112338" y="24961"/>
                  <a:pt x="109755" y="28513"/>
                </a:cubicBezTo>
                <a:lnTo>
                  <a:pt x="46172" y="115939"/>
                </a:lnTo>
                <a:cubicBezTo>
                  <a:pt x="44806" y="117827"/>
                  <a:pt x="42695" y="118994"/>
                  <a:pt x="40360" y="119193"/>
                </a:cubicBezTo>
                <a:cubicBezTo>
                  <a:pt x="38025" y="119392"/>
                  <a:pt x="35765" y="118522"/>
                  <a:pt x="34126" y="116883"/>
                </a:cubicBezTo>
                <a:lnTo>
                  <a:pt x="2335" y="85092"/>
                </a:lnTo>
                <a:cubicBezTo>
                  <a:pt x="-770" y="81987"/>
                  <a:pt x="-770" y="76945"/>
                  <a:pt x="2335" y="73840"/>
                </a:cubicBezTo>
                <a:cubicBezTo>
                  <a:pt x="5439" y="70736"/>
                  <a:pt x="10481" y="70736"/>
                  <a:pt x="13586" y="73840"/>
                </a:cubicBezTo>
                <a:lnTo>
                  <a:pt x="38795" y="99050"/>
                </a:lnTo>
                <a:lnTo>
                  <a:pt x="96914" y="19149"/>
                </a:lnTo>
                <a:cubicBezTo>
                  <a:pt x="99497" y="15598"/>
                  <a:pt x="104465" y="14803"/>
                  <a:pt x="108016" y="17386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Text 48"/>
          <p:cNvSpPr/>
          <p:nvPr/>
        </p:nvSpPr>
        <p:spPr>
          <a:xfrm>
            <a:off x="8857629" y="3910342"/>
            <a:ext cx="1343186" cy="190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Failure Time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154244" y="4589883"/>
            <a:ext cx="3719593" cy="1740579"/>
          </a:xfrm>
          <a:custGeom>
            <a:avLst/>
            <a:gdLst/>
            <a:ahLst/>
            <a:cxnLst/>
            <a:rect l="l" t="t" r="r" b="b"/>
            <a:pathLst>
              <a:path w="3719593" h="1740579">
                <a:moveTo>
                  <a:pt x="0" y="0"/>
                </a:moveTo>
                <a:lnTo>
                  <a:pt x="3719593" y="0"/>
                </a:lnTo>
                <a:lnTo>
                  <a:pt x="3719593" y="1740579"/>
                </a:lnTo>
                <a:lnTo>
                  <a:pt x="0" y="174057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8A9199">
                <a:alpha val="3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869862" y="4784605"/>
            <a:ext cx="286123" cy="286123"/>
          </a:xfrm>
          <a:custGeom>
            <a:avLst/>
            <a:gdLst/>
            <a:ahLst/>
            <a:cxnLst/>
            <a:rect l="l" t="t" r="r" b="b"/>
            <a:pathLst>
              <a:path w="286123" h="286123">
                <a:moveTo>
                  <a:pt x="143061" y="0"/>
                </a:moveTo>
                <a:cubicBezTo>
                  <a:pt x="145632" y="0"/>
                  <a:pt x="148203" y="559"/>
                  <a:pt x="150550" y="1621"/>
                </a:cubicBezTo>
                <a:lnTo>
                  <a:pt x="255834" y="46271"/>
                </a:lnTo>
                <a:cubicBezTo>
                  <a:pt x="268128" y="51469"/>
                  <a:pt x="277293" y="63595"/>
                  <a:pt x="277237" y="78237"/>
                </a:cubicBezTo>
                <a:cubicBezTo>
                  <a:pt x="276958" y="133673"/>
                  <a:pt x="254157" y="235101"/>
                  <a:pt x="157870" y="281205"/>
                </a:cubicBezTo>
                <a:cubicBezTo>
                  <a:pt x="148538" y="285675"/>
                  <a:pt x="137696" y="285675"/>
                  <a:pt x="128364" y="281205"/>
                </a:cubicBezTo>
                <a:cubicBezTo>
                  <a:pt x="32021" y="235101"/>
                  <a:pt x="9277" y="133673"/>
                  <a:pt x="8997" y="78237"/>
                </a:cubicBezTo>
                <a:cubicBezTo>
                  <a:pt x="8941" y="63595"/>
                  <a:pt x="18106" y="51469"/>
                  <a:pt x="30401" y="46271"/>
                </a:cubicBezTo>
                <a:lnTo>
                  <a:pt x="135629" y="1621"/>
                </a:lnTo>
                <a:cubicBezTo>
                  <a:pt x="137976" y="559"/>
                  <a:pt x="140491" y="0"/>
                  <a:pt x="143061" y="0"/>
                </a:cubicBezTo>
                <a:close/>
                <a:moveTo>
                  <a:pt x="143061" y="37330"/>
                </a:moveTo>
                <a:lnTo>
                  <a:pt x="143061" y="248625"/>
                </a:lnTo>
                <a:cubicBezTo>
                  <a:pt x="220180" y="211295"/>
                  <a:pt x="240913" y="128588"/>
                  <a:pt x="241416" y="79075"/>
                </a:cubicBezTo>
                <a:lnTo>
                  <a:pt x="143061" y="37386"/>
                </a:lnTo>
                <a:lnTo>
                  <a:pt x="143061" y="3738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3" name="Text 51"/>
          <p:cNvSpPr/>
          <p:nvPr/>
        </p:nvSpPr>
        <p:spPr>
          <a:xfrm>
            <a:off x="8309228" y="5166102"/>
            <a:ext cx="3409627" cy="222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Focus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317175" y="5515807"/>
            <a:ext cx="3393731" cy="619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aims to </a:t>
            </a:r>
            <a:pPr algn="ctr">
              <a:lnSpc>
                <a:spcPct val="140000"/>
              </a:lnSpc>
            </a:pPr>
            <a:r>
              <a:rPr lang="en-US" sz="100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engine failures</a:t>
            </a:r>
            <a:pPr algn="ctr">
              <a:lnSpc>
                <a:spcPct val="140000"/>
              </a:lnSpc>
            </a:pPr>
            <a:r>
              <a:rPr lang="en-US" sz="1001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predicting exactly when maintenance is required, transforming reactive maintenance into predictive intelligence.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System Architecture: Three-Stage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1047750"/>
            <a:ext cx="762000" cy="23813"/>
          </a:xfrm>
          <a:custGeom>
            <a:avLst/>
            <a:gdLst/>
            <a:ahLst/>
            <a:cxnLst/>
            <a:rect l="l" t="t" r="r" b="b"/>
            <a:pathLst>
              <a:path w="762000" h="23813">
                <a:moveTo>
                  <a:pt x="0" y="0"/>
                </a:moveTo>
                <a:lnTo>
                  <a:pt x="762000" y="0"/>
                </a:lnTo>
                <a:lnTo>
                  <a:pt x="7620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266031"/>
            <a:ext cx="3714750" cy="3532188"/>
          </a:xfrm>
          <a:custGeom>
            <a:avLst/>
            <a:gdLst/>
            <a:ahLst/>
            <a:cxnLst/>
            <a:rect l="l" t="t" r="r" b="b"/>
            <a:pathLst>
              <a:path w="3714750" h="3532188">
                <a:moveTo>
                  <a:pt x="0" y="0"/>
                </a:moveTo>
                <a:lnTo>
                  <a:pt x="3714750" y="0"/>
                </a:lnTo>
                <a:lnTo>
                  <a:pt x="3714750" y="3532188"/>
                </a:lnTo>
                <a:lnTo>
                  <a:pt x="0" y="353218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5938" y="1460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634008" y="1555750"/>
            <a:ext cx="3016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5688" y="1555750"/>
            <a:ext cx="158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3875" y="203200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3875" y="203200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Text 9"/>
          <p:cNvSpPr/>
          <p:nvPr/>
        </p:nvSpPr>
        <p:spPr>
          <a:xfrm>
            <a:off x="627063" y="21272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7063" y="23177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 from 21 engine sensors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23875" y="269875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23875" y="269875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5" name="Text 13"/>
          <p:cNvSpPr/>
          <p:nvPr/>
        </p:nvSpPr>
        <p:spPr>
          <a:xfrm>
            <a:off x="627063" y="279400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7063" y="298450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MinMaxScaler (0-1 range)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23875" y="336550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23875" y="336550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627063" y="34607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Generation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7063" y="36512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Sliding windows (30 cycles)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3875" y="403225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523875" y="403225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3" name="Text 21"/>
          <p:cNvSpPr/>
          <p:nvPr/>
        </p:nvSpPr>
        <p:spPr>
          <a:xfrm>
            <a:off x="627063" y="412750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 Labeling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7063" y="431800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Piece-wise linear targets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37261" y="1266031"/>
            <a:ext cx="3714750" cy="3532188"/>
          </a:xfrm>
          <a:custGeom>
            <a:avLst/>
            <a:gdLst/>
            <a:ahLst/>
            <a:cxnLst/>
            <a:rect l="l" t="t" r="r" b="b"/>
            <a:pathLst>
              <a:path w="3714750" h="3532188">
                <a:moveTo>
                  <a:pt x="0" y="0"/>
                </a:moveTo>
                <a:lnTo>
                  <a:pt x="3714750" y="0"/>
                </a:lnTo>
                <a:lnTo>
                  <a:pt x="3714750" y="3532188"/>
                </a:lnTo>
                <a:lnTo>
                  <a:pt x="0" y="353218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1729" y="1460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7" name="Text 25"/>
          <p:cNvSpPr/>
          <p:nvPr/>
        </p:nvSpPr>
        <p:spPr>
          <a:xfrm>
            <a:off x="4533925" y="1555750"/>
            <a:ext cx="333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971479" y="1555750"/>
            <a:ext cx="1214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LSTM Model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39667" y="203200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39667" y="203200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4542854" y="21272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42854" y="23177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LSTM layers (64 hidden dim)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39667" y="269875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439667" y="269875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5" name="Text 33"/>
          <p:cNvSpPr/>
          <p:nvPr/>
        </p:nvSpPr>
        <p:spPr>
          <a:xfrm>
            <a:off x="4542854" y="279400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Regularization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42854" y="298450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Dropout layer (0.2)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439667" y="336550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439667" y="336550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4542854" y="34607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42854" y="36512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connected regression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439667" y="403225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439667" y="403225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3" name="Text 41"/>
          <p:cNvSpPr/>
          <p:nvPr/>
        </p:nvSpPr>
        <p:spPr>
          <a:xfrm>
            <a:off x="4542854" y="412750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542854" y="431800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 deep learning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53053" y="1266031"/>
            <a:ext cx="3714750" cy="3532188"/>
          </a:xfrm>
          <a:custGeom>
            <a:avLst/>
            <a:gdLst/>
            <a:ahLst/>
            <a:cxnLst/>
            <a:rect l="l" t="t" r="r" b="b"/>
            <a:pathLst>
              <a:path w="3714750" h="3532188">
                <a:moveTo>
                  <a:pt x="0" y="0"/>
                </a:moveTo>
                <a:lnTo>
                  <a:pt x="3714750" y="0"/>
                </a:lnTo>
                <a:lnTo>
                  <a:pt x="3714750" y="3532188"/>
                </a:lnTo>
                <a:lnTo>
                  <a:pt x="0" y="353218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347521" y="1460500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0" y="0"/>
                </a:moveTo>
                <a:lnTo>
                  <a:pt x="444500" y="0"/>
                </a:lnTo>
                <a:lnTo>
                  <a:pt x="44450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7" name="Text 45"/>
          <p:cNvSpPr/>
          <p:nvPr/>
        </p:nvSpPr>
        <p:spPr>
          <a:xfrm>
            <a:off x="8447484" y="1555750"/>
            <a:ext cx="341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887271" y="1555750"/>
            <a:ext cx="12620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Real-Time UI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355459" y="203200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355459" y="203200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1" name="Text 49"/>
          <p:cNvSpPr/>
          <p:nvPr/>
        </p:nvSpPr>
        <p:spPr>
          <a:xfrm>
            <a:off x="8458646" y="21272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58646" y="23177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web application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355459" y="269875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355459" y="269875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5" name="Text 53"/>
          <p:cNvSpPr/>
          <p:nvPr/>
        </p:nvSpPr>
        <p:spPr>
          <a:xfrm>
            <a:off x="8458646" y="279400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Metrics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58646" y="298450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Convert RUL to actionable %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355459" y="336550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55459" y="336550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9" name="Text 57"/>
          <p:cNvSpPr/>
          <p:nvPr/>
        </p:nvSpPr>
        <p:spPr>
          <a:xfrm>
            <a:off x="8458646" y="346075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Classification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458646" y="365125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Good/Fair/Poor/Critical states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55459" y="4032250"/>
            <a:ext cx="3317875" cy="571500"/>
          </a:xfrm>
          <a:custGeom>
            <a:avLst/>
            <a:gdLst/>
            <a:ahLst/>
            <a:cxnLst/>
            <a:rect l="l" t="t" r="r" b="b"/>
            <a:pathLst>
              <a:path w="3317875" h="571500">
                <a:moveTo>
                  <a:pt x="0" y="0"/>
                </a:moveTo>
                <a:lnTo>
                  <a:pt x="3317875" y="0"/>
                </a:lnTo>
                <a:lnTo>
                  <a:pt x="3317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55459" y="4032250"/>
            <a:ext cx="15875" cy="571500"/>
          </a:xfrm>
          <a:custGeom>
            <a:avLst/>
            <a:gdLst/>
            <a:ahLst/>
            <a:cxnLst/>
            <a:rect l="l" t="t" r="r" b="b"/>
            <a:pathLst>
              <a:path w="15875" h="571500">
                <a:moveTo>
                  <a:pt x="0" y="0"/>
                </a:moveTo>
                <a:lnTo>
                  <a:pt x="15875" y="0"/>
                </a:lnTo>
                <a:lnTo>
                  <a:pt x="15875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63" name="Text 61"/>
          <p:cNvSpPr/>
          <p:nvPr/>
        </p:nvSpPr>
        <p:spPr>
          <a:xfrm>
            <a:off x="8458646" y="4127500"/>
            <a:ext cx="317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Priority Queue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58646" y="4318000"/>
            <a:ext cx="3182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prioritization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321469" y="4933156"/>
            <a:ext cx="11549063" cy="1658938"/>
          </a:xfrm>
          <a:custGeom>
            <a:avLst/>
            <a:gdLst/>
            <a:ahLst/>
            <a:cxnLst/>
            <a:rect l="l" t="t" r="r" b="b"/>
            <a:pathLst>
              <a:path w="11549063" h="1658938">
                <a:moveTo>
                  <a:pt x="0" y="0"/>
                </a:moveTo>
                <a:lnTo>
                  <a:pt x="11549063" y="0"/>
                </a:lnTo>
                <a:lnTo>
                  <a:pt x="11549063" y="1658938"/>
                </a:lnTo>
                <a:lnTo>
                  <a:pt x="0" y="165893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76924" y="51514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67" name="Text 65"/>
          <p:cNvSpPr/>
          <p:nvPr/>
        </p:nvSpPr>
        <p:spPr>
          <a:xfrm>
            <a:off x="765969" y="5127625"/>
            <a:ext cx="1095771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Workflow Pipeline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519906" y="5544344"/>
            <a:ext cx="1833563" cy="754063"/>
          </a:xfrm>
          <a:custGeom>
            <a:avLst/>
            <a:gdLst/>
            <a:ahLst/>
            <a:cxnLst/>
            <a:rect l="l" t="t" r="r" b="b"/>
            <a:pathLst>
              <a:path w="1833563" h="754063">
                <a:moveTo>
                  <a:pt x="0" y="0"/>
                </a:moveTo>
                <a:lnTo>
                  <a:pt x="1833563" y="0"/>
                </a:lnTo>
                <a:lnTo>
                  <a:pt x="1833563" y="754063"/>
                </a:lnTo>
                <a:lnTo>
                  <a:pt x="0" y="75406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332880" y="5675313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208359" y="95715"/>
                </a:moveTo>
                <a:cubicBezTo>
                  <a:pt x="201476" y="100273"/>
                  <a:pt x="193570" y="103947"/>
                  <a:pt x="185338" y="106877"/>
                </a:cubicBezTo>
                <a:cubicBezTo>
                  <a:pt x="163478" y="114691"/>
                  <a:pt x="134782" y="119062"/>
                  <a:pt x="104180" y="119062"/>
                </a:cubicBezTo>
                <a:cubicBezTo>
                  <a:pt x="73577" y="119062"/>
                  <a:pt x="44834" y="114644"/>
                  <a:pt x="23022" y="106877"/>
                </a:cubicBezTo>
                <a:cubicBezTo>
                  <a:pt x="14836" y="103947"/>
                  <a:pt x="6883" y="100273"/>
                  <a:pt x="0" y="95715"/>
                </a:cubicBezTo>
                <a:lnTo>
                  <a:pt x="0" y="133945"/>
                </a:lnTo>
                <a:cubicBezTo>
                  <a:pt x="0" y="154502"/>
                  <a:pt x="46648" y="171152"/>
                  <a:pt x="104180" y="171152"/>
                </a:cubicBezTo>
                <a:cubicBezTo>
                  <a:pt x="161711" y="171152"/>
                  <a:pt x="208359" y="154502"/>
                  <a:pt x="208359" y="133945"/>
                </a:cubicBezTo>
                <a:lnTo>
                  <a:pt x="208359" y="95715"/>
                </a:lnTo>
                <a:close/>
                <a:moveTo>
                  <a:pt x="208359" y="59531"/>
                </a:moveTo>
                <a:lnTo>
                  <a:pt x="208359" y="37207"/>
                </a:lnTo>
                <a:cubicBezTo>
                  <a:pt x="208359" y="16650"/>
                  <a:pt x="161711" y="0"/>
                  <a:pt x="104180" y="0"/>
                </a:cubicBezTo>
                <a:cubicBezTo>
                  <a:pt x="46648" y="0"/>
                  <a:pt x="0" y="16650"/>
                  <a:pt x="0" y="37207"/>
                </a:cubicBezTo>
                <a:lnTo>
                  <a:pt x="0" y="59531"/>
                </a:lnTo>
                <a:cubicBezTo>
                  <a:pt x="0" y="80088"/>
                  <a:pt x="46648" y="96738"/>
                  <a:pt x="104180" y="96738"/>
                </a:cubicBezTo>
                <a:cubicBezTo>
                  <a:pt x="161711" y="96738"/>
                  <a:pt x="208359" y="80088"/>
                  <a:pt x="208359" y="59531"/>
                </a:cubicBezTo>
                <a:close/>
                <a:moveTo>
                  <a:pt x="185338" y="181291"/>
                </a:moveTo>
                <a:cubicBezTo>
                  <a:pt x="163525" y="189058"/>
                  <a:pt x="134829" y="193477"/>
                  <a:pt x="104180" y="193477"/>
                </a:cubicBezTo>
                <a:cubicBezTo>
                  <a:pt x="73530" y="193477"/>
                  <a:pt x="44834" y="189058"/>
                  <a:pt x="23022" y="181291"/>
                </a:cubicBezTo>
                <a:cubicBezTo>
                  <a:pt x="14836" y="178361"/>
                  <a:pt x="6883" y="174687"/>
                  <a:pt x="0" y="170129"/>
                </a:cubicBezTo>
                <a:lnTo>
                  <a:pt x="0" y="200918"/>
                </a:lnTo>
                <a:cubicBezTo>
                  <a:pt x="0" y="221475"/>
                  <a:pt x="46648" y="238125"/>
                  <a:pt x="104180" y="238125"/>
                </a:cubicBezTo>
                <a:cubicBezTo>
                  <a:pt x="161711" y="238125"/>
                  <a:pt x="208359" y="221475"/>
                  <a:pt x="208359" y="200918"/>
                </a:cubicBezTo>
                <a:lnTo>
                  <a:pt x="208359" y="170129"/>
                </a:lnTo>
                <a:cubicBezTo>
                  <a:pt x="201476" y="174687"/>
                  <a:pt x="193570" y="178361"/>
                  <a:pt x="185338" y="181291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0" name="Text 68"/>
          <p:cNvSpPr/>
          <p:nvPr/>
        </p:nvSpPr>
        <p:spPr>
          <a:xfrm>
            <a:off x="619125" y="5976938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Sensor Data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2505025" y="5873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2" name="Shape 70"/>
          <p:cNvSpPr/>
          <p:nvPr/>
        </p:nvSpPr>
        <p:spPr>
          <a:xfrm>
            <a:off x="2850307" y="5544344"/>
            <a:ext cx="1833563" cy="754063"/>
          </a:xfrm>
          <a:custGeom>
            <a:avLst/>
            <a:gdLst/>
            <a:ahLst/>
            <a:cxnLst/>
            <a:rect l="l" t="t" r="r" b="b"/>
            <a:pathLst>
              <a:path w="1833563" h="754063">
                <a:moveTo>
                  <a:pt x="0" y="0"/>
                </a:moveTo>
                <a:lnTo>
                  <a:pt x="1833563" y="0"/>
                </a:lnTo>
                <a:lnTo>
                  <a:pt x="1833563" y="754063"/>
                </a:lnTo>
                <a:lnTo>
                  <a:pt x="0" y="75406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18632" y="5675313"/>
            <a:ext cx="297656" cy="238125"/>
          </a:xfrm>
          <a:custGeom>
            <a:avLst/>
            <a:gdLst/>
            <a:ahLst/>
            <a:cxnLst/>
            <a:rect l="l" t="t" r="r" b="b"/>
            <a:pathLst>
              <a:path w="297656" h="238125">
                <a:moveTo>
                  <a:pt x="193430" y="97901"/>
                </a:moveTo>
                <a:cubicBezTo>
                  <a:pt x="199104" y="96366"/>
                  <a:pt x="205057" y="99064"/>
                  <a:pt x="207615" y="104319"/>
                </a:cubicBezTo>
                <a:lnTo>
                  <a:pt x="216266" y="121807"/>
                </a:lnTo>
                <a:cubicBezTo>
                  <a:pt x="221056" y="122458"/>
                  <a:pt x="225754" y="123760"/>
                  <a:pt x="230172" y="125574"/>
                </a:cubicBezTo>
                <a:lnTo>
                  <a:pt x="246450" y="114737"/>
                </a:lnTo>
                <a:cubicBezTo>
                  <a:pt x="251333" y="111482"/>
                  <a:pt x="257798" y="112133"/>
                  <a:pt x="261937" y="116272"/>
                </a:cubicBezTo>
                <a:lnTo>
                  <a:pt x="270867" y="125202"/>
                </a:lnTo>
                <a:cubicBezTo>
                  <a:pt x="275006" y="129341"/>
                  <a:pt x="275658" y="135852"/>
                  <a:pt x="272402" y="140689"/>
                </a:cubicBezTo>
                <a:lnTo>
                  <a:pt x="261565" y="156921"/>
                </a:lnTo>
                <a:cubicBezTo>
                  <a:pt x="262449" y="159107"/>
                  <a:pt x="263240" y="161385"/>
                  <a:pt x="263891" y="163757"/>
                </a:cubicBezTo>
                <a:cubicBezTo>
                  <a:pt x="264542" y="166129"/>
                  <a:pt x="264961" y="168455"/>
                  <a:pt x="265286" y="170827"/>
                </a:cubicBezTo>
                <a:lnTo>
                  <a:pt x="282820" y="179477"/>
                </a:lnTo>
                <a:cubicBezTo>
                  <a:pt x="288075" y="182082"/>
                  <a:pt x="290773" y="188035"/>
                  <a:pt x="289238" y="193663"/>
                </a:cubicBezTo>
                <a:lnTo>
                  <a:pt x="285983" y="205848"/>
                </a:lnTo>
                <a:cubicBezTo>
                  <a:pt x="284448" y="211475"/>
                  <a:pt x="279192" y="215289"/>
                  <a:pt x="273332" y="214917"/>
                </a:cubicBezTo>
                <a:lnTo>
                  <a:pt x="253798" y="213661"/>
                </a:lnTo>
                <a:cubicBezTo>
                  <a:pt x="250868" y="217429"/>
                  <a:pt x="247473" y="220917"/>
                  <a:pt x="243613" y="223893"/>
                </a:cubicBezTo>
                <a:lnTo>
                  <a:pt x="244869" y="243380"/>
                </a:lnTo>
                <a:cubicBezTo>
                  <a:pt x="245241" y="249241"/>
                  <a:pt x="241427" y="254543"/>
                  <a:pt x="235800" y="256031"/>
                </a:cubicBezTo>
                <a:lnTo>
                  <a:pt x="223614" y="259286"/>
                </a:lnTo>
                <a:cubicBezTo>
                  <a:pt x="217940" y="260821"/>
                  <a:pt x="212034" y="258124"/>
                  <a:pt x="209429" y="252868"/>
                </a:cubicBezTo>
                <a:lnTo>
                  <a:pt x="200778" y="235381"/>
                </a:lnTo>
                <a:cubicBezTo>
                  <a:pt x="195988" y="234730"/>
                  <a:pt x="191291" y="233428"/>
                  <a:pt x="186872" y="231614"/>
                </a:cubicBezTo>
                <a:lnTo>
                  <a:pt x="170594" y="242450"/>
                </a:lnTo>
                <a:cubicBezTo>
                  <a:pt x="165711" y="245706"/>
                  <a:pt x="159246" y="245055"/>
                  <a:pt x="155107" y="240916"/>
                </a:cubicBezTo>
                <a:lnTo>
                  <a:pt x="146177" y="231986"/>
                </a:lnTo>
                <a:cubicBezTo>
                  <a:pt x="142038" y="227847"/>
                  <a:pt x="141387" y="221382"/>
                  <a:pt x="144642" y="216498"/>
                </a:cubicBezTo>
                <a:lnTo>
                  <a:pt x="155479" y="200220"/>
                </a:lnTo>
                <a:cubicBezTo>
                  <a:pt x="154595" y="198034"/>
                  <a:pt x="153805" y="195755"/>
                  <a:pt x="153153" y="193384"/>
                </a:cubicBezTo>
                <a:cubicBezTo>
                  <a:pt x="152502" y="191012"/>
                  <a:pt x="152084" y="188640"/>
                  <a:pt x="151758" y="186314"/>
                </a:cubicBezTo>
                <a:lnTo>
                  <a:pt x="134224" y="177664"/>
                </a:lnTo>
                <a:cubicBezTo>
                  <a:pt x="128969" y="175059"/>
                  <a:pt x="126318" y="169106"/>
                  <a:pt x="127806" y="163478"/>
                </a:cubicBezTo>
                <a:lnTo>
                  <a:pt x="131062" y="151293"/>
                </a:lnTo>
                <a:cubicBezTo>
                  <a:pt x="132597" y="145666"/>
                  <a:pt x="137852" y="141852"/>
                  <a:pt x="143712" y="142224"/>
                </a:cubicBezTo>
                <a:lnTo>
                  <a:pt x="163199" y="143480"/>
                </a:lnTo>
                <a:cubicBezTo>
                  <a:pt x="166129" y="139712"/>
                  <a:pt x="169525" y="136224"/>
                  <a:pt x="173385" y="133248"/>
                </a:cubicBezTo>
                <a:lnTo>
                  <a:pt x="172129" y="113807"/>
                </a:lnTo>
                <a:cubicBezTo>
                  <a:pt x="171757" y="107947"/>
                  <a:pt x="175571" y="102645"/>
                  <a:pt x="181198" y="101157"/>
                </a:cubicBezTo>
                <a:lnTo>
                  <a:pt x="193384" y="97901"/>
                </a:lnTo>
                <a:close/>
                <a:moveTo>
                  <a:pt x="208545" y="158130"/>
                </a:moveTo>
                <a:cubicBezTo>
                  <a:pt x="197251" y="158143"/>
                  <a:pt x="188092" y="167323"/>
                  <a:pt x="188105" y="178617"/>
                </a:cubicBezTo>
                <a:cubicBezTo>
                  <a:pt x="188118" y="189911"/>
                  <a:pt x="197298" y="199070"/>
                  <a:pt x="208592" y="199058"/>
                </a:cubicBezTo>
                <a:cubicBezTo>
                  <a:pt x="219886" y="199045"/>
                  <a:pt x="229045" y="189865"/>
                  <a:pt x="229033" y="178570"/>
                </a:cubicBezTo>
                <a:cubicBezTo>
                  <a:pt x="229020" y="167276"/>
                  <a:pt x="219840" y="158117"/>
                  <a:pt x="208545" y="158130"/>
                </a:cubicBezTo>
                <a:close/>
                <a:moveTo>
                  <a:pt x="104598" y="-21161"/>
                </a:moveTo>
                <a:lnTo>
                  <a:pt x="116784" y="-17906"/>
                </a:lnTo>
                <a:cubicBezTo>
                  <a:pt x="122411" y="-16371"/>
                  <a:pt x="126225" y="-11069"/>
                  <a:pt x="125853" y="-5255"/>
                </a:cubicBezTo>
                <a:lnTo>
                  <a:pt x="124597" y="14185"/>
                </a:lnTo>
                <a:cubicBezTo>
                  <a:pt x="128457" y="17162"/>
                  <a:pt x="131852" y="20603"/>
                  <a:pt x="134782" y="24417"/>
                </a:cubicBezTo>
                <a:lnTo>
                  <a:pt x="154316" y="23161"/>
                </a:lnTo>
                <a:cubicBezTo>
                  <a:pt x="160130" y="22789"/>
                  <a:pt x="165432" y="26603"/>
                  <a:pt x="166967" y="32231"/>
                </a:cubicBezTo>
                <a:lnTo>
                  <a:pt x="170222" y="44416"/>
                </a:lnTo>
                <a:cubicBezTo>
                  <a:pt x="171710" y="50043"/>
                  <a:pt x="169059" y="55997"/>
                  <a:pt x="163804" y="58601"/>
                </a:cubicBezTo>
                <a:lnTo>
                  <a:pt x="146270" y="67252"/>
                </a:lnTo>
                <a:cubicBezTo>
                  <a:pt x="145945" y="69624"/>
                  <a:pt x="145479" y="71996"/>
                  <a:pt x="144875" y="74321"/>
                </a:cubicBezTo>
                <a:cubicBezTo>
                  <a:pt x="144270" y="76646"/>
                  <a:pt x="143433" y="78972"/>
                  <a:pt x="142549" y="81158"/>
                </a:cubicBezTo>
                <a:lnTo>
                  <a:pt x="153386" y="97436"/>
                </a:lnTo>
                <a:cubicBezTo>
                  <a:pt x="156642" y="102319"/>
                  <a:pt x="155990" y="108784"/>
                  <a:pt x="151851" y="112923"/>
                </a:cubicBezTo>
                <a:lnTo>
                  <a:pt x="142922" y="121853"/>
                </a:lnTo>
                <a:cubicBezTo>
                  <a:pt x="138782" y="125992"/>
                  <a:pt x="132318" y="126643"/>
                  <a:pt x="127434" y="123388"/>
                </a:cubicBezTo>
                <a:lnTo>
                  <a:pt x="111156" y="112551"/>
                </a:lnTo>
                <a:cubicBezTo>
                  <a:pt x="106738" y="114365"/>
                  <a:pt x="102040" y="115667"/>
                  <a:pt x="97250" y="116318"/>
                </a:cubicBezTo>
                <a:lnTo>
                  <a:pt x="88599" y="133806"/>
                </a:lnTo>
                <a:cubicBezTo>
                  <a:pt x="85995" y="139061"/>
                  <a:pt x="80042" y="141712"/>
                  <a:pt x="74414" y="140224"/>
                </a:cubicBezTo>
                <a:lnTo>
                  <a:pt x="62229" y="136968"/>
                </a:lnTo>
                <a:cubicBezTo>
                  <a:pt x="56555" y="135434"/>
                  <a:pt x="52787" y="130132"/>
                  <a:pt x="53160" y="124318"/>
                </a:cubicBezTo>
                <a:lnTo>
                  <a:pt x="54415" y="104831"/>
                </a:lnTo>
                <a:cubicBezTo>
                  <a:pt x="50555" y="101854"/>
                  <a:pt x="47160" y="98413"/>
                  <a:pt x="44230" y="94599"/>
                </a:cubicBezTo>
                <a:lnTo>
                  <a:pt x="24696" y="95855"/>
                </a:lnTo>
                <a:cubicBezTo>
                  <a:pt x="18883" y="96227"/>
                  <a:pt x="13581" y="92413"/>
                  <a:pt x="12046" y="86785"/>
                </a:cubicBezTo>
                <a:lnTo>
                  <a:pt x="8790" y="74600"/>
                </a:lnTo>
                <a:cubicBezTo>
                  <a:pt x="7302" y="68973"/>
                  <a:pt x="9953" y="63019"/>
                  <a:pt x="15208" y="60415"/>
                </a:cubicBezTo>
                <a:lnTo>
                  <a:pt x="32742" y="51764"/>
                </a:lnTo>
                <a:cubicBezTo>
                  <a:pt x="33068" y="49392"/>
                  <a:pt x="33533" y="47067"/>
                  <a:pt x="34137" y="44695"/>
                </a:cubicBezTo>
                <a:cubicBezTo>
                  <a:pt x="34789" y="42323"/>
                  <a:pt x="35533" y="40044"/>
                  <a:pt x="36463" y="37858"/>
                </a:cubicBezTo>
                <a:lnTo>
                  <a:pt x="25626" y="21627"/>
                </a:lnTo>
                <a:cubicBezTo>
                  <a:pt x="22371" y="16743"/>
                  <a:pt x="23022" y="10278"/>
                  <a:pt x="27161" y="6139"/>
                </a:cubicBezTo>
                <a:lnTo>
                  <a:pt x="36091" y="-2791"/>
                </a:lnTo>
                <a:cubicBezTo>
                  <a:pt x="40230" y="-6930"/>
                  <a:pt x="46695" y="-7581"/>
                  <a:pt x="51578" y="-4325"/>
                </a:cubicBezTo>
                <a:lnTo>
                  <a:pt x="67856" y="6511"/>
                </a:lnTo>
                <a:cubicBezTo>
                  <a:pt x="72275" y="4697"/>
                  <a:pt x="76972" y="3395"/>
                  <a:pt x="81762" y="2744"/>
                </a:cubicBezTo>
                <a:lnTo>
                  <a:pt x="90413" y="-14743"/>
                </a:lnTo>
                <a:cubicBezTo>
                  <a:pt x="93018" y="-19999"/>
                  <a:pt x="98924" y="-22650"/>
                  <a:pt x="104598" y="-21161"/>
                </a:cubicBezTo>
                <a:close/>
                <a:moveTo>
                  <a:pt x="89483" y="39067"/>
                </a:moveTo>
                <a:cubicBezTo>
                  <a:pt x="78189" y="39067"/>
                  <a:pt x="69019" y="48237"/>
                  <a:pt x="69019" y="59531"/>
                </a:cubicBezTo>
                <a:cubicBezTo>
                  <a:pt x="69019" y="70826"/>
                  <a:pt x="78189" y="79995"/>
                  <a:pt x="89483" y="79995"/>
                </a:cubicBezTo>
                <a:cubicBezTo>
                  <a:pt x="100777" y="79995"/>
                  <a:pt x="109947" y="70826"/>
                  <a:pt x="109947" y="59531"/>
                </a:cubicBezTo>
                <a:cubicBezTo>
                  <a:pt x="109947" y="48237"/>
                  <a:pt x="100777" y="39067"/>
                  <a:pt x="89483" y="39067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4" name="Text 72"/>
          <p:cNvSpPr/>
          <p:nvPr/>
        </p:nvSpPr>
        <p:spPr>
          <a:xfrm>
            <a:off x="2949525" y="5976938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835426" y="5873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6" name="Shape 74"/>
          <p:cNvSpPr/>
          <p:nvPr/>
        </p:nvSpPr>
        <p:spPr>
          <a:xfrm>
            <a:off x="5176738" y="5548313"/>
            <a:ext cx="1841500" cy="746125"/>
          </a:xfrm>
          <a:custGeom>
            <a:avLst/>
            <a:gdLst/>
            <a:ahLst/>
            <a:cxnLst/>
            <a:rect l="l" t="t" r="r" b="b"/>
            <a:pathLst>
              <a:path w="1841500" h="746125">
                <a:moveTo>
                  <a:pt x="0" y="0"/>
                </a:moveTo>
                <a:lnTo>
                  <a:pt x="1841500" y="0"/>
                </a:lnTo>
                <a:lnTo>
                  <a:pt x="1841500" y="746125"/>
                </a:lnTo>
                <a:lnTo>
                  <a:pt x="0" y="7461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7" name="Shape 75"/>
          <p:cNvSpPr/>
          <p:nvPr/>
        </p:nvSpPr>
        <p:spPr>
          <a:xfrm>
            <a:off x="5978798" y="567531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55811" y="26045"/>
                </a:moveTo>
                <a:cubicBezTo>
                  <a:pt x="55811" y="11674"/>
                  <a:pt x="67484" y="0"/>
                  <a:pt x="81855" y="0"/>
                </a:cubicBezTo>
                <a:lnTo>
                  <a:pt x="93018" y="0"/>
                </a:lnTo>
                <a:cubicBezTo>
                  <a:pt x="101250" y="0"/>
                  <a:pt x="107900" y="6651"/>
                  <a:pt x="107900" y="14883"/>
                </a:cubicBezTo>
                <a:lnTo>
                  <a:pt x="107900" y="223242"/>
                </a:lnTo>
                <a:cubicBezTo>
                  <a:pt x="107900" y="231474"/>
                  <a:pt x="101250" y="238125"/>
                  <a:pt x="93018" y="238125"/>
                </a:cubicBezTo>
                <a:lnTo>
                  <a:pt x="78135" y="238125"/>
                </a:lnTo>
                <a:cubicBezTo>
                  <a:pt x="64275" y="238125"/>
                  <a:pt x="52601" y="228637"/>
                  <a:pt x="49299" y="215801"/>
                </a:cubicBezTo>
                <a:cubicBezTo>
                  <a:pt x="48974" y="215801"/>
                  <a:pt x="48695" y="215801"/>
                  <a:pt x="48369" y="215801"/>
                </a:cubicBezTo>
                <a:cubicBezTo>
                  <a:pt x="27812" y="215801"/>
                  <a:pt x="11162" y="199151"/>
                  <a:pt x="11162" y="178594"/>
                </a:cubicBezTo>
                <a:cubicBezTo>
                  <a:pt x="11162" y="170222"/>
                  <a:pt x="13953" y="162502"/>
                  <a:pt x="18604" y="156270"/>
                </a:cubicBezTo>
                <a:cubicBezTo>
                  <a:pt x="9581" y="149479"/>
                  <a:pt x="3721" y="138689"/>
                  <a:pt x="3721" y="126504"/>
                </a:cubicBezTo>
                <a:cubicBezTo>
                  <a:pt x="3721" y="112133"/>
                  <a:pt x="11906" y="99622"/>
                  <a:pt x="23813" y="93436"/>
                </a:cubicBezTo>
                <a:cubicBezTo>
                  <a:pt x="20510" y="87855"/>
                  <a:pt x="18604" y="81344"/>
                  <a:pt x="18604" y="74414"/>
                </a:cubicBezTo>
                <a:cubicBezTo>
                  <a:pt x="18604" y="53857"/>
                  <a:pt x="35254" y="37207"/>
                  <a:pt x="55811" y="37207"/>
                </a:cubicBezTo>
                <a:lnTo>
                  <a:pt x="55811" y="26045"/>
                </a:lnTo>
                <a:close/>
                <a:moveTo>
                  <a:pt x="182314" y="26045"/>
                </a:moveTo>
                <a:lnTo>
                  <a:pt x="182314" y="37207"/>
                </a:lnTo>
                <a:cubicBezTo>
                  <a:pt x="202871" y="37207"/>
                  <a:pt x="219521" y="53857"/>
                  <a:pt x="219521" y="74414"/>
                </a:cubicBezTo>
                <a:cubicBezTo>
                  <a:pt x="219521" y="81390"/>
                  <a:pt x="217615" y="87902"/>
                  <a:pt x="214313" y="93436"/>
                </a:cubicBezTo>
                <a:cubicBezTo>
                  <a:pt x="226265" y="99622"/>
                  <a:pt x="234404" y="112086"/>
                  <a:pt x="234404" y="126504"/>
                </a:cubicBezTo>
                <a:cubicBezTo>
                  <a:pt x="234404" y="138689"/>
                  <a:pt x="228544" y="149479"/>
                  <a:pt x="219521" y="156270"/>
                </a:cubicBezTo>
                <a:cubicBezTo>
                  <a:pt x="224172" y="162502"/>
                  <a:pt x="226963" y="170222"/>
                  <a:pt x="226963" y="178594"/>
                </a:cubicBezTo>
                <a:cubicBezTo>
                  <a:pt x="226963" y="199151"/>
                  <a:pt x="210313" y="215801"/>
                  <a:pt x="189756" y="215801"/>
                </a:cubicBezTo>
                <a:cubicBezTo>
                  <a:pt x="189430" y="215801"/>
                  <a:pt x="189151" y="215801"/>
                  <a:pt x="188826" y="215801"/>
                </a:cubicBezTo>
                <a:cubicBezTo>
                  <a:pt x="185524" y="228637"/>
                  <a:pt x="173850" y="238125"/>
                  <a:pt x="159990" y="238125"/>
                </a:cubicBezTo>
                <a:lnTo>
                  <a:pt x="145107" y="238125"/>
                </a:lnTo>
                <a:cubicBezTo>
                  <a:pt x="136875" y="238125"/>
                  <a:pt x="130225" y="231474"/>
                  <a:pt x="130225" y="223242"/>
                </a:cubicBezTo>
                <a:lnTo>
                  <a:pt x="130225" y="14883"/>
                </a:lnTo>
                <a:cubicBezTo>
                  <a:pt x="130225" y="6651"/>
                  <a:pt x="136875" y="0"/>
                  <a:pt x="145107" y="0"/>
                </a:cubicBezTo>
                <a:lnTo>
                  <a:pt x="156270" y="0"/>
                </a:lnTo>
                <a:cubicBezTo>
                  <a:pt x="170641" y="0"/>
                  <a:pt x="182314" y="11674"/>
                  <a:pt x="182314" y="2604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8" name="Text 76"/>
          <p:cNvSpPr/>
          <p:nvPr/>
        </p:nvSpPr>
        <p:spPr>
          <a:xfrm>
            <a:off x="5271988" y="5976938"/>
            <a:ext cx="165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 Model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7165826" y="5873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80" name="Shape 78"/>
          <p:cNvSpPr/>
          <p:nvPr/>
        </p:nvSpPr>
        <p:spPr>
          <a:xfrm>
            <a:off x="7511107" y="5544344"/>
            <a:ext cx="1833563" cy="754063"/>
          </a:xfrm>
          <a:custGeom>
            <a:avLst/>
            <a:gdLst/>
            <a:ahLst/>
            <a:cxnLst/>
            <a:rect l="l" t="t" r="r" b="b"/>
            <a:pathLst>
              <a:path w="1833563" h="754063">
                <a:moveTo>
                  <a:pt x="0" y="0"/>
                </a:moveTo>
                <a:lnTo>
                  <a:pt x="1833563" y="0"/>
                </a:lnTo>
                <a:lnTo>
                  <a:pt x="1833563" y="754063"/>
                </a:lnTo>
                <a:lnTo>
                  <a:pt x="0" y="75406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309198" y="567531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4883" y="14883"/>
                </a:moveTo>
                <a:cubicBezTo>
                  <a:pt x="23115" y="14883"/>
                  <a:pt x="29766" y="21534"/>
                  <a:pt x="29766" y="29766"/>
                </a:cubicBez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223242" y="193477"/>
                </a:lnTo>
                <a:cubicBezTo>
                  <a:pt x="231474" y="193477"/>
                  <a:pt x="238125" y="200127"/>
                  <a:pt x="238125" y="208359"/>
                </a:cubicBezTo>
                <a:cubicBezTo>
                  <a:pt x="238125" y="216591"/>
                  <a:pt x="231474" y="223242"/>
                  <a:pt x="223242" y="223242"/>
                </a:cubicBezTo>
                <a:lnTo>
                  <a:pt x="37207" y="223242"/>
                </a:lnTo>
                <a:cubicBezTo>
                  <a:pt x="16650" y="223242"/>
                  <a:pt x="0" y="206592"/>
                  <a:pt x="0" y="186035"/>
                </a:cubicBezTo>
                <a:lnTo>
                  <a:pt x="0" y="29766"/>
                </a:lnTo>
                <a:cubicBezTo>
                  <a:pt x="0" y="21534"/>
                  <a:pt x="6651" y="14883"/>
                  <a:pt x="14883" y="14883"/>
                </a:cubicBezTo>
                <a:close/>
                <a:moveTo>
                  <a:pt x="59531" y="44648"/>
                </a:moveTo>
                <a:cubicBezTo>
                  <a:pt x="59531" y="36416"/>
                  <a:pt x="66182" y="29766"/>
                  <a:pt x="74414" y="29766"/>
                </a:cubicBezTo>
                <a:lnTo>
                  <a:pt x="163711" y="29766"/>
                </a:lnTo>
                <a:cubicBezTo>
                  <a:pt x="171943" y="29766"/>
                  <a:pt x="178594" y="36416"/>
                  <a:pt x="178594" y="44648"/>
                </a:cubicBezTo>
                <a:cubicBezTo>
                  <a:pt x="178594" y="52880"/>
                  <a:pt x="171943" y="59531"/>
                  <a:pt x="163711" y="59531"/>
                </a:cubicBezTo>
                <a:lnTo>
                  <a:pt x="74414" y="59531"/>
                </a:lnTo>
                <a:cubicBezTo>
                  <a:pt x="66182" y="59531"/>
                  <a:pt x="59531" y="52880"/>
                  <a:pt x="59531" y="44648"/>
                </a:cubicBezTo>
                <a:close/>
                <a:moveTo>
                  <a:pt x="74414" y="81855"/>
                </a:moveTo>
                <a:lnTo>
                  <a:pt x="133945" y="81855"/>
                </a:lnTo>
                <a:cubicBezTo>
                  <a:pt x="142177" y="81855"/>
                  <a:pt x="148828" y="88506"/>
                  <a:pt x="148828" y="96738"/>
                </a:cubicBezTo>
                <a:cubicBezTo>
                  <a:pt x="148828" y="104970"/>
                  <a:pt x="142177" y="111621"/>
                  <a:pt x="133945" y="111621"/>
                </a:cubicBezTo>
                <a:lnTo>
                  <a:pt x="74414" y="111621"/>
                </a:lnTo>
                <a:cubicBezTo>
                  <a:pt x="66182" y="111621"/>
                  <a:pt x="59531" y="104970"/>
                  <a:pt x="59531" y="96738"/>
                </a:cubicBezTo>
                <a:cubicBezTo>
                  <a:pt x="59531" y="88506"/>
                  <a:pt x="66182" y="81855"/>
                  <a:pt x="74414" y="81855"/>
                </a:cubicBezTo>
                <a:close/>
                <a:moveTo>
                  <a:pt x="74414" y="133945"/>
                </a:moveTo>
                <a:lnTo>
                  <a:pt x="193477" y="133945"/>
                </a:lnTo>
                <a:cubicBezTo>
                  <a:pt x="201709" y="133945"/>
                  <a:pt x="208359" y="140596"/>
                  <a:pt x="208359" y="148828"/>
                </a:cubicBezTo>
                <a:cubicBezTo>
                  <a:pt x="208359" y="157060"/>
                  <a:pt x="201709" y="163711"/>
                  <a:pt x="193477" y="163711"/>
                </a:cubicBezTo>
                <a:lnTo>
                  <a:pt x="74414" y="163711"/>
                </a:lnTo>
                <a:cubicBezTo>
                  <a:pt x="66182" y="163711"/>
                  <a:pt x="59531" y="157060"/>
                  <a:pt x="59531" y="148828"/>
                </a:cubicBezTo>
                <a:cubicBezTo>
                  <a:pt x="59531" y="140596"/>
                  <a:pt x="66182" y="133945"/>
                  <a:pt x="74414" y="13394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82" name="Text 80"/>
          <p:cNvSpPr/>
          <p:nvPr/>
        </p:nvSpPr>
        <p:spPr>
          <a:xfrm>
            <a:off x="7610326" y="5976938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Logic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9496227" y="58737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84" name="Shape 82"/>
          <p:cNvSpPr/>
          <p:nvPr/>
        </p:nvSpPr>
        <p:spPr>
          <a:xfrm>
            <a:off x="9841508" y="5544344"/>
            <a:ext cx="1833563" cy="754063"/>
          </a:xfrm>
          <a:custGeom>
            <a:avLst/>
            <a:gdLst/>
            <a:ahLst/>
            <a:cxnLst/>
            <a:rect l="l" t="t" r="r" b="b"/>
            <a:pathLst>
              <a:path w="1833563" h="754063">
                <a:moveTo>
                  <a:pt x="0" y="0"/>
                </a:moveTo>
                <a:lnTo>
                  <a:pt x="1833563" y="0"/>
                </a:lnTo>
                <a:lnTo>
                  <a:pt x="1833563" y="754063"/>
                </a:lnTo>
                <a:lnTo>
                  <a:pt x="0" y="75406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639599" y="5675313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29766" y="14883"/>
                </a:moveTo>
                <a:cubicBezTo>
                  <a:pt x="13348" y="14883"/>
                  <a:pt x="0" y="28231"/>
                  <a:pt x="0" y="44648"/>
                </a:cubicBezTo>
                <a:lnTo>
                  <a:pt x="0" y="163711"/>
                </a:lnTo>
                <a:cubicBezTo>
                  <a:pt x="0" y="180129"/>
                  <a:pt x="13348" y="193477"/>
                  <a:pt x="29766" y="193477"/>
                </a:cubicBezTo>
                <a:lnTo>
                  <a:pt x="96738" y="193477"/>
                </a:lnTo>
                <a:lnTo>
                  <a:pt x="89297" y="215801"/>
                </a:lnTo>
                <a:lnTo>
                  <a:pt x="55811" y="215801"/>
                </a:lnTo>
                <a:cubicBezTo>
                  <a:pt x="49625" y="215801"/>
                  <a:pt x="44648" y="220777"/>
                  <a:pt x="44648" y="226963"/>
                </a:cubicBezTo>
                <a:cubicBezTo>
                  <a:pt x="44648" y="233149"/>
                  <a:pt x="49625" y="238125"/>
                  <a:pt x="55811" y="238125"/>
                </a:cubicBezTo>
                <a:lnTo>
                  <a:pt x="182314" y="238125"/>
                </a:lnTo>
                <a:cubicBezTo>
                  <a:pt x="188500" y="238125"/>
                  <a:pt x="193477" y="233149"/>
                  <a:pt x="193477" y="226963"/>
                </a:cubicBezTo>
                <a:cubicBezTo>
                  <a:pt x="193477" y="220777"/>
                  <a:pt x="188500" y="215801"/>
                  <a:pt x="182314" y="215801"/>
                </a:cubicBezTo>
                <a:lnTo>
                  <a:pt x="148828" y="215801"/>
                </a:lnTo>
                <a:lnTo>
                  <a:pt x="141387" y="193477"/>
                </a:lnTo>
                <a:lnTo>
                  <a:pt x="208359" y="193477"/>
                </a:lnTo>
                <a:cubicBezTo>
                  <a:pt x="224777" y="193477"/>
                  <a:pt x="238125" y="180129"/>
                  <a:pt x="238125" y="163711"/>
                </a:cubicBezTo>
                <a:lnTo>
                  <a:pt x="238125" y="44648"/>
                </a:lnTo>
                <a:cubicBezTo>
                  <a:pt x="238125" y="28231"/>
                  <a:pt x="224777" y="14883"/>
                  <a:pt x="208359" y="14883"/>
                </a:cubicBezTo>
                <a:lnTo>
                  <a:pt x="29766" y="14883"/>
                </a:lnTo>
                <a:close/>
                <a:moveTo>
                  <a:pt x="44648" y="44648"/>
                </a:moveTo>
                <a:lnTo>
                  <a:pt x="193477" y="44648"/>
                </a:lnTo>
                <a:cubicBezTo>
                  <a:pt x="201709" y="44648"/>
                  <a:pt x="208359" y="51299"/>
                  <a:pt x="208359" y="59531"/>
                </a:cubicBezTo>
                <a:lnTo>
                  <a:pt x="208359" y="133945"/>
                </a:lnTo>
                <a:cubicBezTo>
                  <a:pt x="208359" y="142177"/>
                  <a:pt x="201709" y="148828"/>
                  <a:pt x="193477" y="148828"/>
                </a:cubicBezTo>
                <a:lnTo>
                  <a:pt x="44648" y="148828"/>
                </a:lnTo>
                <a:cubicBezTo>
                  <a:pt x="36416" y="148828"/>
                  <a:pt x="29766" y="142177"/>
                  <a:pt x="29766" y="133945"/>
                </a:cubicBezTo>
                <a:lnTo>
                  <a:pt x="29766" y="59531"/>
                </a:lnTo>
                <a:cubicBezTo>
                  <a:pt x="29766" y="51299"/>
                  <a:pt x="36416" y="44648"/>
                  <a:pt x="44648" y="44648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86" name="Text 84"/>
          <p:cNvSpPr/>
          <p:nvPr/>
        </p:nvSpPr>
        <p:spPr>
          <a:xfrm>
            <a:off x="9940727" y="5976938"/>
            <a:ext cx="1635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ed5f87e7008d77d9adbafbf97be90e9b998d5f8f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31219" b="31219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0382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Text 2"/>
          <p:cNvSpPr/>
          <p:nvPr/>
        </p:nvSpPr>
        <p:spPr>
          <a:xfrm>
            <a:off x="471339" y="1209675"/>
            <a:ext cx="1019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0382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257425"/>
            <a:ext cx="11858625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Technical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00A9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Deep Dive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181475"/>
            <a:ext cx="74580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architecture, data processing, and implementation details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672138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0" name="Text 7"/>
          <p:cNvSpPr/>
          <p:nvPr/>
        </p:nvSpPr>
        <p:spPr>
          <a:xfrm>
            <a:off x="1905000" y="55530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Precision 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275" y="372275"/>
            <a:ext cx="11512598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spc="205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275" y="632867"/>
            <a:ext cx="11614974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38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Processing Pipeline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72275" y="1154052"/>
            <a:ext cx="893460" cy="27921"/>
          </a:xfrm>
          <a:custGeom>
            <a:avLst/>
            <a:gdLst/>
            <a:ahLst/>
            <a:cxnLst/>
            <a:rect l="l" t="t" r="r" b="b"/>
            <a:pathLst>
              <a:path w="893460" h="27921">
                <a:moveTo>
                  <a:pt x="0" y="0"/>
                </a:moveTo>
                <a:lnTo>
                  <a:pt x="893460" y="0"/>
                </a:lnTo>
                <a:lnTo>
                  <a:pt x="893460" y="27921"/>
                </a:lnTo>
                <a:lnTo>
                  <a:pt x="0" y="27921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76928" y="1335536"/>
            <a:ext cx="3657600" cy="2447707"/>
          </a:xfrm>
          <a:custGeom>
            <a:avLst/>
            <a:gdLst/>
            <a:ahLst/>
            <a:cxnLst/>
            <a:rect l="l" t="t" r="r" b="b"/>
            <a:pathLst>
              <a:path w="3657600" h="2447707">
                <a:moveTo>
                  <a:pt x="0" y="0"/>
                </a:moveTo>
                <a:lnTo>
                  <a:pt x="3657600" y="0"/>
                </a:lnTo>
                <a:lnTo>
                  <a:pt x="3657600" y="2447707"/>
                </a:lnTo>
                <a:lnTo>
                  <a:pt x="0" y="244770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7719" y="1526327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0" y="0"/>
                </a:moveTo>
                <a:lnTo>
                  <a:pt x="446730" y="0"/>
                </a:lnTo>
                <a:lnTo>
                  <a:pt x="446730" y="446730"/>
                </a:lnTo>
                <a:lnTo>
                  <a:pt x="0" y="44673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668931" y="1600782"/>
            <a:ext cx="353661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6131" y="1619395"/>
            <a:ext cx="1302962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Normalization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7719" y="2121966"/>
            <a:ext cx="3350473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features to a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0-1 range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using MinMaxScaler to ensure all sensor readings contribute equally to model training.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026" y="2996812"/>
            <a:ext cx="3266711" cy="595640"/>
          </a:xfrm>
          <a:custGeom>
            <a:avLst/>
            <a:gdLst/>
            <a:ahLst/>
            <a:cxnLst/>
            <a:rect l="l" t="t" r="r" b="b"/>
            <a:pathLst>
              <a:path w="3266711" h="595640">
                <a:moveTo>
                  <a:pt x="0" y="0"/>
                </a:moveTo>
                <a:lnTo>
                  <a:pt x="3266711" y="0"/>
                </a:lnTo>
                <a:lnTo>
                  <a:pt x="3266711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77026" y="2996812"/>
            <a:ext cx="18614" cy="595640"/>
          </a:xfrm>
          <a:custGeom>
            <a:avLst/>
            <a:gdLst/>
            <a:ahLst/>
            <a:cxnLst/>
            <a:rect l="l" t="t" r="r" b="b"/>
            <a:pathLst>
              <a:path w="18614" h="595640">
                <a:moveTo>
                  <a:pt x="0" y="0"/>
                </a:moveTo>
                <a:lnTo>
                  <a:pt x="18614" y="0"/>
                </a:lnTo>
                <a:lnTo>
                  <a:pt x="18614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698015" y="3108495"/>
            <a:ext cx="3099188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Why:</a:t>
            </a:r>
            <a:pPr>
              <a:lnSpc>
                <a:spcPct val="120000"/>
              </a:lnSpc>
            </a:pPr>
            <a:r>
              <a:rPr lang="en-US" sz="102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Prevents features with larger magnitudes from dominating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67782" y="1335536"/>
            <a:ext cx="3657600" cy="2447707"/>
          </a:xfrm>
          <a:custGeom>
            <a:avLst/>
            <a:gdLst/>
            <a:ahLst/>
            <a:cxnLst/>
            <a:rect l="l" t="t" r="r" b="b"/>
            <a:pathLst>
              <a:path w="3657600" h="2447707">
                <a:moveTo>
                  <a:pt x="0" y="0"/>
                </a:moveTo>
                <a:lnTo>
                  <a:pt x="3657600" y="0"/>
                </a:lnTo>
                <a:lnTo>
                  <a:pt x="3657600" y="2447707"/>
                </a:lnTo>
                <a:lnTo>
                  <a:pt x="0" y="244770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58573" y="1526327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0" y="0"/>
                </a:moveTo>
                <a:lnTo>
                  <a:pt x="446730" y="0"/>
                </a:lnTo>
                <a:lnTo>
                  <a:pt x="446730" y="446730"/>
                </a:lnTo>
                <a:lnTo>
                  <a:pt x="0" y="44673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5" name="Text 13"/>
          <p:cNvSpPr/>
          <p:nvPr/>
        </p:nvSpPr>
        <p:spPr>
          <a:xfrm>
            <a:off x="4541171" y="1600782"/>
            <a:ext cx="390889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16985" y="1619395"/>
            <a:ext cx="1945136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Generation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58573" y="2121966"/>
            <a:ext cx="3350473" cy="4839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sliding time-windows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30 cycles to feed into the LSTM, capturing temporal patterns.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67879" y="2754834"/>
            <a:ext cx="3266711" cy="595640"/>
          </a:xfrm>
          <a:custGeom>
            <a:avLst/>
            <a:gdLst/>
            <a:ahLst/>
            <a:cxnLst/>
            <a:rect l="l" t="t" r="r" b="b"/>
            <a:pathLst>
              <a:path w="3266711" h="595640">
                <a:moveTo>
                  <a:pt x="0" y="0"/>
                </a:moveTo>
                <a:lnTo>
                  <a:pt x="3266711" y="0"/>
                </a:lnTo>
                <a:lnTo>
                  <a:pt x="3266711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467879" y="2754834"/>
            <a:ext cx="18614" cy="595640"/>
          </a:xfrm>
          <a:custGeom>
            <a:avLst/>
            <a:gdLst/>
            <a:ahLst/>
            <a:cxnLst/>
            <a:rect l="l" t="t" r="r" b="b"/>
            <a:pathLst>
              <a:path w="18614" h="595640">
                <a:moveTo>
                  <a:pt x="0" y="0"/>
                </a:moveTo>
                <a:lnTo>
                  <a:pt x="18614" y="0"/>
                </a:lnTo>
                <a:lnTo>
                  <a:pt x="18614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0" name="Text 18"/>
          <p:cNvSpPr/>
          <p:nvPr/>
        </p:nvSpPr>
        <p:spPr>
          <a:xfrm>
            <a:off x="4588869" y="2866516"/>
            <a:ext cx="3099188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Why:</a:t>
            </a:r>
            <a:pPr>
              <a:lnSpc>
                <a:spcPct val="120000"/>
              </a:lnSpc>
            </a:pPr>
            <a:r>
              <a:rPr lang="en-US" sz="102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LSTMs need sequential context to learn degradation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58781" y="1335536"/>
            <a:ext cx="3657600" cy="2447707"/>
          </a:xfrm>
          <a:custGeom>
            <a:avLst/>
            <a:gdLst/>
            <a:ahLst/>
            <a:cxnLst/>
            <a:rect l="l" t="t" r="r" b="b"/>
            <a:pathLst>
              <a:path w="3657600" h="2447707">
                <a:moveTo>
                  <a:pt x="0" y="0"/>
                </a:moveTo>
                <a:lnTo>
                  <a:pt x="3657600" y="0"/>
                </a:lnTo>
                <a:lnTo>
                  <a:pt x="3657600" y="2447707"/>
                </a:lnTo>
                <a:lnTo>
                  <a:pt x="0" y="244770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49571" y="1526327"/>
            <a:ext cx="446730" cy="446730"/>
          </a:xfrm>
          <a:custGeom>
            <a:avLst/>
            <a:gdLst/>
            <a:ahLst/>
            <a:cxnLst/>
            <a:rect l="l" t="t" r="r" b="b"/>
            <a:pathLst>
              <a:path w="446730" h="446730">
                <a:moveTo>
                  <a:pt x="0" y="0"/>
                </a:moveTo>
                <a:lnTo>
                  <a:pt x="446730" y="0"/>
                </a:lnTo>
                <a:lnTo>
                  <a:pt x="446730" y="446730"/>
                </a:lnTo>
                <a:lnTo>
                  <a:pt x="0" y="44673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3" name="Text 21"/>
          <p:cNvSpPr/>
          <p:nvPr/>
        </p:nvSpPr>
        <p:spPr>
          <a:xfrm>
            <a:off x="8429552" y="1600782"/>
            <a:ext cx="400195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59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07984" y="1619395"/>
            <a:ext cx="1247121" cy="26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 Labeling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49571" y="2121966"/>
            <a:ext cx="3350473" cy="725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data labeled with </a:t>
            </a:r>
            <a:pPr>
              <a:lnSpc>
                <a:spcPct val="140000"/>
              </a:lnSpc>
            </a:pPr>
            <a:r>
              <a:rPr lang="en-US" sz="117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piece-wise linear RUL</a:t>
            </a:r>
            <a:pPr>
              <a:lnSpc>
                <a:spcPct val="14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targets, capped at MAX_RUL to improve learning stability.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58878" y="2996812"/>
            <a:ext cx="3266711" cy="595640"/>
          </a:xfrm>
          <a:custGeom>
            <a:avLst/>
            <a:gdLst/>
            <a:ahLst/>
            <a:cxnLst/>
            <a:rect l="l" t="t" r="r" b="b"/>
            <a:pathLst>
              <a:path w="3266711" h="595640">
                <a:moveTo>
                  <a:pt x="0" y="0"/>
                </a:moveTo>
                <a:lnTo>
                  <a:pt x="3266711" y="0"/>
                </a:lnTo>
                <a:lnTo>
                  <a:pt x="3266711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358878" y="2996812"/>
            <a:ext cx="18614" cy="595640"/>
          </a:xfrm>
          <a:custGeom>
            <a:avLst/>
            <a:gdLst/>
            <a:ahLst/>
            <a:cxnLst/>
            <a:rect l="l" t="t" r="r" b="b"/>
            <a:pathLst>
              <a:path w="18614" h="595640">
                <a:moveTo>
                  <a:pt x="0" y="0"/>
                </a:moveTo>
                <a:lnTo>
                  <a:pt x="18614" y="0"/>
                </a:lnTo>
                <a:lnTo>
                  <a:pt x="18614" y="595640"/>
                </a:lnTo>
                <a:lnTo>
                  <a:pt x="0" y="59564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8" name="Text 26"/>
          <p:cNvSpPr/>
          <p:nvPr/>
        </p:nvSpPr>
        <p:spPr>
          <a:xfrm>
            <a:off x="8479868" y="3108495"/>
            <a:ext cx="3099188" cy="372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Why:</a:t>
            </a:r>
            <a:pPr>
              <a:lnSpc>
                <a:spcPct val="120000"/>
              </a:lnSpc>
            </a:pPr>
            <a:r>
              <a:rPr lang="en-US" sz="102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Prevents model from predicting unrealistic RUL values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6928" y="3941460"/>
            <a:ext cx="11438144" cy="2540776"/>
          </a:xfrm>
          <a:custGeom>
            <a:avLst/>
            <a:gdLst/>
            <a:ahLst/>
            <a:cxnLst/>
            <a:rect l="l" t="t" r="r" b="b"/>
            <a:pathLst>
              <a:path w="11438144" h="2540776">
                <a:moveTo>
                  <a:pt x="0" y="0"/>
                </a:moveTo>
                <a:lnTo>
                  <a:pt x="11438144" y="0"/>
                </a:lnTo>
                <a:lnTo>
                  <a:pt x="11438144" y="2540776"/>
                </a:lnTo>
                <a:lnTo>
                  <a:pt x="0" y="254077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79997" y="4160171"/>
            <a:ext cx="223365" cy="223365"/>
          </a:xfrm>
          <a:custGeom>
            <a:avLst/>
            <a:gdLst/>
            <a:ahLst/>
            <a:cxnLst/>
            <a:rect l="l" t="t" r="r" b="b"/>
            <a:pathLst>
              <a:path w="223365" h="223365">
                <a:moveTo>
                  <a:pt x="76782" y="10470"/>
                </a:moveTo>
                <a:cubicBezTo>
                  <a:pt x="76782" y="4668"/>
                  <a:pt x="72114" y="0"/>
                  <a:pt x="66311" y="0"/>
                </a:cubicBezTo>
                <a:cubicBezTo>
                  <a:pt x="60509" y="0"/>
                  <a:pt x="55841" y="4668"/>
                  <a:pt x="55841" y="10470"/>
                </a:cubicBezTo>
                <a:lnTo>
                  <a:pt x="55841" y="27921"/>
                </a:lnTo>
                <a:cubicBezTo>
                  <a:pt x="40441" y="27921"/>
                  <a:pt x="27921" y="40441"/>
                  <a:pt x="27921" y="55841"/>
                </a:cubicBezTo>
                <a:lnTo>
                  <a:pt x="10470" y="55841"/>
                </a:lnTo>
                <a:cubicBezTo>
                  <a:pt x="4668" y="55841"/>
                  <a:pt x="0" y="60509"/>
                  <a:pt x="0" y="66311"/>
                </a:cubicBezTo>
                <a:cubicBezTo>
                  <a:pt x="0" y="72114"/>
                  <a:pt x="4668" y="76782"/>
                  <a:pt x="10470" y="76782"/>
                </a:cubicBezTo>
                <a:lnTo>
                  <a:pt x="27921" y="76782"/>
                </a:lnTo>
                <a:lnTo>
                  <a:pt x="27921" y="101212"/>
                </a:lnTo>
                <a:lnTo>
                  <a:pt x="10470" y="101212"/>
                </a:lnTo>
                <a:cubicBezTo>
                  <a:pt x="4668" y="101212"/>
                  <a:pt x="0" y="105880"/>
                  <a:pt x="0" y="111682"/>
                </a:cubicBezTo>
                <a:cubicBezTo>
                  <a:pt x="0" y="117485"/>
                  <a:pt x="4668" y="122153"/>
                  <a:pt x="10470" y="122153"/>
                </a:cubicBezTo>
                <a:lnTo>
                  <a:pt x="27921" y="122153"/>
                </a:lnTo>
                <a:lnTo>
                  <a:pt x="27921" y="146583"/>
                </a:lnTo>
                <a:lnTo>
                  <a:pt x="10470" y="146583"/>
                </a:lnTo>
                <a:cubicBezTo>
                  <a:pt x="4668" y="146583"/>
                  <a:pt x="0" y="151251"/>
                  <a:pt x="0" y="157053"/>
                </a:cubicBezTo>
                <a:cubicBezTo>
                  <a:pt x="0" y="162856"/>
                  <a:pt x="4668" y="167524"/>
                  <a:pt x="10470" y="167524"/>
                </a:cubicBezTo>
                <a:lnTo>
                  <a:pt x="27921" y="167524"/>
                </a:lnTo>
                <a:cubicBezTo>
                  <a:pt x="27921" y="182924"/>
                  <a:pt x="40441" y="195444"/>
                  <a:pt x="55841" y="195444"/>
                </a:cubicBezTo>
                <a:lnTo>
                  <a:pt x="55841" y="212895"/>
                </a:lnTo>
                <a:cubicBezTo>
                  <a:pt x="55841" y="218697"/>
                  <a:pt x="60509" y="223365"/>
                  <a:pt x="66311" y="223365"/>
                </a:cubicBezTo>
                <a:cubicBezTo>
                  <a:pt x="72114" y="223365"/>
                  <a:pt x="76782" y="218697"/>
                  <a:pt x="76782" y="212895"/>
                </a:cubicBezTo>
                <a:lnTo>
                  <a:pt x="76782" y="195444"/>
                </a:lnTo>
                <a:lnTo>
                  <a:pt x="101212" y="195444"/>
                </a:lnTo>
                <a:lnTo>
                  <a:pt x="101212" y="212895"/>
                </a:lnTo>
                <a:cubicBezTo>
                  <a:pt x="101212" y="218697"/>
                  <a:pt x="105880" y="223365"/>
                  <a:pt x="111682" y="223365"/>
                </a:cubicBezTo>
                <a:cubicBezTo>
                  <a:pt x="117485" y="223365"/>
                  <a:pt x="122153" y="218697"/>
                  <a:pt x="122153" y="212895"/>
                </a:cubicBezTo>
                <a:lnTo>
                  <a:pt x="122153" y="195444"/>
                </a:lnTo>
                <a:lnTo>
                  <a:pt x="146583" y="195444"/>
                </a:lnTo>
                <a:lnTo>
                  <a:pt x="146583" y="212895"/>
                </a:lnTo>
                <a:cubicBezTo>
                  <a:pt x="146583" y="218697"/>
                  <a:pt x="151251" y="223365"/>
                  <a:pt x="157053" y="223365"/>
                </a:cubicBezTo>
                <a:cubicBezTo>
                  <a:pt x="162856" y="223365"/>
                  <a:pt x="167524" y="218697"/>
                  <a:pt x="167524" y="212895"/>
                </a:cubicBezTo>
                <a:lnTo>
                  <a:pt x="167524" y="195444"/>
                </a:lnTo>
                <a:cubicBezTo>
                  <a:pt x="182924" y="195444"/>
                  <a:pt x="195444" y="182924"/>
                  <a:pt x="195444" y="167524"/>
                </a:cubicBezTo>
                <a:lnTo>
                  <a:pt x="212895" y="167524"/>
                </a:lnTo>
                <a:cubicBezTo>
                  <a:pt x="218697" y="167524"/>
                  <a:pt x="223365" y="162856"/>
                  <a:pt x="223365" y="157053"/>
                </a:cubicBezTo>
                <a:cubicBezTo>
                  <a:pt x="223365" y="151251"/>
                  <a:pt x="218697" y="146583"/>
                  <a:pt x="212895" y="146583"/>
                </a:cubicBezTo>
                <a:lnTo>
                  <a:pt x="195444" y="146583"/>
                </a:lnTo>
                <a:lnTo>
                  <a:pt x="195444" y="122153"/>
                </a:lnTo>
                <a:lnTo>
                  <a:pt x="212895" y="122153"/>
                </a:lnTo>
                <a:cubicBezTo>
                  <a:pt x="218697" y="122153"/>
                  <a:pt x="223365" y="117485"/>
                  <a:pt x="223365" y="111682"/>
                </a:cubicBezTo>
                <a:cubicBezTo>
                  <a:pt x="223365" y="105880"/>
                  <a:pt x="218697" y="101212"/>
                  <a:pt x="212895" y="101212"/>
                </a:cubicBezTo>
                <a:lnTo>
                  <a:pt x="195444" y="101212"/>
                </a:lnTo>
                <a:lnTo>
                  <a:pt x="195444" y="76782"/>
                </a:lnTo>
                <a:lnTo>
                  <a:pt x="212895" y="76782"/>
                </a:lnTo>
                <a:cubicBezTo>
                  <a:pt x="218697" y="76782"/>
                  <a:pt x="223365" y="72114"/>
                  <a:pt x="223365" y="66311"/>
                </a:cubicBezTo>
                <a:cubicBezTo>
                  <a:pt x="223365" y="60509"/>
                  <a:pt x="218697" y="55841"/>
                  <a:pt x="212895" y="55841"/>
                </a:cubicBezTo>
                <a:lnTo>
                  <a:pt x="195444" y="55841"/>
                </a:lnTo>
                <a:cubicBezTo>
                  <a:pt x="195444" y="40441"/>
                  <a:pt x="182924" y="27921"/>
                  <a:pt x="167524" y="27921"/>
                </a:cubicBezTo>
                <a:lnTo>
                  <a:pt x="167524" y="10470"/>
                </a:lnTo>
                <a:cubicBezTo>
                  <a:pt x="167524" y="4668"/>
                  <a:pt x="162856" y="0"/>
                  <a:pt x="157053" y="0"/>
                </a:cubicBezTo>
                <a:cubicBezTo>
                  <a:pt x="151251" y="0"/>
                  <a:pt x="146583" y="4668"/>
                  <a:pt x="146583" y="10470"/>
                </a:cubicBezTo>
                <a:lnTo>
                  <a:pt x="146583" y="27921"/>
                </a:lnTo>
                <a:lnTo>
                  <a:pt x="122153" y="27921"/>
                </a:lnTo>
                <a:lnTo>
                  <a:pt x="122153" y="10470"/>
                </a:lnTo>
                <a:cubicBezTo>
                  <a:pt x="122153" y="4668"/>
                  <a:pt x="117485" y="0"/>
                  <a:pt x="111682" y="0"/>
                </a:cubicBezTo>
                <a:cubicBezTo>
                  <a:pt x="105880" y="0"/>
                  <a:pt x="101212" y="4668"/>
                  <a:pt x="101212" y="10470"/>
                </a:cubicBezTo>
                <a:lnTo>
                  <a:pt x="101212" y="27921"/>
                </a:lnTo>
                <a:lnTo>
                  <a:pt x="76782" y="27921"/>
                </a:lnTo>
                <a:lnTo>
                  <a:pt x="76782" y="10470"/>
                </a:lnTo>
                <a:close/>
                <a:moveTo>
                  <a:pt x="69802" y="55841"/>
                </a:moveTo>
                <a:lnTo>
                  <a:pt x="153563" y="55841"/>
                </a:lnTo>
                <a:cubicBezTo>
                  <a:pt x="161285" y="55841"/>
                  <a:pt x="167524" y="62080"/>
                  <a:pt x="167524" y="69802"/>
                </a:cubicBezTo>
                <a:lnTo>
                  <a:pt x="167524" y="153563"/>
                </a:lnTo>
                <a:cubicBezTo>
                  <a:pt x="167524" y="161285"/>
                  <a:pt x="161285" y="167524"/>
                  <a:pt x="153563" y="167524"/>
                </a:cubicBezTo>
                <a:lnTo>
                  <a:pt x="69802" y="167524"/>
                </a:lnTo>
                <a:cubicBezTo>
                  <a:pt x="62080" y="167524"/>
                  <a:pt x="55841" y="161285"/>
                  <a:pt x="55841" y="153563"/>
                </a:cubicBezTo>
                <a:lnTo>
                  <a:pt x="55841" y="69802"/>
                </a:lnTo>
                <a:cubicBezTo>
                  <a:pt x="55841" y="62080"/>
                  <a:pt x="62080" y="55841"/>
                  <a:pt x="69802" y="55841"/>
                </a:cubicBezTo>
                <a:close/>
                <a:moveTo>
                  <a:pt x="76782" y="76782"/>
                </a:moveTo>
                <a:lnTo>
                  <a:pt x="76782" y="146583"/>
                </a:lnTo>
                <a:lnTo>
                  <a:pt x="146583" y="146583"/>
                </a:lnTo>
                <a:lnTo>
                  <a:pt x="146583" y="76782"/>
                </a:lnTo>
                <a:lnTo>
                  <a:pt x="76782" y="76782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872928" y="4132250"/>
            <a:ext cx="10807195" cy="297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Suite: 21 Measurements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67719" y="4578980"/>
            <a:ext cx="3583145" cy="781777"/>
          </a:xfrm>
          <a:custGeom>
            <a:avLst/>
            <a:gdLst/>
            <a:ahLst/>
            <a:cxnLst/>
            <a:rect l="l" t="t" r="r" b="b"/>
            <a:pathLst>
              <a:path w="3583145" h="781777">
                <a:moveTo>
                  <a:pt x="0" y="0"/>
                </a:moveTo>
                <a:lnTo>
                  <a:pt x="3583145" y="0"/>
                </a:lnTo>
                <a:lnTo>
                  <a:pt x="3583145" y="781777"/>
                </a:lnTo>
                <a:lnTo>
                  <a:pt x="0" y="78177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16629" y="4727890"/>
            <a:ext cx="3350473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6629" y="4988482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Fan inlet, LPC outlet, HPC outlet, LPT outlet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03555" y="4578980"/>
            <a:ext cx="3583145" cy="781777"/>
          </a:xfrm>
          <a:custGeom>
            <a:avLst/>
            <a:gdLst/>
            <a:ahLst/>
            <a:cxnLst/>
            <a:rect l="l" t="t" r="r" b="b"/>
            <a:pathLst>
              <a:path w="3583145" h="781777">
                <a:moveTo>
                  <a:pt x="0" y="0"/>
                </a:moveTo>
                <a:lnTo>
                  <a:pt x="3583145" y="0"/>
                </a:lnTo>
                <a:lnTo>
                  <a:pt x="3583145" y="781777"/>
                </a:lnTo>
                <a:lnTo>
                  <a:pt x="0" y="78177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452465" y="4727890"/>
            <a:ext cx="3350473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Pressure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52465" y="4988482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HPC outlet, Fan inlet, Bypass-duct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39391" y="4578980"/>
            <a:ext cx="3583145" cy="781777"/>
          </a:xfrm>
          <a:custGeom>
            <a:avLst/>
            <a:gdLst/>
            <a:ahLst/>
            <a:cxnLst/>
            <a:rect l="l" t="t" r="r" b="b"/>
            <a:pathLst>
              <a:path w="3583145" h="781777">
                <a:moveTo>
                  <a:pt x="0" y="0"/>
                </a:moveTo>
                <a:lnTo>
                  <a:pt x="3583145" y="0"/>
                </a:lnTo>
                <a:lnTo>
                  <a:pt x="3583145" y="781777"/>
                </a:lnTo>
                <a:lnTo>
                  <a:pt x="0" y="78177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188301" y="4727890"/>
            <a:ext cx="3350473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188301" y="4988482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Fan, Core, HPC speed (Physical &amp; corrected)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7719" y="5509667"/>
            <a:ext cx="3583145" cy="781777"/>
          </a:xfrm>
          <a:custGeom>
            <a:avLst/>
            <a:gdLst/>
            <a:ahLst/>
            <a:cxnLst/>
            <a:rect l="l" t="t" r="r" b="b"/>
            <a:pathLst>
              <a:path w="3583145" h="781777">
                <a:moveTo>
                  <a:pt x="0" y="0"/>
                </a:moveTo>
                <a:lnTo>
                  <a:pt x="3583145" y="0"/>
                </a:lnTo>
                <a:lnTo>
                  <a:pt x="3583145" y="781777"/>
                </a:lnTo>
                <a:lnTo>
                  <a:pt x="0" y="78177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716629" y="5658577"/>
            <a:ext cx="3350473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Flow &amp; Ratio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16629" y="5919169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HPC bleed airflow, Bypass ratio, Fuel ratio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303555" y="5509667"/>
            <a:ext cx="3583145" cy="781777"/>
          </a:xfrm>
          <a:custGeom>
            <a:avLst/>
            <a:gdLst/>
            <a:ahLst/>
            <a:cxnLst/>
            <a:rect l="l" t="t" r="r" b="b"/>
            <a:pathLst>
              <a:path w="3583145" h="781777">
                <a:moveTo>
                  <a:pt x="0" y="0"/>
                </a:moveTo>
                <a:lnTo>
                  <a:pt x="3583145" y="0"/>
                </a:lnTo>
                <a:lnTo>
                  <a:pt x="3583145" y="781777"/>
                </a:lnTo>
                <a:lnTo>
                  <a:pt x="0" y="78177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4452465" y="5658577"/>
            <a:ext cx="3350473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452465" y="5919169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Burner fuel-air ratio, Exhaust gas temp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039391" y="5509667"/>
            <a:ext cx="3583145" cy="781777"/>
          </a:xfrm>
          <a:custGeom>
            <a:avLst/>
            <a:gdLst/>
            <a:ahLst/>
            <a:cxnLst/>
            <a:rect l="l" t="t" r="r" b="b"/>
            <a:pathLst>
              <a:path w="3583145" h="781777">
                <a:moveTo>
                  <a:pt x="0" y="0"/>
                </a:moveTo>
                <a:lnTo>
                  <a:pt x="3583145" y="0"/>
                </a:lnTo>
                <a:lnTo>
                  <a:pt x="3583145" y="781777"/>
                </a:lnTo>
                <a:lnTo>
                  <a:pt x="0" y="781777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8188301" y="5658577"/>
            <a:ext cx="3350473" cy="186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188301" y="5919169"/>
            <a:ext cx="3359780" cy="2233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Flight altitude, Mach number, Throttle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38" y="339138"/>
            <a:ext cx="11573074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spc="187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138" y="576534"/>
            <a:ext cx="11666337" cy="339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3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LSTM Model Architecture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9138" y="1051327"/>
            <a:ext cx="813930" cy="25435"/>
          </a:xfrm>
          <a:custGeom>
            <a:avLst/>
            <a:gdLst/>
            <a:ahLst/>
            <a:cxnLst/>
            <a:rect l="l" t="t" r="r" b="b"/>
            <a:pathLst>
              <a:path w="813930" h="25435">
                <a:moveTo>
                  <a:pt x="0" y="0"/>
                </a:moveTo>
                <a:lnTo>
                  <a:pt x="813930" y="0"/>
                </a:lnTo>
                <a:lnTo>
                  <a:pt x="813930" y="25435"/>
                </a:lnTo>
                <a:lnTo>
                  <a:pt x="0" y="2543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43377" y="1216656"/>
            <a:ext cx="5680556" cy="3806821"/>
          </a:xfrm>
          <a:custGeom>
            <a:avLst/>
            <a:gdLst/>
            <a:ahLst/>
            <a:cxnLst/>
            <a:rect l="l" t="t" r="r" b="b"/>
            <a:pathLst>
              <a:path w="5680556" h="3806821">
                <a:moveTo>
                  <a:pt x="0" y="0"/>
                </a:moveTo>
                <a:lnTo>
                  <a:pt x="5680556" y="0"/>
                </a:lnTo>
                <a:lnTo>
                  <a:pt x="5680556" y="3806821"/>
                </a:lnTo>
                <a:lnTo>
                  <a:pt x="0" y="3806821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620" y="1415900"/>
            <a:ext cx="203483" cy="203483"/>
          </a:xfrm>
          <a:custGeom>
            <a:avLst/>
            <a:gdLst/>
            <a:ahLst/>
            <a:cxnLst/>
            <a:rect l="l" t="t" r="r" b="b"/>
            <a:pathLst>
              <a:path w="203483" h="203483">
                <a:moveTo>
                  <a:pt x="92402" y="2067"/>
                </a:moveTo>
                <a:cubicBezTo>
                  <a:pt x="98323" y="-676"/>
                  <a:pt x="105159" y="-676"/>
                  <a:pt x="111081" y="2067"/>
                </a:cubicBezTo>
                <a:lnTo>
                  <a:pt x="197958" y="42207"/>
                </a:lnTo>
                <a:cubicBezTo>
                  <a:pt x="201337" y="43757"/>
                  <a:pt x="203483" y="47135"/>
                  <a:pt x="203483" y="50871"/>
                </a:cubicBezTo>
                <a:cubicBezTo>
                  <a:pt x="203483" y="54606"/>
                  <a:pt x="201337" y="57985"/>
                  <a:pt x="197958" y="59535"/>
                </a:cubicBezTo>
                <a:lnTo>
                  <a:pt x="111081" y="99675"/>
                </a:lnTo>
                <a:cubicBezTo>
                  <a:pt x="105159" y="102417"/>
                  <a:pt x="98323" y="102417"/>
                  <a:pt x="92402" y="99675"/>
                </a:cubicBezTo>
                <a:lnTo>
                  <a:pt x="5524" y="59535"/>
                </a:lnTo>
                <a:cubicBezTo>
                  <a:pt x="2146" y="57945"/>
                  <a:pt x="0" y="54567"/>
                  <a:pt x="0" y="50871"/>
                </a:cubicBezTo>
                <a:cubicBezTo>
                  <a:pt x="0" y="47175"/>
                  <a:pt x="2146" y="43757"/>
                  <a:pt x="5524" y="42207"/>
                </a:cubicBezTo>
                <a:lnTo>
                  <a:pt x="92402" y="2067"/>
                </a:lnTo>
                <a:close/>
                <a:moveTo>
                  <a:pt x="19116" y="86798"/>
                </a:moveTo>
                <a:lnTo>
                  <a:pt x="84413" y="116963"/>
                </a:lnTo>
                <a:cubicBezTo>
                  <a:pt x="95422" y="122050"/>
                  <a:pt x="108100" y="122050"/>
                  <a:pt x="119109" y="116963"/>
                </a:cubicBezTo>
                <a:lnTo>
                  <a:pt x="184406" y="86798"/>
                </a:lnTo>
                <a:lnTo>
                  <a:pt x="197958" y="93077"/>
                </a:lnTo>
                <a:cubicBezTo>
                  <a:pt x="201337" y="94627"/>
                  <a:pt x="203483" y="98005"/>
                  <a:pt x="203483" y="101741"/>
                </a:cubicBezTo>
                <a:cubicBezTo>
                  <a:pt x="203483" y="105477"/>
                  <a:pt x="201337" y="108855"/>
                  <a:pt x="197958" y="110405"/>
                </a:cubicBezTo>
                <a:lnTo>
                  <a:pt x="111081" y="150545"/>
                </a:lnTo>
                <a:cubicBezTo>
                  <a:pt x="105159" y="153288"/>
                  <a:pt x="98323" y="153288"/>
                  <a:pt x="92402" y="150545"/>
                </a:cubicBezTo>
                <a:lnTo>
                  <a:pt x="5524" y="110405"/>
                </a:lnTo>
                <a:cubicBezTo>
                  <a:pt x="2146" y="108816"/>
                  <a:pt x="0" y="105437"/>
                  <a:pt x="0" y="101741"/>
                </a:cubicBezTo>
                <a:cubicBezTo>
                  <a:pt x="0" y="98045"/>
                  <a:pt x="2146" y="94627"/>
                  <a:pt x="5524" y="93077"/>
                </a:cubicBezTo>
                <a:lnTo>
                  <a:pt x="19076" y="86798"/>
                </a:lnTo>
                <a:close/>
                <a:moveTo>
                  <a:pt x="5524" y="143948"/>
                </a:moveTo>
                <a:lnTo>
                  <a:pt x="19076" y="137669"/>
                </a:lnTo>
                <a:lnTo>
                  <a:pt x="84374" y="167833"/>
                </a:lnTo>
                <a:cubicBezTo>
                  <a:pt x="95382" y="172920"/>
                  <a:pt x="108060" y="172920"/>
                  <a:pt x="119069" y="167833"/>
                </a:cubicBezTo>
                <a:lnTo>
                  <a:pt x="184366" y="137669"/>
                </a:lnTo>
                <a:lnTo>
                  <a:pt x="197919" y="143948"/>
                </a:lnTo>
                <a:cubicBezTo>
                  <a:pt x="201297" y="145498"/>
                  <a:pt x="203443" y="148876"/>
                  <a:pt x="203443" y="152612"/>
                </a:cubicBezTo>
                <a:cubicBezTo>
                  <a:pt x="203443" y="156348"/>
                  <a:pt x="201297" y="159726"/>
                  <a:pt x="197919" y="161276"/>
                </a:cubicBezTo>
                <a:lnTo>
                  <a:pt x="111041" y="201416"/>
                </a:lnTo>
                <a:cubicBezTo>
                  <a:pt x="105119" y="204158"/>
                  <a:pt x="98284" y="204158"/>
                  <a:pt x="92362" y="201416"/>
                </a:cubicBezTo>
                <a:lnTo>
                  <a:pt x="5524" y="161276"/>
                </a:lnTo>
                <a:cubicBezTo>
                  <a:pt x="2146" y="159686"/>
                  <a:pt x="0" y="156308"/>
                  <a:pt x="0" y="152612"/>
                </a:cubicBezTo>
                <a:cubicBezTo>
                  <a:pt x="0" y="148916"/>
                  <a:pt x="2146" y="145498"/>
                  <a:pt x="5524" y="143948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839460" y="1390465"/>
            <a:ext cx="5112406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Network Design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7185" y="1797430"/>
            <a:ext cx="5400768" cy="440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Built with </a:t>
            </a:r>
            <a:pPr>
              <a:lnSpc>
                <a:spcPct val="140000"/>
              </a:lnSpc>
            </a:pPr>
            <a:r>
              <a:rPr lang="en-US" sz="1068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</a:t>
            </a:r>
            <a:pPr>
              <a:lnSpc>
                <a:spcPct val="140000"/>
              </a:lnSpc>
            </a:pPr>
            <a:r>
              <a:rPr lang="en-US" sz="106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our LSTM network captures temporal dependencies in sensor degradation patterns to accurately predict Remaining Useful Life.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142" y="2407878"/>
            <a:ext cx="5315983" cy="881758"/>
          </a:xfrm>
          <a:custGeom>
            <a:avLst/>
            <a:gdLst/>
            <a:ahLst/>
            <a:cxnLst/>
            <a:rect l="l" t="t" r="r" b="b"/>
            <a:pathLst>
              <a:path w="5315983" h="881758">
                <a:moveTo>
                  <a:pt x="0" y="0"/>
                </a:moveTo>
                <a:lnTo>
                  <a:pt x="5315983" y="0"/>
                </a:lnTo>
                <a:lnTo>
                  <a:pt x="5315983" y="881758"/>
                </a:lnTo>
                <a:lnTo>
                  <a:pt x="0" y="88175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34142" y="2407878"/>
            <a:ext cx="33914" cy="881758"/>
          </a:xfrm>
          <a:custGeom>
            <a:avLst/>
            <a:gdLst/>
            <a:ahLst/>
            <a:cxnLst/>
            <a:rect l="l" t="t" r="r" b="b"/>
            <a:pathLst>
              <a:path w="33914" h="881758">
                <a:moveTo>
                  <a:pt x="0" y="0"/>
                </a:moveTo>
                <a:lnTo>
                  <a:pt x="33914" y="0"/>
                </a:lnTo>
                <a:lnTo>
                  <a:pt x="33914" y="881758"/>
                </a:lnTo>
                <a:lnTo>
                  <a:pt x="0" y="881758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Shape 9"/>
          <p:cNvSpPr/>
          <p:nvPr/>
        </p:nvSpPr>
        <p:spPr>
          <a:xfrm>
            <a:off x="665558" y="2543533"/>
            <a:ext cx="169569" cy="169569"/>
          </a:xfrm>
          <a:custGeom>
            <a:avLst/>
            <a:gdLst/>
            <a:ahLst/>
            <a:cxnLst/>
            <a:rect l="l" t="t" r="r" b="b"/>
            <a:pathLst>
              <a:path w="169569" h="169569">
                <a:moveTo>
                  <a:pt x="138570" y="52295"/>
                </a:moveTo>
                <a:cubicBezTo>
                  <a:pt x="150261" y="49546"/>
                  <a:pt x="158971" y="39047"/>
                  <a:pt x="158971" y="26495"/>
                </a:cubicBezTo>
                <a:cubicBezTo>
                  <a:pt x="158971" y="11857"/>
                  <a:pt x="147114" y="0"/>
                  <a:pt x="132476" y="0"/>
                </a:cubicBezTo>
                <a:cubicBezTo>
                  <a:pt x="118102" y="0"/>
                  <a:pt x="106411" y="11426"/>
                  <a:pt x="105981" y="25667"/>
                </a:cubicBezTo>
                <a:lnTo>
                  <a:pt x="45108" y="50043"/>
                </a:lnTo>
                <a:cubicBezTo>
                  <a:pt x="40306" y="45307"/>
                  <a:pt x="33748" y="42392"/>
                  <a:pt x="26495" y="42392"/>
                </a:cubicBezTo>
                <a:cubicBezTo>
                  <a:pt x="11857" y="42392"/>
                  <a:pt x="0" y="54249"/>
                  <a:pt x="0" y="68887"/>
                </a:cubicBezTo>
                <a:cubicBezTo>
                  <a:pt x="0" y="83526"/>
                  <a:pt x="11857" y="95382"/>
                  <a:pt x="26495" y="95382"/>
                </a:cubicBezTo>
                <a:cubicBezTo>
                  <a:pt x="30536" y="95382"/>
                  <a:pt x="34377" y="94488"/>
                  <a:pt x="37789" y="92865"/>
                </a:cubicBezTo>
                <a:lnTo>
                  <a:pt x="86010" y="135059"/>
                </a:lnTo>
                <a:cubicBezTo>
                  <a:pt x="85215" y="137576"/>
                  <a:pt x="84784" y="140292"/>
                  <a:pt x="84784" y="143074"/>
                </a:cubicBezTo>
                <a:cubicBezTo>
                  <a:pt x="84784" y="157712"/>
                  <a:pt x="96641" y="169569"/>
                  <a:pt x="111280" y="169569"/>
                </a:cubicBezTo>
                <a:cubicBezTo>
                  <a:pt x="125918" y="169569"/>
                  <a:pt x="137775" y="157712"/>
                  <a:pt x="137775" y="143074"/>
                </a:cubicBezTo>
                <a:cubicBezTo>
                  <a:pt x="137775" y="133900"/>
                  <a:pt x="133138" y="125819"/>
                  <a:pt x="126051" y="121083"/>
                </a:cubicBezTo>
                <a:lnTo>
                  <a:pt x="138570" y="52295"/>
                </a:lnTo>
                <a:close/>
                <a:moveTo>
                  <a:pt x="51765" y="76902"/>
                </a:moveTo>
                <a:cubicBezTo>
                  <a:pt x="52493" y="74617"/>
                  <a:pt x="52924" y="72199"/>
                  <a:pt x="52990" y="69715"/>
                </a:cubicBezTo>
                <a:lnTo>
                  <a:pt x="113863" y="45373"/>
                </a:lnTo>
                <a:cubicBezTo>
                  <a:pt x="115055" y="46532"/>
                  <a:pt x="116314" y="47592"/>
                  <a:pt x="117705" y="48519"/>
                </a:cubicBezTo>
                <a:lnTo>
                  <a:pt x="105186" y="117274"/>
                </a:lnTo>
                <a:cubicBezTo>
                  <a:pt x="103364" y="117705"/>
                  <a:pt x="101609" y="118301"/>
                  <a:pt x="99953" y="119096"/>
                </a:cubicBezTo>
                <a:lnTo>
                  <a:pt x="51765" y="76902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949321" y="2509619"/>
            <a:ext cx="4875104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LSTM Layers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49321" y="2780929"/>
            <a:ext cx="4866626" cy="4069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Hidden Dimension: 64. Captures long-term temporal patterns in time-series sensor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4142" y="3391377"/>
            <a:ext cx="5315983" cy="678275"/>
          </a:xfrm>
          <a:custGeom>
            <a:avLst/>
            <a:gdLst/>
            <a:ahLst/>
            <a:cxnLst/>
            <a:rect l="l" t="t" r="r" b="b"/>
            <a:pathLst>
              <a:path w="5315983" h="678275">
                <a:moveTo>
                  <a:pt x="0" y="0"/>
                </a:moveTo>
                <a:lnTo>
                  <a:pt x="5315983" y="0"/>
                </a:lnTo>
                <a:lnTo>
                  <a:pt x="5315983" y="678275"/>
                </a:lnTo>
                <a:lnTo>
                  <a:pt x="0" y="678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34142" y="3391377"/>
            <a:ext cx="33914" cy="678275"/>
          </a:xfrm>
          <a:custGeom>
            <a:avLst/>
            <a:gdLst/>
            <a:ahLst/>
            <a:cxnLst/>
            <a:rect l="l" t="t" r="r" b="b"/>
            <a:pathLst>
              <a:path w="33914" h="678275">
                <a:moveTo>
                  <a:pt x="0" y="0"/>
                </a:moveTo>
                <a:lnTo>
                  <a:pt x="33914" y="0"/>
                </a:lnTo>
                <a:lnTo>
                  <a:pt x="33914" y="678275"/>
                </a:lnTo>
                <a:lnTo>
                  <a:pt x="0" y="6782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6" name="Shape 14"/>
          <p:cNvSpPr/>
          <p:nvPr/>
        </p:nvSpPr>
        <p:spPr>
          <a:xfrm>
            <a:off x="674036" y="3527032"/>
            <a:ext cx="169569" cy="169569"/>
          </a:xfrm>
          <a:custGeom>
            <a:avLst/>
            <a:gdLst/>
            <a:ahLst/>
            <a:cxnLst/>
            <a:rect l="l" t="t" r="r" b="b"/>
            <a:pathLst>
              <a:path w="169569" h="169569">
                <a:moveTo>
                  <a:pt x="84784" y="0"/>
                </a:moveTo>
                <a:cubicBezTo>
                  <a:pt x="86308" y="0"/>
                  <a:pt x="87831" y="331"/>
                  <a:pt x="89222" y="960"/>
                </a:cubicBezTo>
                <a:lnTo>
                  <a:pt x="151618" y="27422"/>
                </a:lnTo>
                <a:cubicBezTo>
                  <a:pt x="158905" y="30503"/>
                  <a:pt x="164336" y="37689"/>
                  <a:pt x="164303" y="46366"/>
                </a:cubicBezTo>
                <a:cubicBezTo>
                  <a:pt x="164137" y="79220"/>
                  <a:pt x="150625" y="139331"/>
                  <a:pt x="93561" y="166654"/>
                </a:cubicBezTo>
                <a:cubicBezTo>
                  <a:pt x="88030" y="169304"/>
                  <a:pt x="81605" y="169304"/>
                  <a:pt x="76074" y="166654"/>
                </a:cubicBezTo>
                <a:cubicBezTo>
                  <a:pt x="18977" y="139331"/>
                  <a:pt x="5498" y="79220"/>
                  <a:pt x="5332" y="46366"/>
                </a:cubicBezTo>
                <a:cubicBezTo>
                  <a:pt x="5299" y="37689"/>
                  <a:pt x="10731" y="30503"/>
                  <a:pt x="18017" y="27422"/>
                </a:cubicBezTo>
                <a:lnTo>
                  <a:pt x="80380" y="960"/>
                </a:lnTo>
                <a:cubicBezTo>
                  <a:pt x="81771" y="331"/>
                  <a:pt x="83261" y="0"/>
                  <a:pt x="84784" y="0"/>
                </a:cubicBezTo>
                <a:close/>
                <a:moveTo>
                  <a:pt x="84784" y="22123"/>
                </a:moveTo>
                <a:lnTo>
                  <a:pt x="84784" y="147346"/>
                </a:lnTo>
                <a:cubicBezTo>
                  <a:pt x="130489" y="125223"/>
                  <a:pt x="142776" y="76207"/>
                  <a:pt x="143074" y="46863"/>
                </a:cubicBezTo>
                <a:lnTo>
                  <a:pt x="84784" y="22157"/>
                </a:lnTo>
                <a:lnTo>
                  <a:pt x="84784" y="22157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966542" y="3493118"/>
            <a:ext cx="3781385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Dropout Layer (0.2)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6542" y="3764428"/>
            <a:ext cx="3772907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Regularization technique preventing overfitting during training.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34142" y="4171394"/>
            <a:ext cx="5315983" cy="678275"/>
          </a:xfrm>
          <a:custGeom>
            <a:avLst/>
            <a:gdLst/>
            <a:ahLst/>
            <a:cxnLst/>
            <a:rect l="l" t="t" r="r" b="b"/>
            <a:pathLst>
              <a:path w="5315983" h="678275">
                <a:moveTo>
                  <a:pt x="0" y="0"/>
                </a:moveTo>
                <a:lnTo>
                  <a:pt x="5315983" y="0"/>
                </a:lnTo>
                <a:lnTo>
                  <a:pt x="5315983" y="678275"/>
                </a:lnTo>
                <a:lnTo>
                  <a:pt x="0" y="67827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34142" y="4171394"/>
            <a:ext cx="33914" cy="678275"/>
          </a:xfrm>
          <a:custGeom>
            <a:avLst/>
            <a:gdLst/>
            <a:ahLst/>
            <a:cxnLst/>
            <a:rect l="l" t="t" r="r" b="b"/>
            <a:pathLst>
              <a:path w="33914" h="678275">
                <a:moveTo>
                  <a:pt x="0" y="0"/>
                </a:moveTo>
                <a:lnTo>
                  <a:pt x="33914" y="0"/>
                </a:lnTo>
                <a:lnTo>
                  <a:pt x="33914" y="678275"/>
                </a:lnTo>
                <a:lnTo>
                  <a:pt x="0" y="6782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036" y="4307049"/>
            <a:ext cx="169569" cy="169569"/>
          </a:xfrm>
          <a:custGeom>
            <a:avLst/>
            <a:gdLst/>
            <a:ahLst/>
            <a:cxnLst/>
            <a:rect l="l" t="t" r="r" b="b"/>
            <a:pathLst>
              <a:path w="169569" h="169569">
                <a:moveTo>
                  <a:pt x="166456" y="92269"/>
                </a:moveTo>
                <a:cubicBezTo>
                  <a:pt x="170596" y="88129"/>
                  <a:pt x="170596" y="81406"/>
                  <a:pt x="166456" y="77266"/>
                </a:cubicBezTo>
                <a:lnTo>
                  <a:pt x="113465" y="24276"/>
                </a:lnTo>
                <a:cubicBezTo>
                  <a:pt x="109326" y="20136"/>
                  <a:pt x="102602" y="20136"/>
                  <a:pt x="98463" y="24276"/>
                </a:cubicBezTo>
                <a:cubicBezTo>
                  <a:pt x="94323" y="28416"/>
                  <a:pt x="94323" y="35139"/>
                  <a:pt x="98463" y="39279"/>
                </a:cubicBezTo>
                <a:lnTo>
                  <a:pt x="133370" y="74186"/>
                </a:lnTo>
                <a:lnTo>
                  <a:pt x="10598" y="74186"/>
                </a:lnTo>
                <a:cubicBezTo>
                  <a:pt x="4736" y="74186"/>
                  <a:pt x="0" y="78922"/>
                  <a:pt x="0" y="84784"/>
                </a:cubicBezTo>
                <a:cubicBezTo>
                  <a:pt x="0" y="90646"/>
                  <a:pt x="4736" y="95382"/>
                  <a:pt x="10598" y="95382"/>
                </a:cubicBezTo>
                <a:lnTo>
                  <a:pt x="133370" y="95382"/>
                </a:lnTo>
                <a:lnTo>
                  <a:pt x="98463" y="130290"/>
                </a:lnTo>
                <a:cubicBezTo>
                  <a:pt x="94323" y="134430"/>
                  <a:pt x="94323" y="141153"/>
                  <a:pt x="98463" y="145293"/>
                </a:cubicBezTo>
                <a:cubicBezTo>
                  <a:pt x="102602" y="149433"/>
                  <a:pt x="109326" y="149433"/>
                  <a:pt x="113465" y="145293"/>
                </a:cubicBezTo>
                <a:lnTo>
                  <a:pt x="166456" y="92302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2" name="Text 20"/>
          <p:cNvSpPr/>
          <p:nvPr/>
        </p:nvSpPr>
        <p:spPr>
          <a:xfrm>
            <a:off x="966542" y="4273135"/>
            <a:ext cx="3162459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Dense Output Layer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6542" y="4544445"/>
            <a:ext cx="3153981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connected layer regressing the final RUL value.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3377" y="5167611"/>
            <a:ext cx="5680556" cy="1348072"/>
          </a:xfrm>
          <a:custGeom>
            <a:avLst/>
            <a:gdLst/>
            <a:ahLst/>
            <a:cxnLst/>
            <a:rect l="l" t="t" r="r" b="b"/>
            <a:pathLst>
              <a:path w="5680556" h="1348072">
                <a:moveTo>
                  <a:pt x="0" y="0"/>
                </a:moveTo>
                <a:lnTo>
                  <a:pt x="5680556" y="0"/>
                </a:lnTo>
                <a:lnTo>
                  <a:pt x="5680556" y="1348072"/>
                </a:lnTo>
                <a:lnTo>
                  <a:pt x="0" y="134807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8381" y="5375332"/>
            <a:ext cx="169569" cy="169569"/>
          </a:xfrm>
          <a:custGeom>
            <a:avLst/>
            <a:gdLst/>
            <a:ahLst/>
            <a:cxnLst/>
            <a:rect l="l" t="t" r="r" b="b"/>
            <a:pathLst>
              <a:path w="169569" h="169569">
                <a:moveTo>
                  <a:pt x="39743" y="18547"/>
                </a:moveTo>
                <a:cubicBezTo>
                  <a:pt x="39743" y="8313"/>
                  <a:pt x="48056" y="0"/>
                  <a:pt x="58289" y="0"/>
                </a:cubicBezTo>
                <a:lnTo>
                  <a:pt x="66238" y="0"/>
                </a:lnTo>
                <a:cubicBezTo>
                  <a:pt x="72100" y="0"/>
                  <a:pt x="76836" y="4736"/>
                  <a:pt x="76836" y="10598"/>
                </a:cubicBezTo>
                <a:lnTo>
                  <a:pt x="76836" y="158971"/>
                </a:lnTo>
                <a:cubicBezTo>
                  <a:pt x="76836" y="164833"/>
                  <a:pt x="72100" y="169569"/>
                  <a:pt x="66238" y="169569"/>
                </a:cubicBezTo>
                <a:lnTo>
                  <a:pt x="55640" y="169569"/>
                </a:lnTo>
                <a:cubicBezTo>
                  <a:pt x="45770" y="169569"/>
                  <a:pt x="37457" y="162813"/>
                  <a:pt x="35106" y="153672"/>
                </a:cubicBezTo>
                <a:cubicBezTo>
                  <a:pt x="34874" y="153672"/>
                  <a:pt x="34676" y="153672"/>
                  <a:pt x="34444" y="153672"/>
                </a:cubicBezTo>
                <a:cubicBezTo>
                  <a:pt x="19805" y="153672"/>
                  <a:pt x="7949" y="141815"/>
                  <a:pt x="7949" y="127177"/>
                </a:cubicBezTo>
                <a:cubicBezTo>
                  <a:pt x="7949" y="121215"/>
                  <a:pt x="9936" y="115717"/>
                  <a:pt x="13248" y="111280"/>
                </a:cubicBezTo>
                <a:cubicBezTo>
                  <a:pt x="6822" y="106444"/>
                  <a:pt x="2650" y="98761"/>
                  <a:pt x="2650" y="90083"/>
                </a:cubicBezTo>
                <a:cubicBezTo>
                  <a:pt x="2650" y="79850"/>
                  <a:pt x="8478" y="70941"/>
                  <a:pt x="16957" y="66536"/>
                </a:cubicBezTo>
                <a:cubicBezTo>
                  <a:pt x="14605" y="62562"/>
                  <a:pt x="13248" y="57925"/>
                  <a:pt x="13248" y="52990"/>
                </a:cubicBezTo>
                <a:cubicBezTo>
                  <a:pt x="13248" y="38352"/>
                  <a:pt x="25104" y="26495"/>
                  <a:pt x="39743" y="26495"/>
                </a:cubicBezTo>
                <a:lnTo>
                  <a:pt x="39743" y="18547"/>
                </a:lnTo>
                <a:close/>
                <a:moveTo>
                  <a:pt x="129826" y="18547"/>
                </a:moveTo>
                <a:lnTo>
                  <a:pt x="129826" y="26495"/>
                </a:lnTo>
                <a:cubicBezTo>
                  <a:pt x="144465" y="26495"/>
                  <a:pt x="156321" y="38352"/>
                  <a:pt x="156321" y="52990"/>
                </a:cubicBezTo>
                <a:cubicBezTo>
                  <a:pt x="156321" y="57958"/>
                  <a:pt x="154963" y="62595"/>
                  <a:pt x="152612" y="66536"/>
                </a:cubicBezTo>
                <a:cubicBezTo>
                  <a:pt x="161124" y="70941"/>
                  <a:pt x="166919" y="79817"/>
                  <a:pt x="166919" y="90083"/>
                </a:cubicBezTo>
                <a:cubicBezTo>
                  <a:pt x="166919" y="98761"/>
                  <a:pt x="162746" y="106444"/>
                  <a:pt x="156321" y="111280"/>
                </a:cubicBezTo>
                <a:cubicBezTo>
                  <a:pt x="159633" y="115717"/>
                  <a:pt x="161620" y="121215"/>
                  <a:pt x="161620" y="127177"/>
                </a:cubicBezTo>
                <a:cubicBezTo>
                  <a:pt x="161620" y="141815"/>
                  <a:pt x="149764" y="153672"/>
                  <a:pt x="135125" y="153672"/>
                </a:cubicBezTo>
                <a:cubicBezTo>
                  <a:pt x="134893" y="153672"/>
                  <a:pt x="134695" y="153672"/>
                  <a:pt x="134463" y="153672"/>
                </a:cubicBezTo>
                <a:cubicBezTo>
                  <a:pt x="132111" y="162813"/>
                  <a:pt x="123799" y="169569"/>
                  <a:pt x="113929" y="169569"/>
                </a:cubicBezTo>
                <a:lnTo>
                  <a:pt x="103331" y="169569"/>
                </a:lnTo>
                <a:cubicBezTo>
                  <a:pt x="97469" y="169569"/>
                  <a:pt x="92733" y="164833"/>
                  <a:pt x="92733" y="158971"/>
                </a:cubicBezTo>
                <a:lnTo>
                  <a:pt x="92733" y="10598"/>
                </a:lnTo>
                <a:cubicBezTo>
                  <a:pt x="92733" y="4736"/>
                  <a:pt x="97469" y="0"/>
                  <a:pt x="103331" y="0"/>
                </a:cubicBezTo>
                <a:lnTo>
                  <a:pt x="111280" y="0"/>
                </a:lnTo>
                <a:cubicBezTo>
                  <a:pt x="121513" y="0"/>
                  <a:pt x="129826" y="8313"/>
                  <a:pt x="129826" y="18547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6" name="Text 24"/>
          <p:cNvSpPr/>
          <p:nvPr/>
        </p:nvSpPr>
        <p:spPr>
          <a:xfrm>
            <a:off x="797068" y="5341419"/>
            <a:ext cx="5137842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3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LSTM?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7185" y="5680556"/>
            <a:ext cx="5400768" cy="661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6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 Short-Term Memory networks</a:t>
            </a:r>
            <a:pPr>
              <a:lnSpc>
                <a:spcPct val="140000"/>
              </a:lnSpc>
            </a:pPr>
            <a:r>
              <a:rPr lang="en-US" sz="1068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excel at learning from time-series data. They can remember patterns over long periods, making them ideal for engine degradation modeling where failure develops gradually.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8994" y="1216656"/>
            <a:ext cx="5680556" cy="2382442"/>
          </a:xfrm>
          <a:custGeom>
            <a:avLst/>
            <a:gdLst/>
            <a:ahLst/>
            <a:cxnLst/>
            <a:rect l="l" t="t" r="r" b="b"/>
            <a:pathLst>
              <a:path w="5680556" h="2382442">
                <a:moveTo>
                  <a:pt x="0" y="0"/>
                </a:moveTo>
                <a:lnTo>
                  <a:pt x="5680556" y="0"/>
                </a:lnTo>
                <a:lnTo>
                  <a:pt x="5680556" y="2382442"/>
                </a:lnTo>
                <a:lnTo>
                  <a:pt x="0" y="2382442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932" y="1390465"/>
            <a:ext cx="5434682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2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Parameters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42802" y="1797430"/>
            <a:ext cx="2602882" cy="746103"/>
          </a:xfrm>
          <a:custGeom>
            <a:avLst/>
            <a:gdLst/>
            <a:ahLst/>
            <a:cxnLst/>
            <a:rect l="l" t="t" r="r" b="b"/>
            <a:pathLst>
              <a:path w="2602882" h="746103">
                <a:moveTo>
                  <a:pt x="0" y="0"/>
                </a:moveTo>
                <a:lnTo>
                  <a:pt x="2602882" y="0"/>
                </a:lnTo>
                <a:lnTo>
                  <a:pt x="2602882" y="746103"/>
                </a:lnTo>
                <a:lnTo>
                  <a:pt x="0" y="74610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448783" y="1933085"/>
            <a:ext cx="239092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Features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27587" y="2136567"/>
            <a:ext cx="243331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21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077497" y="1797430"/>
            <a:ext cx="2602882" cy="746103"/>
          </a:xfrm>
          <a:custGeom>
            <a:avLst/>
            <a:gdLst/>
            <a:ahLst/>
            <a:cxnLst/>
            <a:rect l="l" t="t" r="r" b="b"/>
            <a:pathLst>
              <a:path w="2602882" h="746103">
                <a:moveTo>
                  <a:pt x="0" y="0"/>
                </a:moveTo>
                <a:lnTo>
                  <a:pt x="2602882" y="0"/>
                </a:lnTo>
                <a:lnTo>
                  <a:pt x="2602882" y="746103"/>
                </a:lnTo>
                <a:lnTo>
                  <a:pt x="0" y="74610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183478" y="1933085"/>
            <a:ext cx="239092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Sequence Length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162282" y="2136567"/>
            <a:ext cx="243331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2802" y="2679188"/>
            <a:ext cx="2602882" cy="746103"/>
          </a:xfrm>
          <a:custGeom>
            <a:avLst/>
            <a:gdLst/>
            <a:ahLst/>
            <a:cxnLst/>
            <a:rect l="l" t="t" r="r" b="b"/>
            <a:pathLst>
              <a:path w="2602882" h="746103">
                <a:moveTo>
                  <a:pt x="0" y="0"/>
                </a:moveTo>
                <a:lnTo>
                  <a:pt x="2602882" y="0"/>
                </a:lnTo>
                <a:lnTo>
                  <a:pt x="2602882" y="746103"/>
                </a:lnTo>
                <a:lnTo>
                  <a:pt x="0" y="74610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448783" y="2814843"/>
            <a:ext cx="239092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Hidden Units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27587" y="3018325"/>
            <a:ext cx="243331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64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77497" y="2679188"/>
            <a:ext cx="2602882" cy="746103"/>
          </a:xfrm>
          <a:custGeom>
            <a:avLst/>
            <a:gdLst/>
            <a:ahLst/>
            <a:cxnLst/>
            <a:rect l="l" t="t" r="r" b="b"/>
            <a:pathLst>
              <a:path w="2602882" h="746103">
                <a:moveTo>
                  <a:pt x="0" y="0"/>
                </a:moveTo>
                <a:lnTo>
                  <a:pt x="2602882" y="0"/>
                </a:lnTo>
                <a:lnTo>
                  <a:pt x="2602882" y="746103"/>
                </a:lnTo>
                <a:lnTo>
                  <a:pt x="0" y="746103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83478" y="2814843"/>
            <a:ext cx="2390921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3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Dropout Rate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162282" y="3018325"/>
            <a:ext cx="2433313" cy="271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02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0.2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68994" y="3743232"/>
            <a:ext cx="5680556" cy="2653752"/>
          </a:xfrm>
          <a:custGeom>
            <a:avLst/>
            <a:gdLst/>
            <a:ahLst/>
            <a:cxnLst/>
            <a:rect l="l" t="t" r="r" b="b"/>
            <a:pathLst>
              <a:path w="5680556" h="2653752">
                <a:moveTo>
                  <a:pt x="0" y="0"/>
                </a:moveTo>
                <a:lnTo>
                  <a:pt x="5680556" y="0"/>
                </a:lnTo>
                <a:lnTo>
                  <a:pt x="5680556" y="2653752"/>
                </a:lnTo>
                <a:lnTo>
                  <a:pt x="0" y="265375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410" y="3917040"/>
            <a:ext cx="5417725" cy="2373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3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Configuration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42802" y="4290092"/>
            <a:ext cx="5332940" cy="406965"/>
          </a:xfrm>
          <a:custGeom>
            <a:avLst/>
            <a:gdLst/>
            <a:ahLst/>
            <a:cxnLst/>
            <a:rect l="l" t="t" r="r" b="b"/>
            <a:pathLst>
              <a:path w="5332940" h="406965">
                <a:moveTo>
                  <a:pt x="0" y="0"/>
                </a:moveTo>
                <a:lnTo>
                  <a:pt x="5332940" y="0"/>
                </a:lnTo>
                <a:lnTo>
                  <a:pt x="5332940" y="406965"/>
                </a:lnTo>
                <a:lnTo>
                  <a:pt x="0" y="40696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444543" y="4391833"/>
            <a:ext cx="907193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Loss Function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08670" y="4408790"/>
            <a:ext cx="92415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Smooth L1 Loss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42802" y="4798798"/>
            <a:ext cx="5332940" cy="406965"/>
          </a:xfrm>
          <a:custGeom>
            <a:avLst/>
            <a:gdLst/>
            <a:ahLst/>
            <a:cxnLst/>
            <a:rect l="l" t="t" r="r" b="b"/>
            <a:pathLst>
              <a:path w="5332940" h="406965">
                <a:moveTo>
                  <a:pt x="0" y="0"/>
                </a:moveTo>
                <a:lnTo>
                  <a:pt x="5332940" y="0"/>
                </a:lnTo>
                <a:lnTo>
                  <a:pt x="5332940" y="406965"/>
                </a:lnTo>
                <a:lnTo>
                  <a:pt x="0" y="40696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444543" y="4900540"/>
            <a:ext cx="652840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252350" y="4917497"/>
            <a:ext cx="38153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Adam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42802" y="5307505"/>
            <a:ext cx="5332940" cy="406965"/>
          </a:xfrm>
          <a:custGeom>
            <a:avLst/>
            <a:gdLst/>
            <a:ahLst/>
            <a:cxnLst/>
            <a:rect l="l" t="t" r="r" b="b"/>
            <a:pathLst>
              <a:path w="5332940" h="406965">
                <a:moveTo>
                  <a:pt x="0" y="0"/>
                </a:moveTo>
                <a:lnTo>
                  <a:pt x="5332940" y="0"/>
                </a:lnTo>
                <a:lnTo>
                  <a:pt x="5332940" y="406965"/>
                </a:lnTo>
                <a:lnTo>
                  <a:pt x="0" y="40696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444543" y="5409246"/>
            <a:ext cx="890236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56457" y="5426203"/>
            <a:ext cx="381530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0.001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42802" y="5816211"/>
            <a:ext cx="5332940" cy="406965"/>
          </a:xfrm>
          <a:custGeom>
            <a:avLst/>
            <a:gdLst/>
            <a:ahLst/>
            <a:cxnLst/>
            <a:rect l="l" t="t" r="r" b="b"/>
            <a:pathLst>
              <a:path w="5332940" h="406965">
                <a:moveTo>
                  <a:pt x="0" y="0"/>
                </a:moveTo>
                <a:lnTo>
                  <a:pt x="5332940" y="0"/>
                </a:lnTo>
                <a:lnTo>
                  <a:pt x="5332940" y="406965"/>
                </a:lnTo>
                <a:lnTo>
                  <a:pt x="0" y="40696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444543" y="5917953"/>
            <a:ext cx="695232" cy="2034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68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380189" y="5934910"/>
            <a:ext cx="254353" cy="169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5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512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345" y="350345"/>
            <a:ext cx="11552621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b="1" spc="193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DEEP DIVE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0345" y="595586"/>
            <a:ext cx="11701517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1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 Stack &amp; Implementation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345" y="1156138"/>
            <a:ext cx="840828" cy="26276"/>
          </a:xfrm>
          <a:custGeom>
            <a:avLst/>
            <a:gdLst/>
            <a:ahLst/>
            <a:cxnLst/>
            <a:rect l="l" t="t" r="r" b="b"/>
            <a:pathLst>
              <a:path w="840828" h="26276">
                <a:moveTo>
                  <a:pt x="0" y="0"/>
                </a:moveTo>
                <a:lnTo>
                  <a:pt x="840828" y="0"/>
                </a:lnTo>
                <a:lnTo>
                  <a:pt x="840828" y="26276"/>
                </a:lnTo>
                <a:lnTo>
                  <a:pt x="0" y="26276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54724" y="1397000"/>
            <a:ext cx="2732690" cy="1375103"/>
          </a:xfrm>
          <a:custGeom>
            <a:avLst/>
            <a:gdLst/>
            <a:ahLst/>
            <a:cxnLst/>
            <a:rect l="l" t="t" r="r" b="b"/>
            <a:pathLst>
              <a:path w="2732690" h="1375103">
                <a:moveTo>
                  <a:pt x="0" y="0"/>
                </a:moveTo>
                <a:lnTo>
                  <a:pt x="2732690" y="0"/>
                </a:lnTo>
                <a:lnTo>
                  <a:pt x="2732690" y="1375103"/>
                </a:lnTo>
                <a:lnTo>
                  <a:pt x="0" y="137510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83121" y="1576552"/>
            <a:ext cx="275897" cy="315310"/>
          </a:xfrm>
          <a:custGeom>
            <a:avLst/>
            <a:gdLst/>
            <a:ahLst/>
            <a:cxnLst/>
            <a:rect l="l" t="t" r="r" b="b"/>
            <a:pathLst>
              <a:path w="275897" h="315310">
                <a:moveTo>
                  <a:pt x="270847" y="123476"/>
                </a:moveTo>
                <a:cubicBezTo>
                  <a:pt x="266105" y="104447"/>
                  <a:pt x="257113" y="90097"/>
                  <a:pt x="237961" y="90097"/>
                </a:cubicBezTo>
                <a:lnTo>
                  <a:pt x="213266" y="90097"/>
                </a:lnTo>
                <a:lnTo>
                  <a:pt x="213266" y="119288"/>
                </a:lnTo>
                <a:cubicBezTo>
                  <a:pt x="213266" y="141951"/>
                  <a:pt x="194051" y="161042"/>
                  <a:pt x="172127" y="161042"/>
                </a:cubicBezTo>
                <a:lnTo>
                  <a:pt x="106356" y="161042"/>
                </a:lnTo>
                <a:cubicBezTo>
                  <a:pt x="88373" y="161042"/>
                  <a:pt x="73470" y="176438"/>
                  <a:pt x="73470" y="194482"/>
                </a:cubicBezTo>
                <a:lnTo>
                  <a:pt x="73470" y="257175"/>
                </a:lnTo>
                <a:cubicBezTo>
                  <a:pt x="73470" y="275034"/>
                  <a:pt x="88989" y="285504"/>
                  <a:pt x="106356" y="290615"/>
                </a:cubicBezTo>
                <a:cubicBezTo>
                  <a:pt x="127171" y="296712"/>
                  <a:pt x="147186" y="297820"/>
                  <a:pt x="172127" y="290615"/>
                </a:cubicBezTo>
                <a:cubicBezTo>
                  <a:pt x="188694" y="285812"/>
                  <a:pt x="205013" y="276143"/>
                  <a:pt x="205013" y="257175"/>
                </a:cubicBezTo>
                <a:lnTo>
                  <a:pt x="205013" y="232110"/>
                </a:lnTo>
                <a:lnTo>
                  <a:pt x="139303" y="232110"/>
                </a:lnTo>
                <a:lnTo>
                  <a:pt x="139303" y="223735"/>
                </a:lnTo>
                <a:lnTo>
                  <a:pt x="237961" y="223735"/>
                </a:lnTo>
                <a:cubicBezTo>
                  <a:pt x="257113" y="223735"/>
                  <a:pt x="264196" y="210371"/>
                  <a:pt x="270847" y="190356"/>
                </a:cubicBezTo>
                <a:cubicBezTo>
                  <a:pt x="277744" y="169726"/>
                  <a:pt x="277436" y="149896"/>
                  <a:pt x="270847" y="123476"/>
                </a:cubicBezTo>
                <a:close/>
                <a:moveTo>
                  <a:pt x="176254" y="273864"/>
                </a:moveTo>
                <a:cubicBezTo>
                  <a:pt x="171566" y="274193"/>
                  <a:pt x="167088" y="271879"/>
                  <a:pt x="164644" y="267866"/>
                </a:cubicBezTo>
                <a:cubicBezTo>
                  <a:pt x="162200" y="263853"/>
                  <a:pt x="162200" y="258811"/>
                  <a:pt x="164644" y="254798"/>
                </a:cubicBezTo>
                <a:cubicBezTo>
                  <a:pt x="167088" y="250785"/>
                  <a:pt x="171566" y="248471"/>
                  <a:pt x="176254" y="248800"/>
                </a:cubicBezTo>
                <a:cubicBezTo>
                  <a:pt x="180941" y="248471"/>
                  <a:pt x="185419" y="250785"/>
                  <a:pt x="187863" y="254798"/>
                </a:cubicBezTo>
                <a:cubicBezTo>
                  <a:pt x="190307" y="258811"/>
                  <a:pt x="190307" y="263853"/>
                  <a:pt x="187863" y="267866"/>
                </a:cubicBezTo>
                <a:cubicBezTo>
                  <a:pt x="185419" y="271879"/>
                  <a:pt x="180941" y="274193"/>
                  <a:pt x="176254" y="273864"/>
                </a:cubicBezTo>
                <a:close/>
                <a:moveTo>
                  <a:pt x="103338" y="152790"/>
                </a:moveTo>
                <a:lnTo>
                  <a:pt x="169110" y="152790"/>
                </a:lnTo>
                <a:cubicBezTo>
                  <a:pt x="187400" y="152790"/>
                  <a:pt x="201996" y="137702"/>
                  <a:pt x="201996" y="119350"/>
                </a:cubicBezTo>
                <a:lnTo>
                  <a:pt x="201996" y="56596"/>
                </a:lnTo>
                <a:cubicBezTo>
                  <a:pt x="201996" y="38736"/>
                  <a:pt x="186969" y="25373"/>
                  <a:pt x="169110" y="22355"/>
                </a:cubicBezTo>
                <a:cubicBezTo>
                  <a:pt x="147063" y="18722"/>
                  <a:pt x="123107" y="18906"/>
                  <a:pt x="103338" y="22417"/>
                </a:cubicBezTo>
                <a:cubicBezTo>
                  <a:pt x="75502" y="27343"/>
                  <a:pt x="70452" y="37628"/>
                  <a:pt x="70452" y="56657"/>
                </a:cubicBezTo>
                <a:lnTo>
                  <a:pt x="70452" y="81722"/>
                </a:lnTo>
                <a:lnTo>
                  <a:pt x="136286" y="81722"/>
                </a:lnTo>
                <a:lnTo>
                  <a:pt x="136286" y="90097"/>
                </a:lnTo>
                <a:lnTo>
                  <a:pt x="45757" y="90097"/>
                </a:lnTo>
                <a:cubicBezTo>
                  <a:pt x="26604" y="90097"/>
                  <a:pt x="9853" y="101614"/>
                  <a:pt x="4619" y="123476"/>
                </a:cubicBezTo>
                <a:cubicBezTo>
                  <a:pt x="-1416" y="148541"/>
                  <a:pt x="-1663" y="164183"/>
                  <a:pt x="4619" y="190356"/>
                </a:cubicBezTo>
                <a:cubicBezTo>
                  <a:pt x="9299" y="209817"/>
                  <a:pt x="20446" y="223735"/>
                  <a:pt x="39599" y="223735"/>
                </a:cubicBezTo>
                <a:lnTo>
                  <a:pt x="62200" y="223735"/>
                </a:lnTo>
                <a:lnTo>
                  <a:pt x="62200" y="193682"/>
                </a:lnTo>
                <a:cubicBezTo>
                  <a:pt x="62200" y="171943"/>
                  <a:pt x="80983" y="152790"/>
                  <a:pt x="103338" y="152790"/>
                </a:cubicBezTo>
                <a:close/>
                <a:moveTo>
                  <a:pt x="99273" y="39845"/>
                </a:moveTo>
                <a:cubicBezTo>
                  <a:pt x="106207" y="39845"/>
                  <a:pt x="111837" y="45474"/>
                  <a:pt x="111837" y="52408"/>
                </a:cubicBezTo>
                <a:cubicBezTo>
                  <a:pt x="111837" y="59342"/>
                  <a:pt x="106207" y="64971"/>
                  <a:pt x="99273" y="64971"/>
                </a:cubicBezTo>
                <a:cubicBezTo>
                  <a:pt x="92340" y="64971"/>
                  <a:pt x="86710" y="59342"/>
                  <a:pt x="86710" y="52408"/>
                </a:cubicBezTo>
                <a:cubicBezTo>
                  <a:pt x="86710" y="45474"/>
                  <a:pt x="92340" y="39845"/>
                  <a:pt x="99273" y="3984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490483" y="1996966"/>
            <a:ext cx="2461172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Language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9241" y="2382345"/>
            <a:ext cx="244365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3.8+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71345" y="1397000"/>
            <a:ext cx="2732690" cy="1375103"/>
          </a:xfrm>
          <a:custGeom>
            <a:avLst/>
            <a:gdLst/>
            <a:ahLst/>
            <a:cxnLst/>
            <a:rect l="l" t="t" r="r" b="b"/>
            <a:pathLst>
              <a:path w="2732690" h="1375103">
                <a:moveTo>
                  <a:pt x="0" y="0"/>
                </a:moveTo>
                <a:lnTo>
                  <a:pt x="2732690" y="0"/>
                </a:lnTo>
                <a:lnTo>
                  <a:pt x="2732690" y="1375103"/>
                </a:lnTo>
                <a:lnTo>
                  <a:pt x="0" y="137510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034" y="1576552"/>
            <a:ext cx="315310" cy="315310"/>
          </a:xfrm>
          <a:custGeom>
            <a:avLst/>
            <a:gdLst/>
            <a:ahLst/>
            <a:cxnLst/>
            <a:rect l="l" t="t" r="r" b="b"/>
            <a:pathLst>
              <a:path w="315310" h="315310">
                <a:moveTo>
                  <a:pt x="73901" y="34487"/>
                </a:moveTo>
                <a:cubicBezTo>
                  <a:pt x="73901" y="15458"/>
                  <a:pt x="89358" y="0"/>
                  <a:pt x="108388" y="0"/>
                </a:cubicBezTo>
                <a:lnTo>
                  <a:pt x="123168" y="0"/>
                </a:lnTo>
                <a:cubicBezTo>
                  <a:pt x="134068" y="0"/>
                  <a:pt x="142875" y="8807"/>
                  <a:pt x="142875" y="19707"/>
                </a:cubicBezTo>
                <a:lnTo>
                  <a:pt x="142875" y="295603"/>
                </a:lnTo>
                <a:cubicBezTo>
                  <a:pt x="142875" y="306504"/>
                  <a:pt x="134068" y="315310"/>
                  <a:pt x="123168" y="315310"/>
                </a:cubicBezTo>
                <a:lnTo>
                  <a:pt x="103461" y="315310"/>
                </a:lnTo>
                <a:cubicBezTo>
                  <a:pt x="85109" y="315310"/>
                  <a:pt x="69652" y="302747"/>
                  <a:pt x="65279" y="285750"/>
                </a:cubicBezTo>
                <a:cubicBezTo>
                  <a:pt x="64848" y="285750"/>
                  <a:pt x="64479" y="285750"/>
                  <a:pt x="64047" y="285750"/>
                </a:cubicBezTo>
                <a:cubicBezTo>
                  <a:pt x="36827" y="285750"/>
                  <a:pt x="14780" y="263703"/>
                  <a:pt x="14780" y="236483"/>
                </a:cubicBezTo>
                <a:cubicBezTo>
                  <a:pt x="14780" y="225398"/>
                  <a:pt x="18475" y="215175"/>
                  <a:pt x="24634" y="206922"/>
                </a:cubicBezTo>
                <a:cubicBezTo>
                  <a:pt x="12686" y="197931"/>
                  <a:pt x="4927" y="183644"/>
                  <a:pt x="4927" y="167509"/>
                </a:cubicBezTo>
                <a:cubicBezTo>
                  <a:pt x="4927" y="148479"/>
                  <a:pt x="15766" y="131913"/>
                  <a:pt x="31531" y="123722"/>
                </a:cubicBezTo>
                <a:cubicBezTo>
                  <a:pt x="27159" y="116332"/>
                  <a:pt x="24634" y="107711"/>
                  <a:pt x="24634" y="98534"/>
                </a:cubicBezTo>
                <a:cubicBezTo>
                  <a:pt x="24634" y="71314"/>
                  <a:pt x="46681" y="49267"/>
                  <a:pt x="73901" y="49267"/>
                </a:cubicBezTo>
                <a:lnTo>
                  <a:pt x="73901" y="34487"/>
                </a:lnTo>
                <a:close/>
                <a:moveTo>
                  <a:pt x="241409" y="34487"/>
                </a:moveTo>
                <a:lnTo>
                  <a:pt x="241409" y="49267"/>
                </a:lnTo>
                <a:cubicBezTo>
                  <a:pt x="268630" y="49267"/>
                  <a:pt x="290677" y="71314"/>
                  <a:pt x="290677" y="98534"/>
                </a:cubicBezTo>
                <a:cubicBezTo>
                  <a:pt x="290677" y="107772"/>
                  <a:pt x="288152" y="116394"/>
                  <a:pt x="283779" y="123722"/>
                </a:cubicBezTo>
                <a:cubicBezTo>
                  <a:pt x="299606" y="131913"/>
                  <a:pt x="310384" y="148418"/>
                  <a:pt x="310384" y="167509"/>
                </a:cubicBezTo>
                <a:cubicBezTo>
                  <a:pt x="310384" y="183644"/>
                  <a:pt x="302624" y="197931"/>
                  <a:pt x="290677" y="206922"/>
                </a:cubicBezTo>
                <a:cubicBezTo>
                  <a:pt x="296835" y="215175"/>
                  <a:pt x="300530" y="225398"/>
                  <a:pt x="300530" y="236483"/>
                </a:cubicBezTo>
                <a:cubicBezTo>
                  <a:pt x="300530" y="263703"/>
                  <a:pt x="278483" y="285750"/>
                  <a:pt x="251263" y="285750"/>
                </a:cubicBezTo>
                <a:cubicBezTo>
                  <a:pt x="250832" y="285750"/>
                  <a:pt x="250462" y="285750"/>
                  <a:pt x="250031" y="285750"/>
                </a:cubicBezTo>
                <a:cubicBezTo>
                  <a:pt x="245659" y="302747"/>
                  <a:pt x="230201" y="315310"/>
                  <a:pt x="211849" y="315310"/>
                </a:cubicBezTo>
                <a:lnTo>
                  <a:pt x="192142" y="315310"/>
                </a:lnTo>
                <a:cubicBezTo>
                  <a:pt x="181242" y="315310"/>
                  <a:pt x="172435" y="306504"/>
                  <a:pt x="172435" y="295603"/>
                </a:cubicBezTo>
                <a:lnTo>
                  <a:pt x="172435" y="19707"/>
                </a:lnTo>
                <a:cubicBezTo>
                  <a:pt x="172435" y="8807"/>
                  <a:pt x="181242" y="0"/>
                  <a:pt x="192142" y="0"/>
                </a:cubicBezTo>
                <a:lnTo>
                  <a:pt x="206922" y="0"/>
                </a:lnTo>
                <a:cubicBezTo>
                  <a:pt x="225952" y="0"/>
                  <a:pt x="241409" y="15458"/>
                  <a:pt x="241409" y="34487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Text 9"/>
          <p:cNvSpPr/>
          <p:nvPr/>
        </p:nvSpPr>
        <p:spPr>
          <a:xfrm>
            <a:off x="3407103" y="1996966"/>
            <a:ext cx="2461172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ML Framework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15862" y="2382345"/>
            <a:ext cx="244365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PyTorch, Scikit-learn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87966" y="1397000"/>
            <a:ext cx="2732690" cy="1375103"/>
          </a:xfrm>
          <a:custGeom>
            <a:avLst/>
            <a:gdLst/>
            <a:ahLst/>
            <a:cxnLst/>
            <a:rect l="l" t="t" r="r" b="b"/>
            <a:pathLst>
              <a:path w="2732690" h="1375103">
                <a:moveTo>
                  <a:pt x="0" y="0"/>
                </a:moveTo>
                <a:lnTo>
                  <a:pt x="2732690" y="0"/>
                </a:lnTo>
                <a:lnTo>
                  <a:pt x="2732690" y="1375103"/>
                </a:lnTo>
                <a:lnTo>
                  <a:pt x="0" y="137510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16362" y="1576552"/>
            <a:ext cx="275897" cy="315310"/>
          </a:xfrm>
          <a:custGeom>
            <a:avLst/>
            <a:gdLst/>
            <a:ahLst/>
            <a:cxnLst/>
            <a:rect l="l" t="t" r="r" b="b"/>
            <a:pathLst>
              <a:path w="275897" h="315310">
                <a:moveTo>
                  <a:pt x="157655" y="98534"/>
                </a:moveTo>
                <a:lnTo>
                  <a:pt x="157655" y="157655"/>
                </a:lnTo>
                <a:lnTo>
                  <a:pt x="236483" y="157655"/>
                </a:lnTo>
                <a:lnTo>
                  <a:pt x="236483" y="98534"/>
                </a:lnTo>
                <a:lnTo>
                  <a:pt x="157655" y="98534"/>
                </a:lnTo>
                <a:close/>
                <a:moveTo>
                  <a:pt x="118241" y="98534"/>
                </a:moveTo>
                <a:lnTo>
                  <a:pt x="39414" y="98534"/>
                </a:lnTo>
                <a:lnTo>
                  <a:pt x="39414" y="157655"/>
                </a:lnTo>
                <a:lnTo>
                  <a:pt x="118241" y="157655"/>
                </a:lnTo>
                <a:lnTo>
                  <a:pt x="118241" y="98534"/>
                </a:lnTo>
                <a:close/>
                <a:moveTo>
                  <a:pt x="0" y="197069"/>
                </a:moveTo>
                <a:lnTo>
                  <a:pt x="0" y="59121"/>
                </a:lnTo>
                <a:cubicBezTo>
                  <a:pt x="0" y="37382"/>
                  <a:pt x="17675" y="19707"/>
                  <a:pt x="39414" y="19707"/>
                </a:cubicBezTo>
                <a:lnTo>
                  <a:pt x="236483" y="19707"/>
                </a:lnTo>
                <a:cubicBezTo>
                  <a:pt x="258222" y="19707"/>
                  <a:pt x="275897" y="37382"/>
                  <a:pt x="275897" y="59121"/>
                </a:cubicBezTo>
                <a:lnTo>
                  <a:pt x="275897" y="256190"/>
                </a:lnTo>
                <a:cubicBezTo>
                  <a:pt x="275897" y="277929"/>
                  <a:pt x="258222" y="295603"/>
                  <a:pt x="236483" y="295603"/>
                </a:cubicBezTo>
                <a:lnTo>
                  <a:pt x="39414" y="295603"/>
                </a:lnTo>
                <a:cubicBezTo>
                  <a:pt x="17675" y="295603"/>
                  <a:pt x="0" y="277929"/>
                  <a:pt x="0" y="256190"/>
                </a:cubicBezTo>
                <a:lnTo>
                  <a:pt x="0" y="197069"/>
                </a:lnTo>
                <a:close/>
                <a:moveTo>
                  <a:pt x="236483" y="197069"/>
                </a:moveTo>
                <a:lnTo>
                  <a:pt x="157655" y="197069"/>
                </a:lnTo>
                <a:lnTo>
                  <a:pt x="157655" y="256190"/>
                </a:lnTo>
                <a:lnTo>
                  <a:pt x="236483" y="256190"/>
                </a:lnTo>
                <a:lnTo>
                  <a:pt x="236483" y="197069"/>
                </a:lnTo>
                <a:close/>
                <a:moveTo>
                  <a:pt x="118241" y="256190"/>
                </a:moveTo>
                <a:lnTo>
                  <a:pt x="118241" y="197069"/>
                </a:lnTo>
                <a:lnTo>
                  <a:pt x="39414" y="197069"/>
                </a:lnTo>
                <a:lnTo>
                  <a:pt x="39414" y="256190"/>
                </a:lnTo>
                <a:lnTo>
                  <a:pt x="118241" y="25619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5" name="Text 13"/>
          <p:cNvSpPr/>
          <p:nvPr/>
        </p:nvSpPr>
        <p:spPr>
          <a:xfrm>
            <a:off x="6323724" y="1996966"/>
            <a:ext cx="2461172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32483" y="2382345"/>
            <a:ext cx="244365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Pandas, NumPy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04586" y="1397000"/>
            <a:ext cx="2732690" cy="1375103"/>
          </a:xfrm>
          <a:custGeom>
            <a:avLst/>
            <a:gdLst/>
            <a:ahLst/>
            <a:cxnLst/>
            <a:rect l="l" t="t" r="r" b="b"/>
            <a:pathLst>
              <a:path w="2732690" h="1375103">
                <a:moveTo>
                  <a:pt x="0" y="0"/>
                </a:moveTo>
                <a:lnTo>
                  <a:pt x="2732690" y="0"/>
                </a:lnTo>
                <a:lnTo>
                  <a:pt x="2732690" y="1375103"/>
                </a:lnTo>
                <a:lnTo>
                  <a:pt x="0" y="137510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13276" y="1576552"/>
            <a:ext cx="315310" cy="315310"/>
          </a:xfrm>
          <a:custGeom>
            <a:avLst/>
            <a:gdLst/>
            <a:ahLst/>
            <a:cxnLst/>
            <a:rect l="l" t="t" r="r" b="b"/>
            <a:pathLst>
              <a:path w="315310" h="315310">
                <a:moveTo>
                  <a:pt x="39414" y="39414"/>
                </a:moveTo>
                <a:cubicBezTo>
                  <a:pt x="39414" y="28513"/>
                  <a:pt x="30607" y="19707"/>
                  <a:pt x="19707" y="19707"/>
                </a:cubicBezTo>
                <a:cubicBezTo>
                  <a:pt x="8807" y="19707"/>
                  <a:pt x="0" y="28513"/>
                  <a:pt x="0" y="39414"/>
                </a:cubicBezTo>
                <a:lnTo>
                  <a:pt x="0" y="246336"/>
                </a:lnTo>
                <a:cubicBezTo>
                  <a:pt x="0" y="273556"/>
                  <a:pt x="22047" y="295603"/>
                  <a:pt x="49267" y="295603"/>
                </a:cubicBezTo>
                <a:lnTo>
                  <a:pt x="295603" y="295603"/>
                </a:lnTo>
                <a:cubicBezTo>
                  <a:pt x="306504" y="295603"/>
                  <a:pt x="315310" y="286797"/>
                  <a:pt x="315310" y="275897"/>
                </a:cubicBezTo>
                <a:cubicBezTo>
                  <a:pt x="315310" y="264996"/>
                  <a:pt x="306504" y="256190"/>
                  <a:pt x="295603" y="256190"/>
                </a:cubicBezTo>
                <a:lnTo>
                  <a:pt x="49267" y="256190"/>
                </a:lnTo>
                <a:cubicBezTo>
                  <a:pt x="43848" y="256190"/>
                  <a:pt x="39414" y="251756"/>
                  <a:pt x="39414" y="246336"/>
                </a:cubicBezTo>
                <a:lnTo>
                  <a:pt x="39414" y="39414"/>
                </a:lnTo>
                <a:close/>
                <a:moveTo>
                  <a:pt x="289815" y="92746"/>
                </a:moveTo>
                <a:cubicBezTo>
                  <a:pt x="297513" y="85048"/>
                  <a:pt x="297513" y="72546"/>
                  <a:pt x="289815" y="64848"/>
                </a:cubicBezTo>
                <a:cubicBezTo>
                  <a:pt x="282117" y="57150"/>
                  <a:pt x="269615" y="57150"/>
                  <a:pt x="261917" y="64848"/>
                </a:cubicBezTo>
                <a:lnTo>
                  <a:pt x="197069" y="129758"/>
                </a:lnTo>
                <a:lnTo>
                  <a:pt x="161720" y="94470"/>
                </a:lnTo>
                <a:cubicBezTo>
                  <a:pt x="154022" y="86772"/>
                  <a:pt x="141520" y="86772"/>
                  <a:pt x="133822" y="94470"/>
                </a:cubicBezTo>
                <a:lnTo>
                  <a:pt x="74701" y="153591"/>
                </a:lnTo>
                <a:cubicBezTo>
                  <a:pt x="67003" y="161289"/>
                  <a:pt x="67003" y="173790"/>
                  <a:pt x="74701" y="181488"/>
                </a:cubicBezTo>
                <a:cubicBezTo>
                  <a:pt x="82399" y="189186"/>
                  <a:pt x="94901" y="189186"/>
                  <a:pt x="102599" y="181488"/>
                </a:cubicBezTo>
                <a:lnTo>
                  <a:pt x="147802" y="136286"/>
                </a:lnTo>
                <a:lnTo>
                  <a:pt x="183151" y="171635"/>
                </a:lnTo>
                <a:cubicBezTo>
                  <a:pt x="190849" y="179333"/>
                  <a:pt x="203351" y="179333"/>
                  <a:pt x="211049" y="171635"/>
                </a:cubicBezTo>
                <a:lnTo>
                  <a:pt x="289876" y="92807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9" name="Text 17"/>
          <p:cNvSpPr/>
          <p:nvPr/>
        </p:nvSpPr>
        <p:spPr>
          <a:xfrm>
            <a:off x="9240345" y="1996966"/>
            <a:ext cx="2461172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9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49103" y="2382345"/>
            <a:ext cx="244365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Streamlit, Plotly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54724" y="2956034"/>
            <a:ext cx="5631793" cy="3547241"/>
          </a:xfrm>
          <a:custGeom>
            <a:avLst/>
            <a:gdLst/>
            <a:ahLst/>
            <a:cxnLst/>
            <a:rect l="l" t="t" r="r" b="b"/>
            <a:pathLst>
              <a:path w="5631793" h="3547241">
                <a:moveTo>
                  <a:pt x="0" y="0"/>
                </a:moveTo>
                <a:lnTo>
                  <a:pt x="5631793" y="0"/>
                </a:lnTo>
                <a:lnTo>
                  <a:pt x="5631793" y="3547241"/>
                </a:lnTo>
                <a:lnTo>
                  <a:pt x="0" y="3547241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862" y="3196897"/>
            <a:ext cx="157655" cy="210207"/>
          </a:xfrm>
          <a:custGeom>
            <a:avLst/>
            <a:gdLst/>
            <a:ahLst/>
            <a:cxnLst/>
            <a:rect l="l" t="t" r="r" b="b"/>
            <a:pathLst>
              <a:path w="157655" h="210207">
                <a:moveTo>
                  <a:pt x="0" y="26276"/>
                </a:moveTo>
                <a:cubicBezTo>
                  <a:pt x="0" y="11783"/>
                  <a:pt x="11783" y="0"/>
                  <a:pt x="26276" y="0"/>
                </a:cubicBezTo>
                <a:lnTo>
                  <a:pt x="87655" y="0"/>
                </a:lnTo>
                <a:cubicBezTo>
                  <a:pt x="94634" y="0"/>
                  <a:pt x="101326" y="2751"/>
                  <a:pt x="106253" y="7677"/>
                </a:cubicBezTo>
                <a:lnTo>
                  <a:pt x="149978" y="51443"/>
                </a:lnTo>
                <a:cubicBezTo>
                  <a:pt x="154904" y="56370"/>
                  <a:pt x="157655" y="63062"/>
                  <a:pt x="157655" y="70042"/>
                </a:cubicBezTo>
                <a:lnTo>
                  <a:pt x="157655" y="183931"/>
                </a:lnTo>
                <a:cubicBezTo>
                  <a:pt x="157655" y="198424"/>
                  <a:pt x="145872" y="210207"/>
                  <a:pt x="131379" y="210207"/>
                </a:cubicBezTo>
                <a:lnTo>
                  <a:pt x="26276" y="210207"/>
                </a:lnTo>
                <a:cubicBezTo>
                  <a:pt x="11783" y="210207"/>
                  <a:pt x="0" y="198424"/>
                  <a:pt x="0" y="183931"/>
                </a:cubicBezTo>
                <a:lnTo>
                  <a:pt x="0" y="26276"/>
                </a:lnTo>
                <a:close/>
                <a:moveTo>
                  <a:pt x="85397" y="24018"/>
                </a:moveTo>
                <a:lnTo>
                  <a:pt x="85397" y="62405"/>
                </a:lnTo>
                <a:cubicBezTo>
                  <a:pt x="85397" y="67866"/>
                  <a:pt x="89790" y="72259"/>
                  <a:pt x="95250" y="72259"/>
                </a:cubicBezTo>
                <a:lnTo>
                  <a:pt x="133637" y="72259"/>
                </a:lnTo>
                <a:lnTo>
                  <a:pt x="85397" y="24018"/>
                </a:lnTo>
                <a:close/>
                <a:moveTo>
                  <a:pt x="63308" y="121362"/>
                </a:moveTo>
                <a:cubicBezTo>
                  <a:pt x="66839" y="117215"/>
                  <a:pt x="66388" y="111016"/>
                  <a:pt x="62241" y="107485"/>
                </a:cubicBezTo>
                <a:cubicBezTo>
                  <a:pt x="58094" y="103954"/>
                  <a:pt x="51895" y="104405"/>
                  <a:pt x="48364" y="108552"/>
                </a:cubicBezTo>
                <a:lnTo>
                  <a:pt x="28657" y="131544"/>
                </a:lnTo>
                <a:cubicBezTo>
                  <a:pt x="25496" y="135239"/>
                  <a:pt x="25496" y="140658"/>
                  <a:pt x="28657" y="144353"/>
                </a:cubicBezTo>
                <a:lnTo>
                  <a:pt x="48364" y="167344"/>
                </a:lnTo>
                <a:cubicBezTo>
                  <a:pt x="51895" y="171491"/>
                  <a:pt x="58135" y="171943"/>
                  <a:pt x="62241" y="168412"/>
                </a:cubicBezTo>
                <a:cubicBezTo>
                  <a:pt x="66347" y="164881"/>
                  <a:pt x="66839" y="158641"/>
                  <a:pt x="63308" y="154535"/>
                </a:cubicBezTo>
                <a:lnTo>
                  <a:pt x="49103" y="137948"/>
                </a:lnTo>
                <a:lnTo>
                  <a:pt x="63308" y="121362"/>
                </a:lnTo>
                <a:close/>
                <a:moveTo>
                  <a:pt x="109291" y="108552"/>
                </a:moveTo>
                <a:cubicBezTo>
                  <a:pt x="105760" y="104405"/>
                  <a:pt x="99520" y="103954"/>
                  <a:pt x="95414" y="107485"/>
                </a:cubicBezTo>
                <a:cubicBezTo>
                  <a:pt x="91309" y="111016"/>
                  <a:pt x="90816" y="117256"/>
                  <a:pt x="94347" y="121362"/>
                </a:cubicBezTo>
                <a:lnTo>
                  <a:pt x="108552" y="137948"/>
                </a:lnTo>
                <a:lnTo>
                  <a:pt x="94347" y="154535"/>
                </a:lnTo>
                <a:cubicBezTo>
                  <a:pt x="90816" y="158682"/>
                  <a:pt x="91268" y="164881"/>
                  <a:pt x="95414" y="168412"/>
                </a:cubicBezTo>
                <a:cubicBezTo>
                  <a:pt x="99561" y="171943"/>
                  <a:pt x="105760" y="171491"/>
                  <a:pt x="109291" y="167344"/>
                </a:cubicBezTo>
                <a:lnTo>
                  <a:pt x="128998" y="144353"/>
                </a:lnTo>
                <a:cubicBezTo>
                  <a:pt x="132159" y="140658"/>
                  <a:pt x="132159" y="135239"/>
                  <a:pt x="128998" y="131544"/>
                </a:cubicBezTo>
                <a:lnTo>
                  <a:pt x="109291" y="108552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3" name="Text 21"/>
          <p:cNvSpPr/>
          <p:nvPr/>
        </p:nvSpPr>
        <p:spPr>
          <a:xfrm>
            <a:off x="904554" y="3170621"/>
            <a:ext cx="4972480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Dependencies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69310" y="3591034"/>
            <a:ext cx="2548759" cy="420414"/>
          </a:xfrm>
          <a:custGeom>
            <a:avLst/>
            <a:gdLst/>
            <a:ahLst/>
            <a:cxnLst/>
            <a:rect l="l" t="t" r="r" b="b"/>
            <a:pathLst>
              <a:path w="2548759" h="420414">
                <a:moveTo>
                  <a:pt x="0" y="0"/>
                </a:moveTo>
                <a:lnTo>
                  <a:pt x="2548759" y="0"/>
                </a:lnTo>
                <a:lnTo>
                  <a:pt x="2548759" y="420414"/>
                </a:lnTo>
                <a:lnTo>
                  <a:pt x="0" y="4204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74414" y="3696138"/>
            <a:ext cx="394138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torch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758008" y="3713655"/>
            <a:ext cx="315310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2.0.1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23172" y="3591034"/>
            <a:ext cx="2548759" cy="420414"/>
          </a:xfrm>
          <a:custGeom>
            <a:avLst/>
            <a:gdLst/>
            <a:ahLst/>
            <a:cxnLst/>
            <a:rect l="l" t="t" r="r" b="b"/>
            <a:pathLst>
              <a:path w="2548759" h="420414">
                <a:moveTo>
                  <a:pt x="0" y="0"/>
                </a:moveTo>
                <a:lnTo>
                  <a:pt x="2548759" y="0"/>
                </a:lnTo>
                <a:lnTo>
                  <a:pt x="2548759" y="420414"/>
                </a:lnTo>
                <a:lnTo>
                  <a:pt x="0" y="4204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328276" y="3696138"/>
            <a:ext cx="613103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1253" y="3713655"/>
            <a:ext cx="38537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1.25.0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9310" y="4116552"/>
            <a:ext cx="2548759" cy="420414"/>
          </a:xfrm>
          <a:custGeom>
            <a:avLst/>
            <a:gdLst/>
            <a:ahLst/>
            <a:cxnLst/>
            <a:rect l="l" t="t" r="r" b="b"/>
            <a:pathLst>
              <a:path w="2548759" h="420414">
                <a:moveTo>
                  <a:pt x="0" y="0"/>
                </a:moveTo>
                <a:lnTo>
                  <a:pt x="2548759" y="0"/>
                </a:lnTo>
                <a:lnTo>
                  <a:pt x="2548759" y="420414"/>
                </a:lnTo>
                <a:lnTo>
                  <a:pt x="0" y="4204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74414" y="4221655"/>
            <a:ext cx="516759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2734606" y="4239172"/>
            <a:ext cx="341586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2.0.3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223172" y="4116552"/>
            <a:ext cx="2548759" cy="420414"/>
          </a:xfrm>
          <a:custGeom>
            <a:avLst/>
            <a:gdLst/>
            <a:ahLst/>
            <a:cxnLst/>
            <a:rect l="l" t="t" r="r" b="b"/>
            <a:pathLst>
              <a:path w="2548759" h="420414">
                <a:moveTo>
                  <a:pt x="0" y="0"/>
                </a:moveTo>
                <a:lnTo>
                  <a:pt x="2548759" y="0"/>
                </a:lnTo>
                <a:lnTo>
                  <a:pt x="2548759" y="420414"/>
                </a:lnTo>
                <a:lnTo>
                  <a:pt x="0" y="4204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328276" y="4221655"/>
            <a:ext cx="41165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plotly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41801" y="4239172"/>
            <a:ext cx="38537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5.15.0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69310" y="4642069"/>
            <a:ext cx="2548759" cy="420414"/>
          </a:xfrm>
          <a:custGeom>
            <a:avLst/>
            <a:gdLst/>
            <a:ahLst/>
            <a:cxnLst/>
            <a:rect l="l" t="t" r="r" b="b"/>
            <a:pathLst>
              <a:path w="2548759" h="420414">
                <a:moveTo>
                  <a:pt x="0" y="0"/>
                </a:moveTo>
                <a:lnTo>
                  <a:pt x="2548759" y="0"/>
                </a:lnTo>
                <a:lnTo>
                  <a:pt x="2548759" y="420414"/>
                </a:lnTo>
                <a:lnTo>
                  <a:pt x="0" y="4204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74414" y="4747172"/>
            <a:ext cx="499241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numpy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691634" y="4764690"/>
            <a:ext cx="385379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1.24.3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223172" y="4642069"/>
            <a:ext cx="2548759" cy="420414"/>
          </a:xfrm>
          <a:custGeom>
            <a:avLst/>
            <a:gdLst/>
            <a:ahLst/>
            <a:cxnLst/>
            <a:rect l="l" t="t" r="r" b="b"/>
            <a:pathLst>
              <a:path w="2548759" h="420414">
                <a:moveTo>
                  <a:pt x="0" y="0"/>
                </a:moveTo>
                <a:lnTo>
                  <a:pt x="2548759" y="0"/>
                </a:lnTo>
                <a:lnTo>
                  <a:pt x="2548759" y="420414"/>
                </a:lnTo>
                <a:lnTo>
                  <a:pt x="0" y="4204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3328276" y="4747172"/>
            <a:ext cx="762000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410775" y="4764690"/>
            <a:ext cx="315310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1.3.0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05483" y="2956034"/>
            <a:ext cx="5631793" cy="3547241"/>
          </a:xfrm>
          <a:custGeom>
            <a:avLst/>
            <a:gdLst/>
            <a:ahLst/>
            <a:cxnLst/>
            <a:rect l="l" t="t" r="r" b="b"/>
            <a:pathLst>
              <a:path w="5631793" h="3547241">
                <a:moveTo>
                  <a:pt x="0" y="0"/>
                </a:moveTo>
                <a:lnTo>
                  <a:pt x="5631793" y="0"/>
                </a:lnTo>
                <a:lnTo>
                  <a:pt x="5631793" y="3547241"/>
                </a:lnTo>
                <a:lnTo>
                  <a:pt x="0" y="3547241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33207" y="3196897"/>
            <a:ext cx="236483" cy="210207"/>
          </a:xfrm>
          <a:custGeom>
            <a:avLst/>
            <a:gdLst/>
            <a:ahLst/>
            <a:cxnLst/>
            <a:rect l="l" t="t" r="r" b="b"/>
            <a:pathLst>
              <a:path w="236483" h="210207">
                <a:moveTo>
                  <a:pt x="22991" y="92622"/>
                </a:moveTo>
                <a:lnTo>
                  <a:pt x="13302" y="121608"/>
                </a:lnTo>
                <a:lnTo>
                  <a:pt x="13302" y="39414"/>
                </a:lnTo>
                <a:cubicBezTo>
                  <a:pt x="13302" y="24921"/>
                  <a:pt x="25085" y="13138"/>
                  <a:pt x="39578" y="13138"/>
                </a:cubicBezTo>
                <a:lnTo>
                  <a:pt x="96523" y="13138"/>
                </a:lnTo>
                <a:cubicBezTo>
                  <a:pt x="102188" y="13138"/>
                  <a:pt x="107731" y="14985"/>
                  <a:pt x="112288" y="18393"/>
                </a:cubicBezTo>
                <a:lnTo>
                  <a:pt x="128054" y="30217"/>
                </a:lnTo>
                <a:cubicBezTo>
                  <a:pt x="130312" y="31942"/>
                  <a:pt x="133104" y="32845"/>
                  <a:pt x="135937" y="32845"/>
                </a:cubicBezTo>
                <a:lnTo>
                  <a:pt x="184095" y="32845"/>
                </a:lnTo>
                <a:cubicBezTo>
                  <a:pt x="198588" y="32845"/>
                  <a:pt x="210371" y="44628"/>
                  <a:pt x="210371" y="59121"/>
                </a:cubicBezTo>
                <a:lnTo>
                  <a:pt x="210371" y="65690"/>
                </a:lnTo>
                <a:lnTo>
                  <a:pt x="60352" y="65690"/>
                </a:lnTo>
                <a:cubicBezTo>
                  <a:pt x="43396" y="65690"/>
                  <a:pt x="28329" y="76528"/>
                  <a:pt x="22950" y="92622"/>
                </a:cubicBezTo>
                <a:close/>
                <a:moveTo>
                  <a:pt x="196166" y="183931"/>
                </a:moveTo>
                <a:lnTo>
                  <a:pt x="40645" y="183931"/>
                </a:lnTo>
                <a:cubicBezTo>
                  <a:pt x="27179" y="183931"/>
                  <a:pt x="17695" y="170752"/>
                  <a:pt x="21965" y="157984"/>
                </a:cubicBezTo>
                <a:lnTo>
                  <a:pt x="41672" y="98863"/>
                </a:lnTo>
                <a:cubicBezTo>
                  <a:pt x="44341" y="90816"/>
                  <a:pt x="51895" y="85397"/>
                  <a:pt x="60352" y="85397"/>
                </a:cubicBezTo>
                <a:lnTo>
                  <a:pt x="215873" y="85397"/>
                </a:lnTo>
                <a:cubicBezTo>
                  <a:pt x="229339" y="85397"/>
                  <a:pt x="238823" y="98576"/>
                  <a:pt x="234553" y="111344"/>
                </a:cubicBezTo>
                <a:lnTo>
                  <a:pt x="214846" y="170465"/>
                </a:lnTo>
                <a:cubicBezTo>
                  <a:pt x="212178" y="178512"/>
                  <a:pt x="204623" y="183931"/>
                  <a:pt x="196166" y="183931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4" name="Text 42"/>
          <p:cNvSpPr/>
          <p:nvPr/>
        </p:nvSpPr>
        <p:spPr>
          <a:xfrm>
            <a:off x="6755313" y="3170621"/>
            <a:ext cx="4972480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Structure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20069" y="3591034"/>
            <a:ext cx="5202621" cy="595586"/>
          </a:xfrm>
          <a:custGeom>
            <a:avLst/>
            <a:gdLst/>
            <a:ahLst/>
            <a:cxnLst/>
            <a:rect l="l" t="t" r="r" b="b"/>
            <a:pathLst>
              <a:path w="5202621" h="595586">
                <a:moveTo>
                  <a:pt x="0" y="0"/>
                </a:moveTo>
                <a:lnTo>
                  <a:pt x="5202621" y="0"/>
                </a:lnTo>
                <a:lnTo>
                  <a:pt x="5202621" y="595586"/>
                </a:lnTo>
                <a:lnTo>
                  <a:pt x="0" y="5955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560207" y="3818759"/>
            <a:ext cx="105103" cy="140138"/>
          </a:xfrm>
          <a:custGeom>
            <a:avLst/>
            <a:gdLst/>
            <a:ahLst/>
            <a:cxnLst/>
            <a:rect l="l" t="t" r="r" b="b"/>
            <a:pathLst>
              <a:path w="105103" h="140138">
                <a:moveTo>
                  <a:pt x="0" y="17517"/>
                </a:moveTo>
                <a:cubicBezTo>
                  <a:pt x="0" y="7855"/>
                  <a:pt x="7855" y="0"/>
                  <a:pt x="17517" y="0"/>
                </a:cubicBezTo>
                <a:lnTo>
                  <a:pt x="58436" y="0"/>
                </a:lnTo>
                <a:cubicBezTo>
                  <a:pt x="63089" y="0"/>
                  <a:pt x="67551" y="1834"/>
                  <a:pt x="70835" y="5118"/>
                </a:cubicBezTo>
                <a:lnTo>
                  <a:pt x="99985" y="34295"/>
                </a:lnTo>
                <a:cubicBezTo>
                  <a:pt x="103270" y="37580"/>
                  <a:pt x="105103" y="42041"/>
                  <a:pt x="105103" y="46694"/>
                </a:cubicBezTo>
                <a:lnTo>
                  <a:pt x="105103" y="122621"/>
                </a:lnTo>
                <a:cubicBezTo>
                  <a:pt x="105103" y="132283"/>
                  <a:pt x="97248" y="140138"/>
                  <a:pt x="87586" y="140138"/>
                </a:cubicBezTo>
                <a:lnTo>
                  <a:pt x="17517" y="140138"/>
                </a:lnTo>
                <a:cubicBezTo>
                  <a:pt x="7855" y="140138"/>
                  <a:pt x="0" y="132283"/>
                  <a:pt x="0" y="122621"/>
                </a:cubicBezTo>
                <a:lnTo>
                  <a:pt x="0" y="17517"/>
                </a:lnTo>
                <a:close/>
                <a:moveTo>
                  <a:pt x="56931" y="16012"/>
                </a:moveTo>
                <a:lnTo>
                  <a:pt x="56931" y="41603"/>
                </a:lnTo>
                <a:cubicBezTo>
                  <a:pt x="56931" y="45244"/>
                  <a:pt x="59860" y="48172"/>
                  <a:pt x="63500" y="48172"/>
                </a:cubicBezTo>
                <a:lnTo>
                  <a:pt x="89092" y="48172"/>
                </a:lnTo>
                <a:lnTo>
                  <a:pt x="56931" y="16012"/>
                </a:lnTo>
                <a:close/>
                <a:moveTo>
                  <a:pt x="42206" y="80908"/>
                </a:moveTo>
                <a:cubicBezTo>
                  <a:pt x="44559" y="78143"/>
                  <a:pt x="44258" y="74010"/>
                  <a:pt x="41494" y="71656"/>
                </a:cubicBezTo>
                <a:cubicBezTo>
                  <a:pt x="38730" y="69303"/>
                  <a:pt x="34597" y="69604"/>
                  <a:pt x="32243" y="72368"/>
                </a:cubicBezTo>
                <a:lnTo>
                  <a:pt x="19105" y="87696"/>
                </a:lnTo>
                <a:cubicBezTo>
                  <a:pt x="16997" y="90159"/>
                  <a:pt x="16997" y="93772"/>
                  <a:pt x="19105" y="96235"/>
                </a:cubicBezTo>
                <a:lnTo>
                  <a:pt x="32243" y="111563"/>
                </a:lnTo>
                <a:cubicBezTo>
                  <a:pt x="34597" y="114327"/>
                  <a:pt x="38757" y="114628"/>
                  <a:pt x="41494" y="112275"/>
                </a:cubicBezTo>
                <a:cubicBezTo>
                  <a:pt x="44231" y="109921"/>
                  <a:pt x="44559" y="105760"/>
                  <a:pt x="42206" y="103023"/>
                </a:cubicBezTo>
                <a:lnTo>
                  <a:pt x="32735" y="91966"/>
                </a:lnTo>
                <a:lnTo>
                  <a:pt x="42206" y="80908"/>
                </a:lnTo>
                <a:close/>
                <a:moveTo>
                  <a:pt x="72861" y="72368"/>
                </a:moveTo>
                <a:cubicBezTo>
                  <a:pt x="70507" y="69604"/>
                  <a:pt x="66347" y="69303"/>
                  <a:pt x="63609" y="71656"/>
                </a:cubicBezTo>
                <a:cubicBezTo>
                  <a:pt x="60872" y="74010"/>
                  <a:pt x="60544" y="78171"/>
                  <a:pt x="62898" y="80908"/>
                </a:cubicBezTo>
                <a:lnTo>
                  <a:pt x="72368" y="91966"/>
                </a:lnTo>
                <a:lnTo>
                  <a:pt x="62898" y="103023"/>
                </a:lnTo>
                <a:cubicBezTo>
                  <a:pt x="60544" y="105788"/>
                  <a:pt x="60845" y="109921"/>
                  <a:pt x="63609" y="112275"/>
                </a:cubicBezTo>
                <a:cubicBezTo>
                  <a:pt x="66374" y="114628"/>
                  <a:pt x="70507" y="114327"/>
                  <a:pt x="72861" y="111563"/>
                </a:cubicBezTo>
                <a:lnTo>
                  <a:pt x="85999" y="96235"/>
                </a:lnTo>
                <a:cubicBezTo>
                  <a:pt x="88106" y="93772"/>
                  <a:pt x="88106" y="90159"/>
                  <a:pt x="85999" y="87696"/>
                </a:cubicBezTo>
                <a:lnTo>
                  <a:pt x="72861" y="72368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7" name="Text 45"/>
          <p:cNvSpPr/>
          <p:nvPr/>
        </p:nvSpPr>
        <p:spPr>
          <a:xfrm>
            <a:off x="6805448" y="3696138"/>
            <a:ext cx="1786759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app.py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05448" y="3906345"/>
            <a:ext cx="1778000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application entry point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420069" y="4291724"/>
            <a:ext cx="5202621" cy="595586"/>
          </a:xfrm>
          <a:custGeom>
            <a:avLst/>
            <a:gdLst/>
            <a:ahLst/>
            <a:cxnLst/>
            <a:rect l="l" t="t" r="r" b="b"/>
            <a:pathLst>
              <a:path w="5202621" h="595586">
                <a:moveTo>
                  <a:pt x="0" y="0"/>
                </a:moveTo>
                <a:lnTo>
                  <a:pt x="5202621" y="0"/>
                </a:lnTo>
                <a:lnTo>
                  <a:pt x="5202621" y="595586"/>
                </a:lnTo>
                <a:lnTo>
                  <a:pt x="0" y="5955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542690" y="4519448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32845" y="15328"/>
                </a:moveTo>
                <a:cubicBezTo>
                  <a:pt x="32845" y="6870"/>
                  <a:pt x="39715" y="0"/>
                  <a:pt x="48172" y="0"/>
                </a:cubicBezTo>
                <a:lnTo>
                  <a:pt x="54741" y="0"/>
                </a:lnTo>
                <a:cubicBezTo>
                  <a:pt x="59586" y="0"/>
                  <a:pt x="63500" y="3914"/>
                  <a:pt x="63500" y="8759"/>
                </a:cubicBezTo>
                <a:lnTo>
                  <a:pt x="63500" y="131379"/>
                </a:lnTo>
                <a:cubicBezTo>
                  <a:pt x="63500" y="136224"/>
                  <a:pt x="59586" y="140138"/>
                  <a:pt x="54741" y="140138"/>
                </a:cubicBezTo>
                <a:lnTo>
                  <a:pt x="45983" y="140138"/>
                </a:lnTo>
                <a:cubicBezTo>
                  <a:pt x="37826" y="140138"/>
                  <a:pt x="30956" y="134554"/>
                  <a:pt x="29013" y="127000"/>
                </a:cubicBezTo>
                <a:cubicBezTo>
                  <a:pt x="28821" y="127000"/>
                  <a:pt x="28657" y="127000"/>
                  <a:pt x="28466" y="127000"/>
                </a:cubicBezTo>
                <a:cubicBezTo>
                  <a:pt x="16368" y="127000"/>
                  <a:pt x="6569" y="117201"/>
                  <a:pt x="6569" y="105103"/>
                </a:cubicBezTo>
                <a:cubicBezTo>
                  <a:pt x="6569" y="100177"/>
                  <a:pt x="8211" y="95633"/>
                  <a:pt x="10948" y="91966"/>
                </a:cubicBezTo>
                <a:cubicBezTo>
                  <a:pt x="5638" y="87969"/>
                  <a:pt x="2190" y="81619"/>
                  <a:pt x="2190" y="74448"/>
                </a:cubicBezTo>
                <a:cubicBezTo>
                  <a:pt x="2190" y="65991"/>
                  <a:pt x="7007" y="58628"/>
                  <a:pt x="14014" y="54988"/>
                </a:cubicBezTo>
                <a:cubicBezTo>
                  <a:pt x="12070" y="51703"/>
                  <a:pt x="10948" y="47871"/>
                  <a:pt x="10948" y="43793"/>
                </a:cubicBezTo>
                <a:cubicBezTo>
                  <a:pt x="10948" y="31695"/>
                  <a:pt x="20747" y="21897"/>
                  <a:pt x="32845" y="21897"/>
                </a:cubicBezTo>
                <a:lnTo>
                  <a:pt x="32845" y="15328"/>
                </a:lnTo>
                <a:close/>
                <a:moveTo>
                  <a:pt x="107293" y="15328"/>
                </a:moveTo>
                <a:lnTo>
                  <a:pt x="107293" y="21897"/>
                </a:lnTo>
                <a:cubicBezTo>
                  <a:pt x="119391" y="21897"/>
                  <a:pt x="129190" y="31695"/>
                  <a:pt x="129190" y="43793"/>
                </a:cubicBezTo>
                <a:cubicBezTo>
                  <a:pt x="129190" y="47899"/>
                  <a:pt x="128067" y="51731"/>
                  <a:pt x="126124" y="54988"/>
                </a:cubicBezTo>
                <a:cubicBezTo>
                  <a:pt x="133158" y="58628"/>
                  <a:pt x="137948" y="65963"/>
                  <a:pt x="137948" y="74448"/>
                </a:cubicBezTo>
                <a:cubicBezTo>
                  <a:pt x="137948" y="81619"/>
                  <a:pt x="134500" y="87969"/>
                  <a:pt x="129190" y="91966"/>
                </a:cubicBezTo>
                <a:cubicBezTo>
                  <a:pt x="131927" y="95633"/>
                  <a:pt x="133569" y="100177"/>
                  <a:pt x="133569" y="105103"/>
                </a:cubicBezTo>
                <a:cubicBezTo>
                  <a:pt x="133569" y="117201"/>
                  <a:pt x="123770" y="127000"/>
                  <a:pt x="111672" y="127000"/>
                </a:cubicBezTo>
                <a:cubicBezTo>
                  <a:pt x="111481" y="127000"/>
                  <a:pt x="111317" y="127000"/>
                  <a:pt x="111125" y="127000"/>
                </a:cubicBezTo>
                <a:cubicBezTo>
                  <a:pt x="109182" y="134554"/>
                  <a:pt x="102312" y="140138"/>
                  <a:pt x="94155" y="140138"/>
                </a:cubicBezTo>
                <a:lnTo>
                  <a:pt x="85397" y="140138"/>
                </a:lnTo>
                <a:cubicBezTo>
                  <a:pt x="80552" y="140138"/>
                  <a:pt x="76638" y="136224"/>
                  <a:pt x="76638" y="131379"/>
                </a:cubicBezTo>
                <a:lnTo>
                  <a:pt x="76638" y="8759"/>
                </a:lnTo>
                <a:cubicBezTo>
                  <a:pt x="76638" y="3914"/>
                  <a:pt x="80552" y="0"/>
                  <a:pt x="85397" y="0"/>
                </a:cubicBezTo>
                <a:lnTo>
                  <a:pt x="91966" y="0"/>
                </a:lnTo>
                <a:cubicBezTo>
                  <a:pt x="100423" y="0"/>
                  <a:pt x="107293" y="6870"/>
                  <a:pt x="107293" y="15328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1" name="Text 49"/>
          <p:cNvSpPr/>
          <p:nvPr/>
        </p:nvSpPr>
        <p:spPr>
          <a:xfrm>
            <a:off x="6805448" y="4396828"/>
            <a:ext cx="1322552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lstm_model.pkl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05448" y="4607034"/>
            <a:ext cx="1313793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Trained PyTorch model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20069" y="4992414"/>
            <a:ext cx="5202621" cy="595586"/>
          </a:xfrm>
          <a:custGeom>
            <a:avLst/>
            <a:gdLst/>
            <a:ahLst/>
            <a:cxnLst/>
            <a:rect l="l" t="t" r="r" b="b"/>
            <a:pathLst>
              <a:path w="5202621" h="595586">
                <a:moveTo>
                  <a:pt x="0" y="0"/>
                </a:moveTo>
                <a:lnTo>
                  <a:pt x="5202621" y="0"/>
                </a:lnTo>
                <a:lnTo>
                  <a:pt x="5202621" y="595586"/>
                </a:lnTo>
                <a:lnTo>
                  <a:pt x="0" y="5955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51448" y="5220138"/>
            <a:ext cx="122621" cy="140138"/>
          </a:xfrm>
          <a:custGeom>
            <a:avLst/>
            <a:gdLst/>
            <a:ahLst/>
            <a:cxnLst/>
            <a:rect l="l" t="t" r="r" b="b"/>
            <a:pathLst>
              <a:path w="122621" h="140138">
                <a:moveTo>
                  <a:pt x="43793" y="17517"/>
                </a:moveTo>
                <a:cubicBezTo>
                  <a:pt x="43793" y="12673"/>
                  <a:pt x="39879" y="8759"/>
                  <a:pt x="35034" y="8759"/>
                </a:cubicBezTo>
                <a:cubicBezTo>
                  <a:pt x="30190" y="8759"/>
                  <a:pt x="26276" y="12673"/>
                  <a:pt x="26276" y="17517"/>
                </a:cubicBezTo>
                <a:lnTo>
                  <a:pt x="26276" y="35034"/>
                </a:lnTo>
                <a:lnTo>
                  <a:pt x="8759" y="35034"/>
                </a:lnTo>
                <a:cubicBezTo>
                  <a:pt x="3914" y="35034"/>
                  <a:pt x="0" y="38948"/>
                  <a:pt x="0" y="43793"/>
                </a:cubicBezTo>
                <a:cubicBezTo>
                  <a:pt x="0" y="48638"/>
                  <a:pt x="3914" y="52552"/>
                  <a:pt x="8759" y="52552"/>
                </a:cubicBezTo>
                <a:lnTo>
                  <a:pt x="35034" y="52552"/>
                </a:lnTo>
                <a:cubicBezTo>
                  <a:pt x="39879" y="52552"/>
                  <a:pt x="43793" y="48638"/>
                  <a:pt x="43793" y="43793"/>
                </a:cubicBezTo>
                <a:lnTo>
                  <a:pt x="43793" y="17517"/>
                </a:lnTo>
                <a:close/>
                <a:moveTo>
                  <a:pt x="8759" y="87586"/>
                </a:moveTo>
                <a:cubicBezTo>
                  <a:pt x="3914" y="87586"/>
                  <a:pt x="0" y="91500"/>
                  <a:pt x="0" y="96345"/>
                </a:cubicBezTo>
                <a:cubicBezTo>
                  <a:pt x="0" y="101189"/>
                  <a:pt x="3914" y="105103"/>
                  <a:pt x="8759" y="105103"/>
                </a:cubicBezTo>
                <a:lnTo>
                  <a:pt x="26276" y="105103"/>
                </a:lnTo>
                <a:lnTo>
                  <a:pt x="26276" y="122621"/>
                </a:lnTo>
                <a:cubicBezTo>
                  <a:pt x="26276" y="127465"/>
                  <a:pt x="30190" y="131379"/>
                  <a:pt x="35034" y="131379"/>
                </a:cubicBezTo>
                <a:cubicBezTo>
                  <a:pt x="39879" y="131379"/>
                  <a:pt x="43793" y="127465"/>
                  <a:pt x="43793" y="122621"/>
                </a:cubicBezTo>
                <a:lnTo>
                  <a:pt x="43793" y="96345"/>
                </a:lnTo>
                <a:cubicBezTo>
                  <a:pt x="43793" y="91500"/>
                  <a:pt x="39879" y="87586"/>
                  <a:pt x="35034" y="87586"/>
                </a:cubicBezTo>
                <a:lnTo>
                  <a:pt x="8759" y="87586"/>
                </a:lnTo>
                <a:close/>
                <a:moveTo>
                  <a:pt x="96345" y="17517"/>
                </a:moveTo>
                <a:cubicBezTo>
                  <a:pt x="96345" y="12673"/>
                  <a:pt x="92431" y="8759"/>
                  <a:pt x="87586" y="8759"/>
                </a:cubicBezTo>
                <a:cubicBezTo>
                  <a:pt x="82742" y="8759"/>
                  <a:pt x="78828" y="12673"/>
                  <a:pt x="78828" y="17517"/>
                </a:cubicBezTo>
                <a:lnTo>
                  <a:pt x="78828" y="43793"/>
                </a:lnTo>
                <a:cubicBezTo>
                  <a:pt x="78828" y="48638"/>
                  <a:pt x="82742" y="52552"/>
                  <a:pt x="87586" y="52552"/>
                </a:cubicBezTo>
                <a:lnTo>
                  <a:pt x="113862" y="52552"/>
                </a:lnTo>
                <a:cubicBezTo>
                  <a:pt x="118707" y="52552"/>
                  <a:pt x="122621" y="48638"/>
                  <a:pt x="122621" y="43793"/>
                </a:cubicBezTo>
                <a:cubicBezTo>
                  <a:pt x="122621" y="38948"/>
                  <a:pt x="118707" y="35034"/>
                  <a:pt x="113862" y="35034"/>
                </a:cubicBezTo>
                <a:lnTo>
                  <a:pt x="96345" y="35034"/>
                </a:lnTo>
                <a:lnTo>
                  <a:pt x="96345" y="17517"/>
                </a:lnTo>
                <a:close/>
                <a:moveTo>
                  <a:pt x="87586" y="87586"/>
                </a:moveTo>
                <a:cubicBezTo>
                  <a:pt x="82742" y="87586"/>
                  <a:pt x="78828" y="91500"/>
                  <a:pt x="78828" y="96345"/>
                </a:cubicBezTo>
                <a:lnTo>
                  <a:pt x="78828" y="122621"/>
                </a:lnTo>
                <a:cubicBezTo>
                  <a:pt x="78828" y="127465"/>
                  <a:pt x="82742" y="131379"/>
                  <a:pt x="87586" y="131379"/>
                </a:cubicBezTo>
                <a:cubicBezTo>
                  <a:pt x="92431" y="131379"/>
                  <a:pt x="96345" y="127465"/>
                  <a:pt x="96345" y="122621"/>
                </a:cubicBezTo>
                <a:lnTo>
                  <a:pt x="96345" y="105103"/>
                </a:lnTo>
                <a:lnTo>
                  <a:pt x="113862" y="105103"/>
                </a:lnTo>
                <a:cubicBezTo>
                  <a:pt x="118707" y="105103"/>
                  <a:pt x="122621" y="101189"/>
                  <a:pt x="122621" y="96345"/>
                </a:cubicBezTo>
                <a:cubicBezTo>
                  <a:pt x="122621" y="91500"/>
                  <a:pt x="118707" y="87586"/>
                  <a:pt x="113862" y="87586"/>
                </a:cubicBezTo>
                <a:lnTo>
                  <a:pt x="87586" y="8758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5" name="Text 53"/>
          <p:cNvSpPr/>
          <p:nvPr/>
        </p:nvSpPr>
        <p:spPr>
          <a:xfrm>
            <a:off x="6805448" y="5097517"/>
            <a:ext cx="1112345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scaler.pkl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05448" y="5307724"/>
            <a:ext cx="1103586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Saved scaler object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20069" y="5693103"/>
            <a:ext cx="5202621" cy="595586"/>
          </a:xfrm>
          <a:custGeom>
            <a:avLst/>
            <a:gdLst/>
            <a:ahLst/>
            <a:cxnLst/>
            <a:rect l="l" t="t" r="r" b="b"/>
            <a:pathLst>
              <a:path w="5202621" h="595586">
                <a:moveTo>
                  <a:pt x="0" y="0"/>
                </a:moveTo>
                <a:lnTo>
                  <a:pt x="5202621" y="0"/>
                </a:lnTo>
                <a:lnTo>
                  <a:pt x="5202621" y="595586"/>
                </a:lnTo>
                <a:lnTo>
                  <a:pt x="0" y="59558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542690" y="5920828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53400" y="2600"/>
                </a:moveTo>
                <a:cubicBezTo>
                  <a:pt x="54221" y="-1451"/>
                  <a:pt x="57807" y="-4379"/>
                  <a:pt x="61967" y="-4379"/>
                </a:cubicBezTo>
                <a:lnTo>
                  <a:pt x="78335" y="-4379"/>
                </a:lnTo>
                <a:cubicBezTo>
                  <a:pt x="82495" y="-4379"/>
                  <a:pt x="86081" y="-1451"/>
                  <a:pt x="86902" y="2600"/>
                </a:cubicBezTo>
                <a:lnTo>
                  <a:pt x="90871" y="21760"/>
                </a:lnTo>
                <a:cubicBezTo>
                  <a:pt x="94730" y="23402"/>
                  <a:pt x="98343" y="25509"/>
                  <a:pt x="101627" y="28000"/>
                </a:cubicBezTo>
                <a:lnTo>
                  <a:pt x="120185" y="21842"/>
                </a:lnTo>
                <a:cubicBezTo>
                  <a:pt x="124126" y="20528"/>
                  <a:pt x="128451" y="22170"/>
                  <a:pt x="130531" y="25783"/>
                </a:cubicBezTo>
                <a:lnTo>
                  <a:pt x="138715" y="39961"/>
                </a:lnTo>
                <a:cubicBezTo>
                  <a:pt x="140795" y="43574"/>
                  <a:pt x="140056" y="48118"/>
                  <a:pt x="136936" y="50882"/>
                </a:cubicBezTo>
                <a:lnTo>
                  <a:pt x="122347" y="63856"/>
                </a:lnTo>
                <a:cubicBezTo>
                  <a:pt x="122593" y="65881"/>
                  <a:pt x="122703" y="67961"/>
                  <a:pt x="122703" y="70069"/>
                </a:cubicBezTo>
                <a:cubicBezTo>
                  <a:pt x="122703" y="72177"/>
                  <a:pt x="122566" y="74257"/>
                  <a:pt x="122347" y="76282"/>
                </a:cubicBezTo>
                <a:lnTo>
                  <a:pt x="136963" y="89283"/>
                </a:lnTo>
                <a:cubicBezTo>
                  <a:pt x="140083" y="92048"/>
                  <a:pt x="140795" y="96619"/>
                  <a:pt x="138742" y="100204"/>
                </a:cubicBezTo>
                <a:lnTo>
                  <a:pt x="130558" y="114382"/>
                </a:lnTo>
                <a:cubicBezTo>
                  <a:pt x="128478" y="117968"/>
                  <a:pt x="124153" y="119637"/>
                  <a:pt x="120212" y="118323"/>
                </a:cubicBezTo>
                <a:lnTo>
                  <a:pt x="101655" y="112165"/>
                </a:lnTo>
                <a:cubicBezTo>
                  <a:pt x="98343" y="114656"/>
                  <a:pt x="94730" y="116736"/>
                  <a:pt x="90898" y="118406"/>
                </a:cubicBezTo>
                <a:lnTo>
                  <a:pt x="86957" y="137538"/>
                </a:lnTo>
                <a:cubicBezTo>
                  <a:pt x="86108" y="141616"/>
                  <a:pt x="82523" y="144517"/>
                  <a:pt x="78390" y="144517"/>
                </a:cubicBezTo>
                <a:lnTo>
                  <a:pt x="62022" y="144517"/>
                </a:lnTo>
                <a:cubicBezTo>
                  <a:pt x="57862" y="144517"/>
                  <a:pt x="54276" y="141589"/>
                  <a:pt x="53455" y="137538"/>
                </a:cubicBezTo>
                <a:lnTo>
                  <a:pt x="49514" y="118406"/>
                </a:lnTo>
                <a:cubicBezTo>
                  <a:pt x="45654" y="116763"/>
                  <a:pt x="42069" y="114656"/>
                  <a:pt x="38757" y="112165"/>
                </a:cubicBezTo>
                <a:lnTo>
                  <a:pt x="20117" y="118323"/>
                </a:lnTo>
                <a:cubicBezTo>
                  <a:pt x="16176" y="119637"/>
                  <a:pt x="11852" y="117995"/>
                  <a:pt x="9771" y="114382"/>
                </a:cubicBezTo>
                <a:lnTo>
                  <a:pt x="1588" y="100204"/>
                </a:lnTo>
                <a:cubicBezTo>
                  <a:pt x="-493" y="96591"/>
                  <a:pt x="246" y="92048"/>
                  <a:pt x="3367" y="89283"/>
                </a:cubicBezTo>
                <a:lnTo>
                  <a:pt x="17983" y="76282"/>
                </a:lnTo>
                <a:cubicBezTo>
                  <a:pt x="17736" y="74257"/>
                  <a:pt x="17627" y="72177"/>
                  <a:pt x="17627" y="70069"/>
                </a:cubicBezTo>
                <a:cubicBezTo>
                  <a:pt x="17627" y="67961"/>
                  <a:pt x="17764" y="65881"/>
                  <a:pt x="17983" y="63856"/>
                </a:cubicBezTo>
                <a:lnTo>
                  <a:pt x="3367" y="50855"/>
                </a:lnTo>
                <a:cubicBezTo>
                  <a:pt x="246" y="48090"/>
                  <a:pt x="-465" y="43519"/>
                  <a:pt x="1588" y="39934"/>
                </a:cubicBezTo>
                <a:lnTo>
                  <a:pt x="9771" y="25756"/>
                </a:lnTo>
                <a:cubicBezTo>
                  <a:pt x="11852" y="22143"/>
                  <a:pt x="16176" y="20501"/>
                  <a:pt x="20117" y="21814"/>
                </a:cubicBezTo>
                <a:lnTo>
                  <a:pt x="38675" y="27973"/>
                </a:lnTo>
                <a:cubicBezTo>
                  <a:pt x="41987" y="25482"/>
                  <a:pt x="45600" y="23402"/>
                  <a:pt x="49431" y="21732"/>
                </a:cubicBezTo>
                <a:lnTo>
                  <a:pt x="53400" y="2600"/>
                </a:lnTo>
                <a:close/>
                <a:moveTo>
                  <a:pt x="70151" y="91966"/>
                </a:moveTo>
                <a:cubicBezTo>
                  <a:pt x="77974" y="91936"/>
                  <a:pt x="85187" y="87736"/>
                  <a:pt x="89073" y="80946"/>
                </a:cubicBezTo>
                <a:cubicBezTo>
                  <a:pt x="92959" y="74157"/>
                  <a:pt x="92928" y="65810"/>
                  <a:pt x="88991" y="59050"/>
                </a:cubicBezTo>
                <a:cubicBezTo>
                  <a:pt x="85054" y="52289"/>
                  <a:pt x="77810" y="48143"/>
                  <a:pt x="69987" y="48172"/>
                </a:cubicBezTo>
                <a:cubicBezTo>
                  <a:pt x="62164" y="48202"/>
                  <a:pt x="54951" y="52402"/>
                  <a:pt x="51065" y="59192"/>
                </a:cubicBezTo>
                <a:cubicBezTo>
                  <a:pt x="47179" y="65981"/>
                  <a:pt x="47210" y="74328"/>
                  <a:pt x="51147" y="81088"/>
                </a:cubicBezTo>
                <a:cubicBezTo>
                  <a:pt x="55084" y="87849"/>
                  <a:pt x="62328" y="91995"/>
                  <a:pt x="70151" y="91966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9" name="Text 57"/>
          <p:cNvSpPr/>
          <p:nvPr/>
        </p:nvSpPr>
        <p:spPr>
          <a:xfrm>
            <a:off x="6805448" y="5798207"/>
            <a:ext cx="1270000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app_config.json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805448" y="6008414"/>
            <a:ext cx="1261241" cy="17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6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Configuration settings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-star.edu.sg/24bd5bec63fb551f3baa1f00903f7f55aafedbae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12440" b="1244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Text 2"/>
          <p:cNvSpPr/>
          <p:nvPr/>
        </p:nvSpPr>
        <p:spPr>
          <a:xfrm>
            <a:off x="471636" y="1438275"/>
            <a:ext cx="10191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2668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486025"/>
            <a:ext cx="11858625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Features &amp;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00A9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Demo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10075"/>
            <a:ext cx="7458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capabilities and user experience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443538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0" name="Text 7"/>
          <p:cNvSpPr/>
          <p:nvPr/>
        </p:nvSpPr>
        <p:spPr>
          <a:xfrm>
            <a:off x="1905000" y="5324475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Intelligence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spc="175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&amp;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Dashboard: Real-Time Monitoring Interface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762000" cy="23813"/>
          </a:xfrm>
          <a:custGeom>
            <a:avLst/>
            <a:gdLst/>
            <a:ahLst/>
            <a:cxnLst/>
            <a:rect l="l" t="t" r="r" b="b"/>
            <a:pathLst>
              <a:path w="762000" h="23813">
                <a:moveTo>
                  <a:pt x="0" y="0"/>
                </a:moveTo>
                <a:lnTo>
                  <a:pt x="762000" y="0"/>
                </a:lnTo>
                <a:lnTo>
                  <a:pt x="762000" y="23813"/>
                </a:lnTo>
                <a:lnTo>
                  <a:pt x="0" y="23813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39031"/>
            <a:ext cx="7651750" cy="2801938"/>
          </a:xfrm>
          <a:custGeom>
            <a:avLst/>
            <a:gdLst/>
            <a:ahLst/>
            <a:cxnLst/>
            <a:rect l="l" t="t" r="r" b="b"/>
            <a:pathLst>
              <a:path w="7651750" h="2801938">
                <a:moveTo>
                  <a:pt x="0" y="0"/>
                </a:moveTo>
                <a:lnTo>
                  <a:pt x="7651750" y="0"/>
                </a:lnTo>
                <a:lnTo>
                  <a:pt x="7651750" y="2801938"/>
                </a:lnTo>
                <a:lnTo>
                  <a:pt x="0" y="280193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8000" y="132556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130969"/>
                </a:lnTo>
                <a:cubicBezTo>
                  <a:pt x="0" y="144103"/>
                  <a:pt x="10678" y="154781"/>
                  <a:pt x="23812" y="154781"/>
                </a:cubicBezTo>
                <a:lnTo>
                  <a:pt x="77391" y="154781"/>
                </a:lnTo>
                <a:lnTo>
                  <a:pt x="71438" y="172641"/>
                </a:lnTo>
                <a:lnTo>
                  <a:pt x="44648" y="172641"/>
                </a:lnTo>
                <a:cubicBezTo>
                  <a:pt x="39700" y="172641"/>
                  <a:pt x="35719" y="176622"/>
                  <a:pt x="35719" y="181570"/>
                </a:cubicBezTo>
                <a:cubicBezTo>
                  <a:pt x="35719" y="186519"/>
                  <a:pt x="39700" y="190500"/>
                  <a:pt x="44648" y="190500"/>
                </a:cubicBezTo>
                <a:lnTo>
                  <a:pt x="145852" y="190500"/>
                </a:lnTo>
                <a:cubicBezTo>
                  <a:pt x="150800" y="190500"/>
                  <a:pt x="154781" y="186519"/>
                  <a:pt x="154781" y="181570"/>
                </a:cubicBezTo>
                <a:cubicBezTo>
                  <a:pt x="154781" y="176622"/>
                  <a:pt x="150800" y="172641"/>
                  <a:pt x="145852" y="172641"/>
                </a:cubicBezTo>
                <a:lnTo>
                  <a:pt x="119063" y="172641"/>
                </a:lnTo>
                <a:lnTo>
                  <a:pt x="113109" y="154781"/>
                </a:lnTo>
                <a:lnTo>
                  <a:pt x="166688" y="154781"/>
                </a:lnTo>
                <a:cubicBezTo>
                  <a:pt x="179822" y="154781"/>
                  <a:pt x="190500" y="144103"/>
                  <a:pt x="190500" y="130969"/>
                </a:cubicBezTo>
                <a:lnTo>
                  <a:pt x="190500" y="35719"/>
                </a:lnTo>
                <a:cubicBezTo>
                  <a:pt x="190500" y="22585"/>
                  <a:pt x="179822" y="11906"/>
                  <a:pt x="166688" y="11906"/>
                </a:cubicBezTo>
                <a:lnTo>
                  <a:pt x="23812" y="11906"/>
                </a:lnTo>
                <a:close/>
                <a:moveTo>
                  <a:pt x="35719" y="35719"/>
                </a:moveTo>
                <a:lnTo>
                  <a:pt x="154781" y="35719"/>
                </a:lnTo>
                <a:cubicBezTo>
                  <a:pt x="161367" y="35719"/>
                  <a:pt x="166688" y="41039"/>
                  <a:pt x="166688" y="47625"/>
                </a:cubicBezTo>
                <a:lnTo>
                  <a:pt x="166688" y="107156"/>
                </a:lnTo>
                <a:cubicBezTo>
                  <a:pt x="166688" y="113742"/>
                  <a:pt x="161367" y="119063"/>
                  <a:pt x="154781" y="119063"/>
                </a:cubicBezTo>
                <a:lnTo>
                  <a:pt x="35719" y="119063"/>
                </a:lnTo>
                <a:cubicBezTo>
                  <a:pt x="29133" y="119063"/>
                  <a:pt x="23812" y="113742"/>
                  <a:pt x="23812" y="107156"/>
                </a:cubicBezTo>
                <a:lnTo>
                  <a:pt x="23812" y="47625"/>
                </a:lnTo>
                <a:cubicBezTo>
                  <a:pt x="23812" y="41039"/>
                  <a:pt x="29133" y="35719"/>
                  <a:pt x="35719" y="35719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781844" y="1301750"/>
            <a:ext cx="712390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Dashboard Features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187" y="1682750"/>
            <a:ext cx="7389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user-friendly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Streamlit application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loads the trained model and provides real-time visualization of engine health status, urgency levels, and maintenance priorities.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0063" y="2254250"/>
            <a:ext cx="3587750" cy="698500"/>
          </a:xfrm>
          <a:custGeom>
            <a:avLst/>
            <a:gdLst/>
            <a:ahLst/>
            <a:cxnLst/>
            <a:rect l="l" t="t" r="r" b="b"/>
            <a:pathLst>
              <a:path w="3587750" h="698500">
                <a:moveTo>
                  <a:pt x="0" y="0"/>
                </a:moveTo>
                <a:lnTo>
                  <a:pt x="3587750" y="0"/>
                </a:lnTo>
                <a:lnTo>
                  <a:pt x="3587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0063" y="2254250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Shape 9"/>
          <p:cNvSpPr/>
          <p:nvPr/>
        </p:nvSpPr>
        <p:spPr>
          <a:xfrm>
            <a:off x="662781" y="24130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33455"/>
                </a:moveTo>
                <a:lnTo>
                  <a:pt x="74724" y="27006"/>
                </a:lnTo>
                <a:cubicBezTo>
                  <a:pt x="66973" y="16278"/>
                  <a:pt x="54539" y="9922"/>
                  <a:pt x="41269" y="9922"/>
                </a:cubicBezTo>
                <a:cubicBezTo>
                  <a:pt x="18479" y="9922"/>
                  <a:pt x="0" y="28401"/>
                  <a:pt x="0" y="51191"/>
                </a:cubicBezTo>
                <a:lnTo>
                  <a:pt x="0" y="51997"/>
                </a:lnTo>
                <a:cubicBezTo>
                  <a:pt x="0" y="59314"/>
                  <a:pt x="1922" y="66880"/>
                  <a:pt x="5147" y="74414"/>
                </a:cubicBezTo>
                <a:lnTo>
                  <a:pt x="38013" y="74414"/>
                </a:lnTo>
                <a:cubicBezTo>
                  <a:pt x="39005" y="74414"/>
                  <a:pt x="39905" y="73825"/>
                  <a:pt x="40308" y="72895"/>
                </a:cubicBezTo>
                <a:lnTo>
                  <a:pt x="50167" y="49237"/>
                </a:lnTo>
                <a:cubicBezTo>
                  <a:pt x="51315" y="46509"/>
                  <a:pt x="53981" y="44710"/>
                  <a:pt x="56927" y="44648"/>
                </a:cubicBezTo>
                <a:cubicBezTo>
                  <a:pt x="59872" y="44586"/>
                  <a:pt x="62601" y="46323"/>
                  <a:pt x="63810" y="49020"/>
                </a:cubicBezTo>
                <a:lnTo>
                  <a:pt x="79716" y="84336"/>
                </a:lnTo>
                <a:lnTo>
                  <a:pt x="92552" y="58663"/>
                </a:lnTo>
                <a:cubicBezTo>
                  <a:pt x="93824" y="56152"/>
                  <a:pt x="96397" y="54539"/>
                  <a:pt x="99219" y="54539"/>
                </a:cubicBezTo>
                <a:cubicBezTo>
                  <a:pt x="102040" y="54539"/>
                  <a:pt x="104614" y="56121"/>
                  <a:pt x="105885" y="58663"/>
                </a:cubicBezTo>
                <a:lnTo>
                  <a:pt x="113078" y="73019"/>
                </a:lnTo>
                <a:cubicBezTo>
                  <a:pt x="113512" y="73856"/>
                  <a:pt x="114350" y="74383"/>
                  <a:pt x="115311" y="74383"/>
                </a:cubicBezTo>
                <a:lnTo>
                  <a:pt x="153634" y="74383"/>
                </a:lnTo>
                <a:cubicBezTo>
                  <a:pt x="156890" y="66849"/>
                  <a:pt x="158781" y="59283"/>
                  <a:pt x="158781" y="51966"/>
                </a:cubicBezTo>
                <a:lnTo>
                  <a:pt x="158781" y="51160"/>
                </a:lnTo>
                <a:cubicBezTo>
                  <a:pt x="158750" y="28401"/>
                  <a:pt x="140271" y="9922"/>
                  <a:pt x="117481" y="9922"/>
                </a:cubicBezTo>
                <a:cubicBezTo>
                  <a:pt x="104242" y="9922"/>
                  <a:pt x="91777" y="16278"/>
                  <a:pt x="84026" y="27006"/>
                </a:cubicBezTo>
                <a:lnTo>
                  <a:pt x="79375" y="33424"/>
                </a:lnTo>
                <a:close/>
                <a:moveTo>
                  <a:pt x="145604" y="89297"/>
                </a:moveTo>
                <a:lnTo>
                  <a:pt x="115280" y="89297"/>
                </a:lnTo>
                <a:cubicBezTo>
                  <a:pt x="108707" y="89297"/>
                  <a:pt x="102691" y="85576"/>
                  <a:pt x="99746" y="79685"/>
                </a:cubicBezTo>
                <a:lnTo>
                  <a:pt x="99219" y="78631"/>
                </a:lnTo>
                <a:lnTo>
                  <a:pt x="86041" y="105017"/>
                </a:lnTo>
                <a:cubicBezTo>
                  <a:pt x="84770" y="107590"/>
                  <a:pt x="82104" y="109203"/>
                  <a:pt x="79220" y="109141"/>
                </a:cubicBezTo>
                <a:cubicBezTo>
                  <a:pt x="76336" y="109079"/>
                  <a:pt x="73763" y="107373"/>
                  <a:pt x="72585" y="104769"/>
                </a:cubicBezTo>
                <a:lnTo>
                  <a:pt x="57299" y="70817"/>
                </a:lnTo>
                <a:lnTo>
                  <a:pt x="54043" y="78631"/>
                </a:lnTo>
                <a:cubicBezTo>
                  <a:pt x="51346" y="85111"/>
                  <a:pt x="45021" y="89328"/>
                  <a:pt x="38013" y="89328"/>
                </a:cubicBezTo>
                <a:lnTo>
                  <a:pt x="13146" y="89328"/>
                </a:lnTo>
                <a:cubicBezTo>
                  <a:pt x="27781" y="112210"/>
                  <a:pt x="51284" y="133263"/>
                  <a:pt x="65980" y="144487"/>
                </a:cubicBezTo>
                <a:cubicBezTo>
                  <a:pt x="69825" y="147402"/>
                  <a:pt x="74538" y="148859"/>
                  <a:pt x="79344" y="148859"/>
                </a:cubicBezTo>
                <a:cubicBezTo>
                  <a:pt x="84150" y="148859"/>
                  <a:pt x="88894" y="147433"/>
                  <a:pt x="92708" y="144487"/>
                </a:cubicBezTo>
                <a:cubicBezTo>
                  <a:pt x="107466" y="133232"/>
                  <a:pt x="130969" y="112179"/>
                  <a:pt x="145604" y="89297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936625" y="2381250"/>
            <a:ext cx="2833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Status Visualization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6625" y="2635250"/>
            <a:ext cx="282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Color-coded engine states for instant assessment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27959" y="2254250"/>
            <a:ext cx="3587750" cy="698500"/>
          </a:xfrm>
          <a:custGeom>
            <a:avLst/>
            <a:gdLst/>
            <a:ahLst/>
            <a:cxnLst/>
            <a:rect l="l" t="t" r="r" b="b"/>
            <a:pathLst>
              <a:path w="3587750" h="698500">
                <a:moveTo>
                  <a:pt x="0" y="0"/>
                </a:moveTo>
                <a:lnTo>
                  <a:pt x="3587750" y="0"/>
                </a:lnTo>
                <a:lnTo>
                  <a:pt x="3587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27959" y="2254250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10521" y="2413000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922" y="0"/>
                </a:moveTo>
                <a:cubicBezTo>
                  <a:pt x="4434" y="0"/>
                  <a:pt x="0" y="4434"/>
                  <a:pt x="0" y="9922"/>
                </a:cubicBezTo>
                <a:cubicBezTo>
                  <a:pt x="0" y="15410"/>
                  <a:pt x="4434" y="19844"/>
                  <a:pt x="9922" y="19844"/>
                </a:cubicBezTo>
                <a:lnTo>
                  <a:pt x="9922" y="23254"/>
                </a:lnTo>
                <a:cubicBezTo>
                  <a:pt x="9922" y="36401"/>
                  <a:pt x="15162" y="49020"/>
                  <a:pt x="24464" y="58322"/>
                </a:cubicBezTo>
                <a:lnTo>
                  <a:pt x="45517" y="79375"/>
                </a:lnTo>
                <a:lnTo>
                  <a:pt x="24464" y="100428"/>
                </a:lnTo>
                <a:cubicBezTo>
                  <a:pt x="15162" y="109730"/>
                  <a:pt x="9922" y="122349"/>
                  <a:pt x="9922" y="135496"/>
                </a:cubicBezTo>
                <a:lnTo>
                  <a:pt x="9922" y="138906"/>
                </a:lnTo>
                <a:cubicBezTo>
                  <a:pt x="4434" y="138906"/>
                  <a:pt x="0" y="143340"/>
                  <a:pt x="0" y="148828"/>
                </a:cubicBezTo>
                <a:cubicBezTo>
                  <a:pt x="0" y="154316"/>
                  <a:pt x="4434" y="158750"/>
                  <a:pt x="9922" y="158750"/>
                </a:cubicBezTo>
                <a:lnTo>
                  <a:pt x="109141" y="158750"/>
                </a:lnTo>
                <a:cubicBezTo>
                  <a:pt x="114629" y="158750"/>
                  <a:pt x="119062" y="154316"/>
                  <a:pt x="119062" y="148828"/>
                </a:cubicBezTo>
                <a:cubicBezTo>
                  <a:pt x="119062" y="143340"/>
                  <a:pt x="114629" y="138906"/>
                  <a:pt x="109141" y="138906"/>
                </a:cubicBezTo>
                <a:lnTo>
                  <a:pt x="109141" y="135496"/>
                </a:lnTo>
                <a:cubicBezTo>
                  <a:pt x="109141" y="122349"/>
                  <a:pt x="103901" y="109730"/>
                  <a:pt x="94599" y="100428"/>
                </a:cubicBezTo>
                <a:lnTo>
                  <a:pt x="73546" y="79375"/>
                </a:lnTo>
                <a:lnTo>
                  <a:pt x="94599" y="58322"/>
                </a:lnTo>
                <a:cubicBezTo>
                  <a:pt x="103901" y="49020"/>
                  <a:pt x="109141" y="36401"/>
                  <a:pt x="109141" y="23254"/>
                </a:cubicBezTo>
                <a:lnTo>
                  <a:pt x="109141" y="19844"/>
                </a:lnTo>
                <a:cubicBezTo>
                  <a:pt x="114629" y="19844"/>
                  <a:pt x="119062" y="15410"/>
                  <a:pt x="119062" y="9922"/>
                </a:cubicBezTo>
                <a:cubicBezTo>
                  <a:pt x="119062" y="4434"/>
                  <a:pt x="114629" y="0"/>
                  <a:pt x="109141" y="0"/>
                </a:cubicBezTo>
                <a:lnTo>
                  <a:pt x="9922" y="0"/>
                </a:lnTo>
                <a:close/>
                <a:moveTo>
                  <a:pt x="29766" y="23254"/>
                </a:moveTo>
                <a:lnTo>
                  <a:pt x="29766" y="19844"/>
                </a:lnTo>
                <a:lnTo>
                  <a:pt x="89297" y="19844"/>
                </a:lnTo>
                <a:lnTo>
                  <a:pt x="89297" y="23254"/>
                </a:lnTo>
                <a:cubicBezTo>
                  <a:pt x="89297" y="29146"/>
                  <a:pt x="87561" y="34851"/>
                  <a:pt x="84336" y="39688"/>
                </a:cubicBezTo>
                <a:lnTo>
                  <a:pt x="34727" y="39688"/>
                </a:lnTo>
                <a:cubicBezTo>
                  <a:pt x="31533" y="34851"/>
                  <a:pt x="29766" y="29146"/>
                  <a:pt x="29766" y="23254"/>
                </a:cubicBezTo>
                <a:close/>
                <a:moveTo>
                  <a:pt x="34727" y="119062"/>
                </a:moveTo>
                <a:cubicBezTo>
                  <a:pt x="35812" y="117419"/>
                  <a:pt x="37083" y="115869"/>
                  <a:pt x="38478" y="114443"/>
                </a:cubicBezTo>
                <a:lnTo>
                  <a:pt x="59531" y="93390"/>
                </a:lnTo>
                <a:lnTo>
                  <a:pt x="80584" y="114443"/>
                </a:lnTo>
                <a:cubicBezTo>
                  <a:pt x="82010" y="115869"/>
                  <a:pt x="83251" y="117419"/>
                  <a:pt x="84367" y="119062"/>
                </a:cubicBezTo>
                <a:lnTo>
                  <a:pt x="34727" y="119062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4664521" y="2381250"/>
            <a:ext cx="2460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 Prediction Display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64521" y="2635250"/>
            <a:ext cx="24526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Exact cycles remaining and estimated days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063" y="3079750"/>
            <a:ext cx="3587750" cy="698500"/>
          </a:xfrm>
          <a:custGeom>
            <a:avLst/>
            <a:gdLst/>
            <a:ahLst/>
            <a:cxnLst/>
            <a:rect l="l" t="t" r="r" b="b"/>
            <a:pathLst>
              <a:path w="3587750" h="698500">
                <a:moveTo>
                  <a:pt x="0" y="0"/>
                </a:moveTo>
                <a:lnTo>
                  <a:pt x="3587750" y="0"/>
                </a:lnTo>
                <a:lnTo>
                  <a:pt x="3587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0063" y="3079750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1" name="Shape 19"/>
          <p:cNvSpPr/>
          <p:nvPr/>
        </p:nvSpPr>
        <p:spPr>
          <a:xfrm>
            <a:off x="662781" y="3238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22324"/>
                </a:moveTo>
                <a:cubicBezTo>
                  <a:pt x="0" y="18231"/>
                  <a:pt x="3318" y="14883"/>
                  <a:pt x="7441" y="14883"/>
                </a:cubicBezTo>
                <a:lnTo>
                  <a:pt x="22324" y="14883"/>
                </a:lnTo>
                <a:cubicBezTo>
                  <a:pt x="26448" y="14883"/>
                  <a:pt x="29766" y="18200"/>
                  <a:pt x="29766" y="22324"/>
                </a:cubicBezTo>
                <a:lnTo>
                  <a:pt x="29766" y="54570"/>
                </a:lnTo>
                <a:lnTo>
                  <a:pt x="37207" y="54570"/>
                </a:lnTo>
                <a:cubicBezTo>
                  <a:pt x="41331" y="54570"/>
                  <a:pt x="44648" y="57888"/>
                  <a:pt x="44648" y="62012"/>
                </a:cubicBezTo>
                <a:cubicBezTo>
                  <a:pt x="44648" y="66135"/>
                  <a:pt x="41331" y="69453"/>
                  <a:pt x="37207" y="69453"/>
                </a:cubicBezTo>
                <a:lnTo>
                  <a:pt x="7441" y="69453"/>
                </a:lnTo>
                <a:cubicBezTo>
                  <a:pt x="3318" y="69453"/>
                  <a:pt x="0" y="66135"/>
                  <a:pt x="0" y="62012"/>
                </a:cubicBezTo>
                <a:cubicBezTo>
                  <a:pt x="0" y="57888"/>
                  <a:pt x="3318" y="54570"/>
                  <a:pt x="7441" y="54570"/>
                </a:cubicBezTo>
                <a:lnTo>
                  <a:pt x="14883" y="54570"/>
                </a:lnTo>
                <a:lnTo>
                  <a:pt x="14883" y="29766"/>
                </a:lnTo>
                <a:lnTo>
                  <a:pt x="7441" y="29766"/>
                </a:lnTo>
                <a:cubicBezTo>
                  <a:pt x="3318" y="29766"/>
                  <a:pt x="0" y="26448"/>
                  <a:pt x="0" y="22324"/>
                </a:cubicBezTo>
                <a:close/>
                <a:moveTo>
                  <a:pt x="9426" y="93390"/>
                </a:moveTo>
                <a:cubicBezTo>
                  <a:pt x="12960" y="90723"/>
                  <a:pt x="17270" y="89297"/>
                  <a:pt x="21704" y="89297"/>
                </a:cubicBezTo>
                <a:lnTo>
                  <a:pt x="23223" y="89297"/>
                </a:lnTo>
                <a:cubicBezTo>
                  <a:pt x="33672" y="89297"/>
                  <a:pt x="42168" y="97792"/>
                  <a:pt x="42168" y="108241"/>
                </a:cubicBezTo>
                <a:cubicBezTo>
                  <a:pt x="42168" y="114319"/>
                  <a:pt x="39253" y="119993"/>
                  <a:pt x="34354" y="123558"/>
                </a:cubicBezTo>
                <a:lnTo>
                  <a:pt x="26913" y="128984"/>
                </a:lnTo>
                <a:lnTo>
                  <a:pt x="37207" y="128984"/>
                </a:lnTo>
                <a:cubicBezTo>
                  <a:pt x="41331" y="128984"/>
                  <a:pt x="44648" y="132302"/>
                  <a:pt x="44648" y="136426"/>
                </a:cubicBezTo>
                <a:cubicBezTo>
                  <a:pt x="44648" y="140550"/>
                  <a:pt x="41331" y="143867"/>
                  <a:pt x="37207" y="143867"/>
                </a:cubicBezTo>
                <a:lnTo>
                  <a:pt x="9085" y="143867"/>
                </a:lnTo>
                <a:cubicBezTo>
                  <a:pt x="4062" y="143867"/>
                  <a:pt x="0" y="139805"/>
                  <a:pt x="0" y="134782"/>
                </a:cubicBezTo>
                <a:cubicBezTo>
                  <a:pt x="0" y="131868"/>
                  <a:pt x="1395" y="129139"/>
                  <a:pt x="3752" y="127434"/>
                </a:cubicBezTo>
                <a:lnTo>
                  <a:pt x="25611" y="111528"/>
                </a:lnTo>
                <a:cubicBezTo>
                  <a:pt x="26665" y="110753"/>
                  <a:pt x="27285" y="109544"/>
                  <a:pt x="27285" y="108241"/>
                </a:cubicBezTo>
                <a:cubicBezTo>
                  <a:pt x="27285" y="106009"/>
                  <a:pt x="25456" y="104180"/>
                  <a:pt x="23223" y="104180"/>
                </a:cubicBezTo>
                <a:lnTo>
                  <a:pt x="21704" y="104180"/>
                </a:lnTo>
                <a:cubicBezTo>
                  <a:pt x="20495" y="104180"/>
                  <a:pt x="19317" y="104583"/>
                  <a:pt x="18355" y="105296"/>
                </a:cubicBezTo>
                <a:lnTo>
                  <a:pt x="11906" y="110133"/>
                </a:lnTo>
                <a:cubicBezTo>
                  <a:pt x="8620" y="112613"/>
                  <a:pt x="3969" y="111931"/>
                  <a:pt x="1488" y="108645"/>
                </a:cubicBezTo>
                <a:cubicBezTo>
                  <a:pt x="-992" y="105358"/>
                  <a:pt x="-310" y="100707"/>
                  <a:pt x="2977" y="98227"/>
                </a:cubicBezTo>
                <a:lnTo>
                  <a:pt x="9426" y="93390"/>
                </a:lnTo>
                <a:close/>
                <a:moveTo>
                  <a:pt x="69453" y="19844"/>
                </a:moveTo>
                <a:lnTo>
                  <a:pt x="148828" y="19844"/>
                </a:lnTo>
                <a:cubicBezTo>
                  <a:pt x="154316" y="19844"/>
                  <a:pt x="158750" y="24278"/>
                  <a:pt x="158750" y="29766"/>
                </a:cubicBezTo>
                <a:cubicBezTo>
                  <a:pt x="158750" y="35254"/>
                  <a:pt x="154316" y="39688"/>
                  <a:pt x="148828" y="39688"/>
                </a:cubicBezTo>
                <a:lnTo>
                  <a:pt x="69453" y="39688"/>
                </a:lnTo>
                <a:cubicBezTo>
                  <a:pt x="63965" y="39688"/>
                  <a:pt x="59531" y="35254"/>
                  <a:pt x="59531" y="29766"/>
                </a:cubicBezTo>
                <a:cubicBezTo>
                  <a:pt x="59531" y="24278"/>
                  <a:pt x="63965" y="19844"/>
                  <a:pt x="69453" y="19844"/>
                </a:cubicBezTo>
                <a:close/>
                <a:moveTo>
                  <a:pt x="69453" y="69453"/>
                </a:moveTo>
                <a:lnTo>
                  <a:pt x="148828" y="69453"/>
                </a:lnTo>
                <a:cubicBezTo>
                  <a:pt x="154316" y="69453"/>
                  <a:pt x="158750" y="73887"/>
                  <a:pt x="158750" y="79375"/>
                </a:cubicBezTo>
                <a:cubicBezTo>
                  <a:pt x="158750" y="84863"/>
                  <a:pt x="154316" y="89297"/>
                  <a:pt x="148828" y="89297"/>
                </a:cubicBezTo>
                <a:lnTo>
                  <a:pt x="69453" y="89297"/>
                </a:lnTo>
                <a:cubicBezTo>
                  <a:pt x="63965" y="89297"/>
                  <a:pt x="59531" y="84863"/>
                  <a:pt x="59531" y="79375"/>
                </a:cubicBezTo>
                <a:cubicBezTo>
                  <a:pt x="59531" y="73887"/>
                  <a:pt x="63965" y="69453"/>
                  <a:pt x="69453" y="69453"/>
                </a:cubicBezTo>
                <a:close/>
                <a:moveTo>
                  <a:pt x="69453" y="119062"/>
                </a:moveTo>
                <a:lnTo>
                  <a:pt x="148828" y="119062"/>
                </a:lnTo>
                <a:cubicBezTo>
                  <a:pt x="154316" y="119062"/>
                  <a:pt x="158750" y="123496"/>
                  <a:pt x="158750" y="128984"/>
                </a:cubicBezTo>
                <a:cubicBezTo>
                  <a:pt x="158750" y="134472"/>
                  <a:pt x="154316" y="138906"/>
                  <a:pt x="148828" y="138906"/>
                </a:cubicBezTo>
                <a:lnTo>
                  <a:pt x="69453" y="138906"/>
                </a:lnTo>
                <a:cubicBezTo>
                  <a:pt x="63965" y="138906"/>
                  <a:pt x="59531" y="134472"/>
                  <a:pt x="59531" y="128984"/>
                </a:cubicBezTo>
                <a:cubicBezTo>
                  <a:pt x="59531" y="123496"/>
                  <a:pt x="63965" y="119062"/>
                  <a:pt x="69453" y="119062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2" name="Text 20"/>
          <p:cNvSpPr/>
          <p:nvPr/>
        </p:nvSpPr>
        <p:spPr>
          <a:xfrm>
            <a:off x="936625" y="3206750"/>
            <a:ext cx="1912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Priority Queue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6625" y="3460750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ranking by urgency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27959" y="3079750"/>
            <a:ext cx="3587750" cy="698500"/>
          </a:xfrm>
          <a:custGeom>
            <a:avLst/>
            <a:gdLst/>
            <a:ahLst/>
            <a:cxnLst/>
            <a:rect l="l" t="t" r="r" b="b"/>
            <a:pathLst>
              <a:path w="3587750" h="698500">
                <a:moveTo>
                  <a:pt x="0" y="0"/>
                </a:moveTo>
                <a:lnTo>
                  <a:pt x="3587750" y="0"/>
                </a:lnTo>
                <a:lnTo>
                  <a:pt x="3587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27959" y="3079750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390678" y="3238500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9844" y="19844"/>
                </a:moveTo>
                <a:cubicBezTo>
                  <a:pt x="19844" y="14356"/>
                  <a:pt x="15410" y="9922"/>
                  <a:pt x="9922" y="9922"/>
                </a:cubicBezTo>
                <a:cubicBezTo>
                  <a:pt x="4434" y="9922"/>
                  <a:pt x="0" y="14356"/>
                  <a:pt x="0" y="19844"/>
                </a:cubicBezTo>
                <a:lnTo>
                  <a:pt x="0" y="124023"/>
                </a:lnTo>
                <a:cubicBezTo>
                  <a:pt x="0" y="137728"/>
                  <a:pt x="11100" y="148828"/>
                  <a:pt x="24805" y="148828"/>
                </a:cubicBezTo>
                <a:lnTo>
                  <a:pt x="148828" y="148828"/>
                </a:lnTo>
                <a:cubicBezTo>
                  <a:pt x="154316" y="148828"/>
                  <a:pt x="158750" y="144394"/>
                  <a:pt x="158750" y="138906"/>
                </a:cubicBezTo>
                <a:cubicBezTo>
                  <a:pt x="158750" y="133418"/>
                  <a:pt x="154316" y="128984"/>
                  <a:pt x="148828" y="128984"/>
                </a:cubicBezTo>
                <a:lnTo>
                  <a:pt x="24805" y="128984"/>
                </a:lnTo>
                <a:cubicBezTo>
                  <a:pt x="22076" y="128984"/>
                  <a:pt x="19844" y="126752"/>
                  <a:pt x="19844" y="124023"/>
                </a:cubicBezTo>
                <a:lnTo>
                  <a:pt x="19844" y="19844"/>
                </a:lnTo>
                <a:close/>
                <a:moveTo>
                  <a:pt x="145914" y="46695"/>
                </a:moveTo>
                <a:cubicBezTo>
                  <a:pt x="149789" y="42819"/>
                  <a:pt x="149789" y="36525"/>
                  <a:pt x="145914" y="32649"/>
                </a:cubicBezTo>
                <a:cubicBezTo>
                  <a:pt x="142038" y="28773"/>
                  <a:pt x="135744" y="28773"/>
                  <a:pt x="131868" y="32649"/>
                </a:cubicBezTo>
                <a:lnTo>
                  <a:pt x="99219" y="65329"/>
                </a:lnTo>
                <a:lnTo>
                  <a:pt x="81421" y="47563"/>
                </a:lnTo>
                <a:cubicBezTo>
                  <a:pt x="77546" y="43687"/>
                  <a:pt x="71251" y="43687"/>
                  <a:pt x="67376" y="47563"/>
                </a:cubicBezTo>
                <a:lnTo>
                  <a:pt x="37610" y="77329"/>
                </a:lnTo>
                <a:cubicBezTo>
                  <a:pt x="33734" y="81204"/>
                  <a:pt x="33734" y="87499"/>
                  <a:pt x="37610" y="91374"/>
                </a:cubicBezTo>
                <a:cubicBezTo>
                  <a:pt x="41486" y="95250"/>
                  <a:pt x="47780" y="95250"/>
                  <a:pt x="51656" y="91374"/>
                </a:cubicBezTo>
                <a:lnTo>
                  <a:pt x="74414" y="68616"/>
                </a:lnTo>
                <a:lnTo>
                  <a:pt x="92211" y="86413"/>
                </a:lnTo>
                <a:cubicBezTo>
                  <a:pt x="96087" y="90289"/>
                  <a:pt x="102381" y="90289"/>
                  <a:pt x="106257" y="86413"/>
                </a:cubicBezTo>
                <a:lnTo>
                  <a:pt x="145945" y="4672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7" name="Text 25"/>
          <p:cNvSpPr/>
          <p:nvPr/>
        </p:nvSpPr>
        <p:spPr>
          <a:xfrm>
            <a:off x="4664521" y="3206750"/>
            <a:ext cx="211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 Analysis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4521" y="3460750"/>
            <a:ext cx="211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trend plots for failure analysis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1469" y="4044156"/>
            <a:ext cx="7651750" cy="1658938"/>
          </a:xfrm>
          <a:custGeom>
            <a:avLst/>
            <a:gdLst/>
            <a:ahLst/>
            <a:cxnLst/>
            <a:rect l="l" t="t" r="r" b="b"/>
            <a:pathLst>
              <a:path w="7651750" h="1658938">
                <a:moveTo>
                  <a:pt x="0" y="0"/>
                </a:moveTo>
                <a:lnTo>
                  <a:pt x="7651750" y="0"/>
                </a:lnTo>
                <a:lnTo>
                  <a:pt x="7651750" y="1658938"/>
                </a:lnTo>
                <a:lnTo>
                  <a:pt x="0" y="165893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13953" y="4238625"/>
            <a:ext cx="138906" cy="158750"/>
          </a:xfrm>
          <a:custGeom>
            <a:avLst/>
            <a:gdLst/>
            <a:ahLst/>
            <a:cxnLst/>
            <a:rect l="l" t="t" r="r" b="b"/>
            <a:pathLst>
              <a:path w="138906" h="158750">
                <a:moveTo>
                  <a:pt x="69453" y="76895"/>
                </a:moveTo>
                <a:cubicBezTo>
                  <a:pt x="48918" y="76895"/>
                  <a:pt x="32246" y="60223"/>
                  <a:pt x="32246" y="39688"/>
                </a:cubicBezTo>
                <a:cubicBezTo>
                  <a:pt x="32246" y="19152"/>
                  <a:pt x="48918" y="2480"/>
                  <a:pt x="69453" y="2480"/>
                </a:cubicBezTo>
                <a:cubicBezTo>
                  <a:pt x="89988" y="2480"/>
                  <a:pt x="106660" y="19152"/>
                  <a:pt x="106660" y="39688"/>
                </a:cubicBezTo>
                <a:cubicBezTo>
                  <a:pt x="106660" y="60223"/>
                  <a:pt x="89988" y="76895"/>
                  <a:pt x="69453" y="76895"/>
                </a:cubicBezTo>
                <a:close/>
                <a:moveTo>
                  <a:pt x="59996" y="94258"/>
                </a:moveTo>
                <a:lnTo>
                  <a:pt x="78910" y="94258"/>
                </a:lnTo>
                <a:cubicBezTo>
                  <a:pt x="81917" y="94258"/>
                  <a:pt x="84336" y="96676"/>
                  <a:pt x="84336" y="99684"/>
                </a:cubicBezTo>
                <a:cubicBezTo>
                  <a:pt x="84336" y="100986"/>
                  <a:pt x="83871" y="102226"/>
                  <a:pt x="83034" y="103219"/>
                </a:cubicBezTo>
                <a:lnTo>
                  <a:pt x="74538" y="113140"/>
                </a:lnTo>
                <a:lnTo>
                  <a:pt x="84150" y="148828"/>
                </a:lnTo>
                <a:lnTo>
                  <a:pt x="84336" y="148828"/>
                </a:lnTo>
                <a:lnTo>
                  <a:pt x="95064" y="105885"/>
                </a:lnTo>
                <a:cubicBezTo>
                  <a:pt x="95746" y="103188"/>
                  <a:pt x="98506" y="101544"/>
                  <a:pt x="101110" y="102536"/>
                </a:cubicBezTo>
                <a:cubicBezTo>
                  <a:pt x="120303" y="109854"/>
                  <a:pt x="133945" y="128457"/>
                  <a:pt x="133945" y="150223"/>
                </a:cubicBezTo>
                <a:cubicBezTo>
                  <a:pt x="133945" y="154905"/>
                  <a:pt x="130132" y="158719"/>
                  <a:pt x="125450" y="158719"/>
                </a:cubicBezTo>
                <a:lnTo>
                  <a:pt x="13457" y="158750"/>
                </a:lnTo>
                <a:cubicBezTo>
                  <a:pt x="8775" y="158750"/>
                  <a:pt x="4961" y="154936"/>
                  <a:pt x="4961" y="150254"/>
                </a:cubicBezTo>
                <a:cubicBezTo>
                  <a:pt x="4961" y="128488"/>
                  <a:pt x="18604" y="109885"/>
                  <a:pt x="37796" y="102567"/>
                </a:cubicBezTo>
                <a:cubicBezTo>
                  <a:pt x="40401" y="101575"/>
                  <a:pt x="43160" y="103219"/>
                  <a:pt x="43842" y="105916"/>
                </a:cubicBezTo>
                <a:lnTo>
                  <a:pt x="54570" y="148859"/>
                </a:lnTo>
                <a:lnTo>
                  <a:pt x="54756" y="148859"/>
                </a:lnTo>
                <a:lnTo>
                  <a:pt x="64368" y="113171"/>
                </a:lnTo>
                <a:lnTo>
                  <a:pt x="55873" y="103250"/>
                </a:lnTo>
                <a:cubicBezTo>
                  <a:pt x="55035" y="102257"/>
                  <a:pt x="54570" y="101017"/>
                  <a:pt x="54570" y="99715"/>
                </a:cubicBezTo>
                <a:cubicBezTo>
                  <a:pt x="54570" y="96707"/>
                  <a:pt x="56989" y="94289"/>
                  <a:pt x="59996" y="94289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742156" y="4206875"/>
            <a:ext cx="714771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Factory Operators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84187" y="4556125"/>
            <a:ext cx="7389812" cy="412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dashboard is designed for </a:t>
            </a:r>
            <a:pPr>
              <a:lnSpc>
                <a:spcPct val="14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actionable insights</a:t>
            </a:r>
            <a:pPr>
              <a:lnSpc>
                <a:spcPct val="140000"/>
              </a:lnSpc>
            </a:pPr>
            <a:r>
              <a:rPr lang="en-US" sz="10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Operators can quickly identify which engines need immediate attention, view detailed sensor trends, and make informed maintenance decisions without technical expertise in machine learning.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84187" y="5095875"/>
            <a:ext cx="7326313" cy="444500"/>
          </a:xfrm>
          <a:custGeom>
            <a:avLst/>
            <a:gdLst/>
            <a:ahLst/>
            <a:cxnLst/>
            <a:rect l="l" t="t" r="r" b="b"/>
            <a:pathLst>
              <a:path w="7326313" h="444500">
                <a:moveTo>
                  <a:pt x="0" y="0"/>
                </a:moveTo>
                <a:lnTo>
                  <a:pt x="7326313" y="0"/>
                </a:lnTo>
                <a:lnTo>
                  <a:pt x="7326313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46906" y="5222875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5" name="Text 33"/>
          <p:cNvSpPr/>
          <p:nvPr/>
        </p:nvSpPr>
        <p:spPr>
          <a:xfrm>
            <a:off x="976312" y="5222875"/>
            <a:ext cx="4333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inference:</a:t>
            </a:r>
            <a:pPr>
              <a:lnSpc>
                <a:spcPct val="130000"/>
              </a:lnSpc>
            </a:pPr>
            <a:r>
              <a:rPr lang="en-US" sz="10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Sub-second prediction latency for immediate feedback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10761" y="1139031"/>
            <a:ext cx="3762375" cy="2738438"/>
          </a:xfrm>
          <a:custGeom>
            <a:avLst/>
            <a:gdLst/>
            <a:ahLst/>
            <a:cxnLst/>
            <a:rect l="l" t="t" r="r" b="b"/>
            <a:pathLst>
              <a:path w="3762375" h="2738438">
                <a:moveTo>
                  <a:pt x="0" y="0"/>
                </a:moveTo>
                <a:lnTo>
                  <a:pt x="3762375" y="0"/>
                </a:lnTo>
                <a:lnTo>
                  <a:pt x="3762375" y="2738438"/>
                </a:lnTo>
                <a:lnTo>
                  <a:pt x="0" y="273843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33792" y="1301750"/>
            <a:ext cx="3516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Indicators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9354" y="1651000"/>
            <a:ext cx="3421063" cy="444500"/>
          </a:xfrm>
          <a:custGeom>
            <a:avLst/>
            <a:gdLst/>
            <a:ahLst/>
            <a:cxnLst/>
            <a:rect l="l" t="t" r="r" b="b"/>
            <a:pathLst>
              <a:path w="3421063" h="444500">
                <a:moveTo>
                  <a:pt x="0" y="0"/>
                </a:moveTo>
                <a:lnTo>
                  <a:pt x="3421063" y="0"/>
                </a:lnTo>
                <a:lnTo>
                  <a:pt x="3421063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289354" y="1651000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40" name="Text 38"/>
          <p:cNvSpPr/>
          <p:nvPr/>
        </p:nvSpPr>
        <p:spPr>
          <a:xfrm>
            <a:off x="8400479" y="1746250"/>
            <a:ext cx="29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🟢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694167" y="1778000"/>
            <a:ext cx="38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341943" y="1793875"/>
            <a:ext cx="325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&gt;75%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89354" y="2190750"/>
            <a:ext cx="3421063" cy="444500"/>
          </a:xfrm>
          <a:custGeom>
            <a:avLst/>
            <a:gdLst/>
            <a:ahLst/>
            <a:cxnLst/>
            <a:rect l="l" t="t" r="r" b="b"/>
            <a:pathLst>
              <a:path w="3421063" h="444500">
                <a:moveTo>
                  <a:pt x="0" y="0"/>
                </a:moveTo>
                <a:lnTo>
                  <a:pt x="3421063" y="0"/>
                </a:lnTo>
                <a:lnTo>
                  <a:pt x="3421063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289354" y="2190750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45" name="Text 43"/>
          <p:cNvSpPr/>
          <p:nvPr/>
        </p:nvSpPr>
        <p:spPr>
          <a:xfrm>
            <a:off x="8400479" y="2286000"/>
            <a:ext cx="29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🟡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94167" y="2317750"/>
            <a:ext cx="285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24245" y="2333625"/>
            <a:ext cx="4445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50-75%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289354" y="2730500"/>
            <a:ext cx="3421063" cy="444500"/>
          </a:xfrm>
          <a:custGeom>
            <a:avLst/>
            <a:gdLst/>
            <a:ahLst/>
            <a:cxnLst/>
            <a:rect l="l" t="t" r="r" b="b"/>
            <a:pathLst>
              <a:path w="3421063" h="444500">
                <a:moveTo>
                  <a:pt x="0" y="0"/>
                </a:moveTo>
                <a:lnTo>
                  <a:pt x="3421063" y="0"/>
                </a:lnTo>
                <a:lnTo>
                  <a:pt x="3421063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289354" y="2730500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50" name="Text 48"/>
          <p:cNvSpPr/>
          <p:nvPr/>
        </p:nvSpPr>
        <p:spPr>
          <a:xfrm>
            <a:off x="8400479" y="2825750"/>
            <a:ext cx="29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🟠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94167" y="2857500"/>
            <a:ext cx="341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1216556" y="2873375"/>
            <a:ext cx="452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25-50%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289354" y="3270250"/>
            <a:ext cx="3421063" cy="444500"/>
          </a:xfrm>
          <a:custGeom>
            <a:avLst/>
            <a:gdLst/>
            <a:ahLst/>
            <a:cxnLst/>
            <a:rect l="l" t="t" r="r" b="b"/>
            <a:pathLst>
              <a:path w="3421063" h="444500">
                <a:moveTo>
                  <a:pt x="0" y="0"/>
                </a:moveTo>
                <a:lnTo>
                  <a:pt x="3421063" y="0"/>
                </a:lnTo>
                <a:lnTo>
                  <a:pt x="3421063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289354" y="3270250"/>
            <a:ext cx="31750" cy="444500"/>
          </a:xfrm>
          <a:custGeom>
            <a:avLst/>
            <a:gdLst/>
            <a:ahLst/>
            <a:cxnLst/>
            <a:rect l="l" t="t" r="r" b="b"/>
            <a:pathLst>
              <a:path w="31750" h="444500">
                <a:moveTo>
                  <a:pt x="0" y="0"/>
                </a:moveTo>
                <a:lnTo>
                  <a:pt x="31750" y="0"/>
                </a:lnTo>
                <a:lnTo>
                  <a:pt x="31750" y="444500"/>
                </a:lnTo>
                <a:lnTo>
                  <a:pt x="0" y="4445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55" name="Text 53"/>
          <p:cNvSpPr/>
          <p:nvPr/>
        </p:nvSpPr>
        <p:spPr>
          <a:xfrm>
            <a:off x="8400479" y="3365500"/>
            <a:ext cx="293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🔴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94167" y="3397250"/>
            <a:ext cx="492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1334254" y="3413125"/>
            <a:ext cx="333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&lt;25%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8110761" y="3980656"/>
            <a:ext cx="3762375" cy="2770188"/>
          </a:xfrm>
          <a:custGeom>
            <a:avLst/>
            <a:gdLst/>
            <a:ahLst/>
            <a:cxnLst/>
            <a:rect l="l" t="t" r="r" b="b"/>
            <a:pathLst>
              <a:path w="3762375" h="2770188">
                <a:moveTo>
                  <a:pt x="0" y="0"/>
                </a:moveTo>
                <a:lnTo>
                  <a:pt x="3762375" y="0"/>
                </a:lnTo>
                <a:lnTo>
                  <a:pt x="3762375" y="2770188"/>
                </a:lnTo>
                <a:lnTo>
                  <a:pt x="0" y="2770188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233792" y="4143375"/>
            <a:ext cx="3516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273479" y="4492625"/>
            <a:ext cx="3436938" cy="635000"/>
          </a:xfrm>
          <a:custGeom>
            <a:avLst/>
            <a:gdLst/>
            <a:ahLst/>
            <a:cxnLst/>
            <a:rect l="l" t="t" r="r" b="b"/>
            <a:pathLst>
              <a:path w="3436938" h="635000">
                <a:moveTo>
                  <a:pt x="0" y="0"/>
                </a:moveTo>
                <a:lnTo>
                  <a:pt x="3436938" y="0"/>
                </a:lnTo>
                <a:lnTo>
                  <a:pt x="3436938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340948" y="4587875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Percentage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321104" y="4778375"/>
            <a:ext cx="3341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0-100%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273479" y="5222875"/>
            <a:ext cx="3436938" cy="635000"/>
          </a:xfrm>
          <a:custGeom>
            <a:avLst/>
            <a:gdLst/>
            <a:ahLst/>
            <a:cxnLst/>
            <a:rect l="l" t="t" r="r" b="b"/>
            <a:pathLst>
              <a:path w="3436938" h="635000">
                <a:moveTo>
                  <a:pt x="0" y="0"/>
                </a:moveTo>
                <a:lnTo>
                  <a:pt x="3436938" y="0"/>
                </a:lnTo>
                <a:lnTo>
                  <a:pt x="3436938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8340948" y="5318125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 Prediction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321104" y="5508625"/>
            <a:ext cx="3341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Cycles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73479" y="5953125"/>
            <a:ext cx="3436938" cy="635000"/>
          </a:xfrm>
          <a:custGeom>
            <a:avLst/>
            <a:gdLst/>
            <a:ahLst/>
            <a:cxnLst/>
            <a:rect l="l" t="t" r="r" b="b"/>
            <a:pathLst>
              <a:path w="3436938" h="635000">
                <a:moveTo>
                  <a:pt x="0" y="0"/>
                </a:moveTo>
                <a:lnTo>
                  <a:pt x="3436938" y="0"/>
                </a:lnTo>
                <a:lnTo>
                  <a:pt x="3436938" y="635000"/>
                </a:lnTo>
                <a:lnTo>
                  <a:pt x="0" y="6350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340948" y="6048375"/>
            <a:ext cx="3302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75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Estimated Days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321104" y="6238875"/>
            <a:ext cx="3341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207" y="326207"/>
            <a:ext cx="11596672" cy="163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99" b="1" spc="180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 &amp; DEMO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207" y="554553"/>
            <a:ext cx="11686379" cy="32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2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Health Classification &amp; Alert System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6207" y="1011243"/>
            <a:ext cx="782898" cy="24466"/>
          </a:xfrm>
          <a:custGeom>
            <a:avLst/>
            <a:gdLst/>
            <a:ahLst/>
            <a:cxnLst/>
            <a:rect l="l" t="t" r="r" b="b"/>
            <a:pathLst>
              <a:path w="782898" h="24466">
                <a:moveTo>
                  <a:pt x="0" y="0"/>
                </a:moveTo>
                <a:lnTo>
                  <a:pt x="782898" y="0"/>
                </a:lnTo>
                <a:lnTo>
                  <a:pt x="782898" y="24466"/>
                </a:lnTo>
                <a:lnTo>
                  <a:pt x="0" y="24466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30285" y="1170269"/>
            <a:ext cx="5700474" cy="4477196"/>
          </a:xfrm>
          <a:custGeom>
            <a:avLst/>
            <a:gdLst/>
            <a:ahLst/>
            <a:cxnLst/>
            <a:rect l="l" t="t" r="r" b="b"/>
            <a:pathLst>
              <a:path w="5700474" h="4477196">
                <a:moveTo>
                  <a:pt x="0" y="0"/>
                </a:moveTo>
                <a:lnTo>
                  <a:pt x="5700474" y="0"/>
                </a:lnTo>
                <a:lnTo>
                  <a:pt x="5700474" y="4477196"/>
                </a:lnTo>
                <a:lnTo>
                  <a:pt x="0" y="4477196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1932" y="1361916"/>
            <a:ext cx="195724" cy="195724"/>
          </a:xfrm>
          <a:custGeom>
            <a:avLst/>
            <a:gdLst/>
            <a:ahLst/>
            <a:cxnLst/>
            <a:rect l="l" t="t" r="r" b="b"/>
            <a:pathLst>
              <a:path w="195724" h="195724">
                <a:moveTo>
                  <a:pt x="97862" y="41247"/>
                </a:moveTo>
                <a:lnTo>
                  <a:pt x="92128" y="33296"/>
                </a:lnTo>
                <a:cubicBezTo>
                  <a:pt x="82571" y="20069"/>
                  <a:pt x="67242" y="12233"/>
                  <a:pt x="50881" y="12233"/>
                </a:cubicBezTo>
                <a:cubicBezTo>
                  <a:pt x="22784" y="12233"/>
                  <a:pt x="0" y="35016"/>
                  <a:pt x="0" y="63113"/>
                </a:cubicBezTo>
                <a:lnTo>
                  <a:pt x="0" y="64107"/>
                </a:lnTo>
                <a:cubicBezTo>
                  <a:pt x="0" y="73129"/>
                  <a:pt x="2370" y="82457"/>
                  <a:pt x="6346" y="91746"/>
                </a:cubicBezTo>
                <a:lnTo>
                  <a:pt x="46867" y="91746"/>
                </a:lnTo>
                <a:cubicBezTo>
                  <a:pt x="48090" y="91746"/>
                  <a:pt x="49199" y="91019"/>
                  <a:pt x="49696" y="89873"/>
                </a:cubicBezTo>
                <a:lnTo>
                  <a:pt x="61852" y="60705"/>
                </a:lnTo>
                <a:cubicBezTo>
                  <a:pt x="63266" y="57341"/>
                  <a:pt x="66554" y="55124"/>
                  <a:pt x="70186" y="55047"/>
                </a:cubicBezTo>
                <a:cubicBezTo>
                  <a:pt x="73817" y="54971"/>
                  <a:pt x="77181" y="57112"/>
                  <a:pt x="78672" y="60438"/>
                </a:cubicBezTo>
                <a:lnTo>
                  <a:pt x="98283" y="103979"/>
                </a:lnTo>
                <a:lnTo>
                  <a:pt x="114109" y="72326"/>
                </a:lnTo>
                <a:cubicBezTo>
                  <a:pt x="115676" y="69230"/>
                  <a:pt x="118849" y="67242"/>
                  <a:pt x="122328" y="67242"/>
                </a:cubicBezTo>
                <a:cubicBezTo>
                  <a:pt x="125806" y="67242"/>
                  <a:pt x="128979" y="69192"/>
                  <a:pt x="130547" y="72326"/>
                </a:cubicBezTo>
                <a:lnTo>
                  <a:pt x="139415" y="90026"/>
                </a:lnTo>
                <a:cubicBezTo>
                  <a:pt x="139951" y="91058"/>
                  <a:pt x="140983" y="91708"/>
                  <a:pt x="142168" y="91708"/>
                </a:cubicBezTo>
                <a:lnTo>
                  <a:pt x="189417" y="91708"/>
                </a:lnTo>
                <a:cubicBezTo>
                  <a:pt x="193431" y="82418"/>
                  <a:pt x="195763" y="73091"/>
                  <a:pt x="195763" y="64069"/>
                </a:cubicBezTo>
                <a:lnTo>
                  <a:pt x="195763" y="63075"/>
                </a:lnTo>
                <a:cubicBezTo>
                  <a:pt x="195724" y="35016"/>
                  <a:pt x="172941" y="12233"/>
                  <a:pt x="144844" y="12233"/>
                </a:cubicBezTo>
                <a:cubicBezTo>
                  <a:pt x="128521" y="12233"/>
                  <a:pt x="113153" y="20069"/>
                  <a:pt x="103596" y="33296"/>
                </a:cubicBezTo>
                <a:lnTo>
                  <a:pt x="97862" y="41209"/>
                </a:lnTo>
                <a:close/>
                <a:moveTo>
                  <a:pt x="179516" y="110095"/>
                </a:moveTo>
                <a:lnTo>
                  <a:pt x="142130" y="110095"/>
                </a:lnTo>
                <a:cubicBezTo>
                  <a:pt x="134025" y="110095"/>
                  <a:pt x="126609" y="105508"/>
                  <a:pt x="122978" y="98244"/>
                </a:cubicBezTo>
                <a:lnTo>
                  <a:pt x="122328" y="96945"/>
                </a:lnTo>
                <a:lnTo>
                  <a:pt x="106081" y="129476"/>
                </a:lnTo>
                <a:cubicBezTo>
                  <a:pt x="104514" y="132649"/>
                  <a:pt x="101226" y="134637"/>
                  <a:pt x="97671" y="134561"/>
                </a:cubicBezTo>
                <a:cubicBezTo>
                  <a:pt x="94116" y="134484"/>
                  <a:pt x="90943" y="132382"/>
                  <a:pt x="89490" y="129170"/>
                </a:cubicBezTo>
                <a:lnTo>
                  <a:pt x="70644" y="87311"/>
                </a:lnTo>
                <a:lnTo>
                  <a:pt x="66630" y="96945"/>
                </a:lnTo>
                <a:cubicBezTo>
                  <a:pt x="63305" y="104934"/>
                  <a:pt x="55506" y="110133"/>
                  <a:pt x="46867" y="110133"/>
                </a:cubicBezTo>
                <a:lnTo>
                  <a:pt x="16208" y="110133"/>
                </a:lnTo>
                <a:cubicBezTo>
                  <a:pt x="34252" y="138345"/>
                  <a:pt x="63228" y="164301"/>
                  <a:pt x="81348" y="178140"/>
                </a:cubicBezTo>
                <a:cubicBezTo>
                  <a:pt x="86088" y="181733"/>
                  <a:pt x="91899" y="183530"/>
                  <a:pt x="97824" y="183530"/>
                </a:cubicBezTo>
                <a:cubicBezTo>
                  <a:pt x="103749" y="183530"/>
                  <a:pt x="109598" y="181771"/>
                  <a:pt x="114300" y="178140"/>
                </a:cubicBezTo>
                <a:cubicBezTo>
                  <a:pt x="132496" y="164263"/>
                  <a:pt x="161473" y="138307"/>
                  <a:pt x="179516" y="11009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804963" y="1337450"/>
            <a:ext cx="5156476" cy="26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Scoring Methodology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7466" y="1728899"/>
            <a:ext cx="543135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7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converts </a:t>
            </a:r>
            <a:pPr>
              <a:lnSpc>
                <a:spcPct val="140000"/>
              </a:lnSpc>
            </a:pPr>
            <a:r>
              <a:rPr lang="en-US" sz="1027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raw RUL predictions</a:t>
            </a:r>
            <a:pPr>
              <a:lnSpc>
                <a:spcPct val="140000"/>
              </a:lnSpc>
            </a:pPr>
            <a:r>
              <a:rPr lang="en-US" sz="1027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into an intuitive Health Percentage (0% = Failed, 100% = New) for immediate interpretation.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3777" y="2316072"/>
            <a:ext cx="5349801" cy="717656"/>
          </a:xfrm>
          <a:custGeom>
            <a:avLst/>
            <a:gdLst/>
            <a:ahLst/>
            <a:cxnLst/>
            <a:rect l="l" t="t" r="r" b="b"/>
            <a:pathLst>
              <a:path w="5349801" h="717656">
                <a:moveTo>
                  <a:pt x="0" y="0"/>
                </a:moveTo>
                <a:lnTo>
                  <a:pt x="5349801" y="0"/>
                </a:lnTo>
                <a:lnTo>
                  <a:pt x="534980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13777" y="2316072"/>
            <a:ext cx="32621" cy="717656"/>
          </a:xfrm>
          <a:custGeom>
            <a:avLst/>
            <a:gdLst/>
            <a:ahLst/>
            <a:cxnLst/>
            <a:rect l="l" t="t" r="r" b="b"/>
            <a:pathLst>
              <a:path w="32621" h="717656">
                <a:moveTo>
                  <a:pt x="0" y="0"/>
                </a:moveTo>
                <a:lnTo>
                  <a:pt x="32621" y="0"/>
                </a:lnTo>
                <a:lnTo>
                  <a:pt x="3262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</p:sp>
      <p:sp>
        <p:nvSpPr>
          <p:cNvPr id="11" name="Text 9"/>
          <p:cNvSpPr/>
          <p:nvPr/>
        </p:nvSpPr>
        <p:spPr>
          <a:xfrm>
            <a:off x="660570" y="2446555"/>
            <a:ext cx="366983" cy="29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6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3088" y="2446555"/>
            <a:ext cx="3922643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Good: &gt;75%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3088" y="2707521"/>
            <a:ext cx="3914488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Engine operating normally. Continue regular maintenance schedule.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13777" y="3131591"/>
            <a:ext cx="5349801" cy="717656"/>
          </a:xfrm>
          <a:custGeom>
            <a:avLst/>
            <a:gdLst/>
            <a:ahLst/>
            <a:cxnLst/>
            <a:rect l="l" t="t" r="r" b="b"/>
            <a:pathLst>
              <a:path w="5349801" h="717656">
                <a:moveTo>
                  <a:pt x="0" y="0"/>
                </a:moveTo>
                <a:lnTo>
                  <a:pt x="5349801" y="0"/>
                </a:lnTo>
                <a:lnTo>
                  <a:pt x="534980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3777" y="3131591"/>
            <a:ext cx="32621" cy="717656"/>
          </a:xfrm>
          <a:custGeom>
            <a:avLst/>
            <a:gdLst/>
            <a:ahLst/>
            <a:cxnLst/>
            <a:rect l="l" t="t" r="r" b="b"/>
            <a:pathLst>
              <a:path w="32621" h="717656">
                <a:moveTo>
                  <a:pt x="0" y="0"/>
                </a:moveTo>
                <a:lnTo>
                  <a:pt x="32621" y="0"/>
                </a:lnTo>
                <a:lnTo>
                  <a:pt x="3262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</p:sp>
      <p:sp>
        <p:nvSpPr>
          <p:cNvPr id="16" name="Text 14"/>
          <p:cNvSpPr/>
          <p:nvPr/>
        </p:nvSpPr>
        <p:spPr>
          <a:xfrm>
            <a:off x="660570" y="3262074"/>
            <a:ext cx="366983" cy="29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6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3088" y="3262074"/>
            <a:ext cx="3490419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Fair: 50-75%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3088" y="3523039"/>
            <a:ext cx="3482264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Showing early signs of degradation. Plan maintenance soon.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3777" y="3947109"/>
            <a:ext cx="5349801" cy="717656"/>
          </a:xfrm>
          <a:custGeom>
            <a:avLst/>
            <a:gdLst/>
            <a:ahLst/>
            <a:cxnLst/>
            <a:rect l="l" t="t" r="r" b="b"/>
            <a:pathLst>
              <a:path w="5349801" h="717656">
                <a:moveTo>
                  <a:pt x="0" y="0"/>
                </a:moveTo>
                <a:lnTo>
                  <a:pt x="5349801" y="0"/>
                </a:lnTo>
                <a:lnTo>
                  <a:pt x="534980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13777" y="3947109"/>
            <a:ext cx="32621" cy="717656"/>
          </a:xfrm>
          <a:custGeom>
            <a:avLst/>
            <a:gdLst/>
            <a:ahLst/>
            <a:cxnLst/>
            <a:rect l="l" t="t" r="r" b="b"/>
            <a:pathLst>
              <a:path w="32621" h="717656">
                <a:moveTo>
                  <a:pt x="0" y="0"/>
                </a:moveTo>
                <a:lnTo>
                  <a:pt x="32621" y="0"/>
                </a:lnTo>
                <a:lnTo>
                  <a:pt x="3262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/>
        </p:spPr>
      </p:sp>
      <p:sp>
        <p:nvSpPr>
          <p:cNvPr id="21" name="Text 19"/>
          <p:cNvSpPr/>
          <p:nvPr/>
        </p:nvSpPr>
        <p:spPr>
          <a:xfrm>
            <a:off x="660570" y="4077592"/>
            <a:ext cx="366983" cy="29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6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🟠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3088" y="4077592"/>
            <a:ext cx="3571971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Poor: 25-50%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03088" y="4338558"/>
            <a:ext cx="3563815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 degradation. Schedule maintenance within weeks.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13777" y="4762627"/>
            <a:ext cx="5349801" cy="717656"/>
          </a:xfrm>
          <a:custGeom>
            <a:avLst/>
            <a:gdLst/>
            <a:ahLst/>
            <a:cxnLst/>
            <a:rect l="l" t="t" r="r" b="b"/>
            <a:pathLst>
              <a:path w="5349801" h="717656">
                <a:moveTo>
                  <a:pt x="0" y="0"/>
                </a:moveTo>
                <a:lnTo>
                  <a:pt x="5349801" y="0"/>
                </a:lnTo>
                <a:lnTo>
                  <a:pt x="534980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13777" y="4762627"/>
            <a:ext cx="32621" cy="717656"/>
          </a:xfrm>
          <a:custGeom>
            <a:avLst/>
            <a:gdLst/>
            <a:ahLst/>
            <a:cxnLst/>
            <a:rect l="l" t="t" r="r" b="b"/>
            <a:pathLst>
              <a:path w="32621" h="717656">
                <a:moveTo>
                  <a:pt x="0" y="0"/>
                </a:moveTo>
                <a:lnTo>
                  <a:pt x="32621" y="0"/>
                </a:lnTo>
                <a:lnTo>
                  <a:pt x="32621" y="717656"/>
                </a:lnTo>
                <a:lnTo>
                  <a:pt x="0" y="717656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26" name="Text 24"/>
          <p:cNvSpPr/>
          <p:nvPr/>
        </p:nvSpPr>
        <p:spPr>
          <a:xfrm>
            <a:off x="660570" y="4893110"/>
            <a:ext cx="366983" cy="293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926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3088" y="4893110"/>
            <a:ext cx="3041884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Critical: &lt;25%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3088" y="5154076"/>
            <a:ext cx="3033728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failure risk. </a:t>
            </a:r>
            <a:pPr>
              <a:lnSpc>
                <a:spcPct val="130000"/>
              </a:lnSpc>
            </a:pPr>
            <a:r>
              <a:rPr lang="en-US" sz="1027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maintenance required.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5701" y="1170269"/>
            <a:ext cx="5700474" cy="3987885"/>
          </a:xfrm>
          <a:custGeom>
            <a:avLst/>
            <a:gdLst/>
            <a:ahLst/>
            <a:cxnLst/>
            <a:rect l="l" t="t" r="r" b="b"/>
            <a:pathLst>
              <a:path w="5700474" h="3987885">
                <a:moveTo>
                  <a:pt x="0" y="0"/>
                </a:moveTo>
                <a:lnTo>
                  <a:pt x="5700474" y="0"/>
                </a:lnTo>
                <a:lnTo>
                  <a:pt x="5700474" y="3987885"/>
                </a:lnTo>
                <a:lnTo>
                  <a:pt x="0" y="398788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7348" y="1361916"/>
            <a:ext cx="195724" cy="195724"/>
          </a:xfrm>
          <a:custGeom>
            <a:avLst/>
            <a:gdLst/>
            <a:ahLst/>
            <a:cxnLst/>
            <a:rect l="l" t="t" r="r" b="b"/>
            <a:pathLst>
              <a:path w="195724" h="195724">
                <a:moveTo>
                  <a:pt x="97862" y="0"/>
                </a:moveTo>
                <a:cubicBezTo>
                  <a:pt x="103482" y="0"/>
                  <a:pt x="108642" y="3096"/>
                  <a:pt x="111318" y="8028"/>
                </a:cubicBezTo>
                <a:lnTo>
                  <a:pt x="193889" y="160937"/>
                </a:lnTo>
                <a:cubicBezTo>
                  <a:pt x="196451" y="165678"/>
                  <a:pt x="196336" y="171412"/>
                  <a:pt x="193584" y="176037"/>
                </a:cubicBezTo>
                <a:cubicBezTo>
                  <a:pt x="190831" y="180663"/>
                  <a:pt x="185824" y="183492"/>
                  <a:pt x="180433" y="183492"/>
                </a:cubicBezTo>
                <a:lnTo>
                  <a:pt x="15291" y="183492"/>
                </a:lnTo>
                <a:cubicBezTo>
                  <a:pt x="9901" y="183492"/>
                  <a:pt x="4931" y="180663"/>
                  <a:pt x="2141" y="176037"/>
                </a:cubicBezTo>
                <a:cubicBezTo>
                  <a:pt x="-650" y="171412"/>
                  <a:pt x="-726" y="165678"/>
                  <a:pt x="1835" y="160937"/>
                </a:cubicBezTo>
                <a:lnTo>
                  <a:pt x="84406" y="8028"/>
                </a:lnTo>
                <a:cubicBezTo>
                  <a:pt x="87082" y="3096"/>
                  <a:pt x="92243" y="0"/>
                  <a:pt x="97862" y="0"/>
                </a:cubicBezTo>
                <a:close/>
                <a:moveTo>
                  <a:pt x="97862" y="64222"/>
                </a:moveTo>
                <a:cubicBezTo>
                  <a:pt x="92778" y="64222"/>
                  <a:pt x="88688" y="68312"/>
                  <a:pt x="88688" y="73397"/>
                </a:cubicBezTo>
                <a:lnTo>
                  <a:pt x="88688" y="116211"/>
                </a:lnTo>
                <a:cubicBezTo>
                  <a:pt x="88688" y="121296"/>
                  <a:pt x="92778" y="125386"/>
                  <a:pt x="97862" y="125386"/>
                </a:cubicBezTo>
                <a:cubicBezTo>
                  <a:pt x="102946" y="125386"/>
                  <a:pt x="107037" y="121296"/>
                  <a:pt x="107037" y="116211"/>
                </a:cubicBezTo>
                <a:lnTo>
                  <a:pt x="107037" y="73397"/>
                </a:lnTo>
                <a:cubicBezTo>
                  <a:pt x="107037" y="68312"/>
                  <a:pt x="102946" y="64222"/>
                  <a:pt x="97862" y="64222"/>
                </a:cubicBezTo>
                <a:close/>
                <a:moveTo>
                  <a:pt x="108069" y="146793"/>
                </a:moveTo>
                <a:cubicBezTo>
                  <a:pt x="108301" y="143005"/>
                  <a:pt x="106412" y="139400"/>
                  <a:pt x="103164" y="137436"/>
                </a:cubicBezTo>
                <a:cubicBezTo>
                  <a:pt x="99916" y="135471"/>
                  <a:pt x="95846" y="135471"/>
                  <a:pt x="92599" y="137436"/>
                </a:cubicBezTo>
                <a:cubicBezTo>
                  <a:pt x="89351" y="139400"/>
                  <a:pt x="87462" y="143005"/>
                  <a:pt x="87694" y="146793"/>
                </a:cubicBezTo>
                <a:cubicBezTo>
                  <a:pt x="87462" y="150582"/>
                  <a:pt x="89351" y="154186"/>
                  <a:pt x="92599" y="156151"/>
                </a:cubicBezTo>
                <a:cubicBezTo>
                  <a:pt x="95846" y="158116"/>
                  <a:pt x="99916" y="158116"/>
                  <a:pt x="103164" y="156151"/>
                </a:cubicBezTo>
                <a:cubicBezTo>
                  <a:pt x="106412" y="154186"/>
                  <a:pt x="108301" y="150582"/>
                  <a:pt x="108069" y="146793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6640379" y="1337450"/>
            <a:ext cx="5156476" cy="260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4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Alert System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32883" y="1728899"/>
            <a:ext cx="5431353" cy="424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system automatically flags engines with </a:t>
            </a:r>
            <a:pPr>
              <a:lnSpc>
                <a:spcPct val="140000"/>
              </a:lnSpc>
            </a:pPr>
            <a:r>
              <a:rPr lang="en-US" sz="1027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&lt;25% Health</a:t>
            </a:r>
            <a:pPr>
              <a:lnSpc>
                <a:spcPct val="14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CRITICAL, advising immediate maintenance to prevent catastrophic failure.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36960" y="2320150"/>
            <a:ext cx="5357956" cy="1280364"/>
          </a:xfrm>
          <a:custGeom>
            <a:avLst/>
            <a:gdLst/>
            <a:ahLst/>
            <a:cxnLst/>
            <a:rect l="l" t="t" r="r" b="b"/>
            <a:pathLst>
              <a:path w="5357956" h="1280364">
                <a:moveTo>
                  <a:pt x="0" y="0"/>
                </a:moveTo>
                <a:lnTo>
                  <a:pt x="5357956" y="0"/>
                </a:lnTo>
                <a:lnTo>
                  <a:pt x="5357956" y="1280364"/>
                </a:lnTo>
                <a:lnTo>
                  <a:pt x="0" y="1280364"/>
                </a:lnTo>
                <a:lnTo>
                  <a:pt x="0" y="0"/>
                </a:lnTo>
                <a:close/>
              </a:path>
            </a:pathLst>
          </a:custGeom>
          <a:solidFill>
            <a:srgbClr val="82181A">
              <a:alpha val="30196"/>
            </a:srgbClr>
          </a:solidFill>
          <a:ln w="12700">
            <a:solidFill>
              <a:srgbClr val="FB2C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02103" y="2487331"/>
            <a:ext cx="142716" cy="163104"/>
          </a:xfrm>
          <a:custGeom>
            <a:avLst/>
            <a:gdLst/>
            <a:ahLst/>
            <a:cxnLst/>
            <a:rect l="l" t="t" r="r" b="b"/>
            <a:pathLst>
              <a:path w="142716" h="163104">
                <a:moveTo>
                  <a:pt x="71358" y="0"/>
                </a:moveTo>
                <a:cubicBezTo>
                  <a:pt x="65719" y="0"/>
                  <a:pt x="61164" y="4555"/>
                  <a:pt x="61164" y="10194"/>
                </a:cubicBezTo>
                <a:lnTo>
                  <a:pt x="61164" y="11213"/>
                </a:lnTo>
                <a:cubicBezTo>
                  <a:pt x="37909" y="15928"/>
                  <a:pt x="20388" y="36507"/>
                  <a:pt x="20388" y="61164"/>
                </a:cubicBezTo>
                <a:lnTo>
                  <a:pt x="20388" y="68077"/>
                </a:lnTo>
                <a:cubicBezTo>
                  <a:pt x="20388" y="83399"/>
                  <a:pt x="15164" y="98276"/>
                  <a:pt x="5607" y="110254"/>
                </a:cubicBezTo>
                <a:lnTo>
                  <a:pt x="2485" y="114141"/>
                </a:lnTo>
                <a:cubicBezTo>
                  <a:pt x="860" y="116148"/>
                  <a:pt x="0" y="118632"/>
                  <a:pt x="0" y="121213"/>
                </a:cubicBezTo>
                <a:cubicBezTo>
                  <a:pt x="0" y="127457"/>
                  <a:pt x="5065" y="132522"/>
                  <a:pt x="11309" y="132522"/>
                </a:cubicBezTo>
                <a:lnTo>
                  <a:pt x="131375" y="132522"/>
                </a:lnTo>
                <a:cubicBezTo>
                  <a:pt x="137619" y="132522"/>
                  <a:pt x="142684" y="127457"/>
                  <a:pt x="142684" y="121213"/>
                </a:cubicBezTo>
                <a:cubicBezTo>
                  <a:pt x="142684" y="118632"/>
                  <a:pt x="141824" y="116148"/>
                  <a:pt x="140199" y="114141"/>
                </a:cubicBezTo>
                <a:lnTo>
                  <a:pt x="137077" y="110254"/>
                </a:lnTo>
                <a:cubicBezTo>
                  <a:pt x="127552" y="98276"/>
                  <a:pt x="122328" y="83399"/>
                  <a:pt x="122328" y="68077"/>
                </a:cubicBezTo>
                <a:lnTo>
                  <a:pt x="122328" y="61164"/>
                </a:lnTo>
                <a:cubicBezTo>
                  <a:pt x="122328" y="36507"/>
                  <a:pt x="104807" y="15928"/>
                  <a:pt x="81552" y="11213"/>
                </a:cubicBezTo>
                <a:lnTo>
                  <a:pt x="81552" y="10194"/>
                </a:lnTo>
                <a:cubicBezTo>
                  <a:pt x="81552" y="4555"/>
                  <a:pt x="76996" y="0"/>
                  <a:pt x="71358" y="0"/>
                </a:cubicBezTo>
                <a:close/>
                <a:moveTo>
                  <a:pt x="51607" y="147813"/>
                </a:moveTo>
                <a:cubicBezTo>
                  <a:pt x="53869" y="156605"/>
                  <a:pt x="61865" y="163104"/>
                  <a:pt x="71358" y="163104"/>
                </a:cubicBezTo>
                <a:cubicBezTo>
                  <a:pt x="80851" y="163104"/>
                  <a:pt x="88847" y="156605"/>
                  <a:pt x="91109" y="147813"/>
                </a:cubicBezTo>
                <a:lnTo>
                  <a:pt x="51607" y="147813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5" name="Text 33"/>
          <p:cNvSpPr/>
          <p:nvPr/>
        </p:nvSpPr>
        <p:spPr>
          <a:xfrm>
            <a:off x="6773263" y="2454710"/>
            <a:ext cx="1011243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 Triggers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12297" y="2780918"/>
            <a:ext cx="81552" cy="130483"/>
          </a:xfrm>
          <a:custGeom>
            <a:avLst/>
            <a:gdLst/>
            <a:ahLst/>
            <a:cxnLst/>
            <a:rect l="l" t="t" r="r" b="b"/>
            <a:pathLst>
              <a:path w="81552" h="130483">
                <a:moveTo>
                  <a:pt x="79284" y="59482"/>
                </a:moveTo>
                <a:cubicBezTo>
                  <a:pt x="82469" y="62667"/>
                  <a:pt x="82469" y="67841"/>
                  <a:pt x="79284" y="71027"/>
                </a:cubicBezTo>
                <a:lnTo>
                  <a:pt x="30353" y="119958"/>
                </a:lnTo>
                <a:cubicBezTo>
                  <a:pt x="27167" y="123143"/>
                  <a:pt x="21994" y="123143"/>
                  <a:pt x="18808" y="119958"/>
                </a:cubicBezTo>
                <a:cubicBezTo>
                  <a:pt x="15622" y="116772"/>
                  <a:pt x="15622" y="111599"/>
                  <a:pt x="18808" y="108413"/>
                </a:cubicBezTo>
                <a:lnTo>
                  <a:pt x="61979" y="65241"/>
                </a:lnTo>
                <a:lnTo>
                  <a:pt x="18833" y="22070"/>
                </a:lnTo>
                <a:cubicBezTo>
                  <a:pt x="15648" y="18884"/>
                  <a:pt x="15648" y="13711"/>
                  <a:pt x="18833" y="10525"/>
                </a:cubicBezTo>
                <a:cubicBezTo>
                  <a:pt x="22019" y="7340"/>
                  <a:pt x="27192" y="7340"/>
                  <a:pt x="30378" y="10525"/>
                </a:cubicBezTo>
                <a:lnTo>
                  <a:pt x="79309" y="59456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7" name="Text 35"/>
          <p:cNvSpPr/>
          <p:nvPr/>
        </p:nvSpPr>
        <p:spPr>
          <a:xfrm>
            <a:off x="6699866" y="2748297"/>
            <a:ext cx="1451623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drops below 25%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12297" y="3041884"/>
            <a:ext cx="81552" cy="130483"/>
          </a:xfrm>
          <a:custGeom>
            <a:avLst/>
            <a:gdLst/>
            <a:ahLst/>
            <a:cxnLst/>
            <a:rect l="l" t="t" r="r" b="b"/>
            <a:pathLst>
              <a:path w="81552" h="130483">
                <a:moveTo>
                  <a:pt x="79284" y="59482"/>
                </a:moveTo>
                <a:cubicBezTo>
                  <a:pt x="82469" y="62667"/>
                  <a:pt x="82469" y="67841"/>
                  <a:pt x="79284" y="71027"/>
                </a:cubicBezTo>
                <a:lnTo>
                  <a:pt x="30353" y="119958"/>
                </a:lnTo>
                <a:cubicBezTo>
                  <a:pt x="27167" y="123143"/>
                  <a:pt x="21994" y="123143"/>
                  <a:pt x="18808" y="119958"/>
                </a:cubicBezTo>
                <a:cubicBezTo>
                  <a:pt x="15622" y="116772"/>
                  <a:pt x="15622" y="111599"/>
                  <a:pt x="18808" y="108413"/>
                </a:cubicBezTo>
                <a:lnTo>
                  <a:pt x="61979" y="65241"/>
                </a:lnTo>
                <a:lnTo>
                  <a:pt x="18833" y="22070"/>
                </a:lnTo>
                <a:cubicBezTo>
                  <a:pt x="15648" y="18884"/>
                  <a:pt x="15648" y="13711"/>
                  <a:pt x="18833" y="10525"/>
                </a:cubicBezTo>
                <a:cubicBezTo>
                  <a:pt x="22019" y="7340"/>
                  <a:pt x="27192" y="7340"/>
                  <a:pt x="30378" y="10525"/>
                </a:cubicBezTo>
                <a:lnTo>
                  <a:pt x="79309" y="59456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39" name="Text 37"/>
          <p:cNvSpPr/>
          <p:nvPr/>
        </p:nvSpPr>
        <p:spPr>
          <a:xfrm>
            <a:off x="6699866" y="3009263"/>
            <a:ext cx="1598416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 prediction &lt; 50 cycles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12297" y="3302849"/>
            <a:ext cx="81552" cy="130483"/>
          </a:xfrm>
          <a:custGeom>
            <a:avLst/>
            <a:gdLst/>
            <a:ahLst/>
            <a:cxnLst/>
            <a:rect l="l" t="t" r="r" b="b"/>
            <a:pathLst>
              <a:path w="81552" h="130483">
                <a:moveTo>
                  <a:pt x="79284" y="59482"/>
                </a:moveTo>
                <a:cubicBezTo>
                  <a:pt x="82469" y="62667"/>
                  <a:pt x="82469" y="67841"/>
                  <a:pt x="79284" y="71027"/>
                </a:cubicBezTo>
                <a:lnTo>
                  <a:pt x="30353" y="119958"/>
                </a:lnTo>
                <a:cubicBezTo>
                  <a:pt x="27167" y="123143"/>
                  <a:pt x="21994" y="123143"/>
                  <a:pt x="18808" y="119958"/>
                </a:cubicBezTo>
                <a:cubicBezTo>
                  <a:pt x="15622" y="116772"/>
                  <a:pt x="15622" y="111599"/>
                  <a:pt x="18808" y="108413"/>
                </a:cubicBezTo>
                <a:lnTo>
                  <a:pt x="61979" y="65241"/>
                </a:lnTo>
                <a:lnTo>
                  <a:pt x="18833" y="22070"/>
                </a:lnTo>
                <a:cubicBezTo>
                  <a:pt x="15648" y="18884"/>
                  <a:pt x="15648" y="13711"/>
                  <a:pt x="18833" y="10525"/>
                </a:cubicBezTo>
                <a:cubicBezTo>
                  <a:pt x="22019" y="7340"/>
                  <a:pt x="27192" y="7340"/>
                  <a:pt x="30378" y="10525"/>
                </a:cubicBezTo>
                <a:lnTo>
                  <a:pt x="79309" y="59456"/>
                </a:lnTo>
                <a:close/>
              </a:path>
            </a:pathLst>
          </a:custGeom>
          <a:solidFill>
            <a:srgbClr val="FB2C36"/>
          </a:solidFill>
          <a:ln/>
        </p:spPr>
      </p:sp>
      <p:sp>
        <p:nvSpPr>
          <p:cNvPr id="41" name="Text 39"/>
          <p:cNvSpPr/>
          <p:nvPr/>
        </p:nvSpPr>
        <p:spPr>
          <a:xfrm>
            <a:off x="6699866" y="3270229"/>
            <a:ext cx="1655502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Rapid degradation detected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6960" y="3706531"/>
            <a:ext cx="5357956" cy="1280364"/>
          </a:xfrm>
          <a:custGeom>
            <a:avLst/>
            <a:gdLst/>
            <a:ahLst/>
            <a:cxnLst/>
            <a:rect l="l" t="t" r="r" b="b"/>
            <a:pathLst>
              <a:path w="5357956" h="1280364">
                <a:moveTo>
                  <a:pt x="0" y="0"/>
                </a:moveTo>
                <a:lnTo>
                  <a:pt x="5357956" y="0"/>
                </a:lnTo>
                <a:lnTo>
                  <a:pt x="5357956" y="1280364"/>
                </a:lnTo>
                <a:lnTo>
                  <a:pt x="0" y="128036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81715" y="3873712"/>
            <a:ext cx="183492" cy="163104"/>
          </a:xfrm>
          <a:custGeom>
            <a:avLst/>
            <a:gdLst/>
            <a:ahLst/>
            <a:cxnLst/>
            <a:rect l="l" t="t" r="r" b="b"/>
            <a:pathLst>
              <a:path w="183492" h="163104">
                <a:moveTo>
                  <a:pt x="162275" y="31410"/>
                </a:moveTo>
                <a:cubicBezTo>
                  <a:pt x="164696" y="28989"/>
                  <a:pt x="168742" y="29594"/>
                  <a:pt x="169953" y="32780"/>
                </a:cubicBezTo>
                <a:cubicBezTo>
                  <a:pt x="172119" y="38419"/>
                  <a:pt x="173298" y="44567"/>
                  <a:pt x="173298" y="50970"/>
                </a:cubicBezTo>
                <a:cubicBezTo>
                  <a:pt x="173298" y="79131"/>
                  <a:pt x="150489" y="101940"/>
                  <a:pt x="122328" y="101940"/>
                </a:cubicBezTo>
                <a:cubicBezTo>
                  <a:pt x="116753" y="101940"/>
                  <a:pt x="111369" y="101048"/>
                  <a:pt x="106336" y="99391"/>
                </a:cubicBezTo>
                <a:lnTo>
                  <a:pt x="46797" y="158931"/>
                </a:lnTo>
                <a:cubicBezTo>
                  <a:pt x="37845" y="167882"/>
                  <a:pt x="23319" y="167882"/>
                  <a:pt x="14367" y="158931"/>
                </a:cubicBezTo>
                <a:cubicBezTo>
                  <a:pt x="5416" y="149979"/>
                  <a:pt x="5416" y="135453"/>
                  <a:pt x="14367" y="126501"/>
                </a:cubicBezTo>
                <a:lnTo>
                  <a:pt x="73906" y="66962"/>
                </a:lnTo>
                <a:cubicBezTo>
                  <a:pt x="72250" y="61928"/>
                  <a:pt x="71358" y="56577"/>
                  <a:pt x="71358" y="50970"/>
                </a:cubicBezTo>
                <a:cubicBezTo>
                  <a:pt x="71358" y="22809"/>
                  <a:pt x="94167" y="0"/>
                  <a:pt x="122328" y="0"/>
                </a:cubicBezTo>
                <a:cubicBezTo>
                  <a:pt x="128731" y="0"/>
                  <a:pt x="134879" y="1179"/>
                  <a:pt x="140518" y="3345"/>
                </a:cubicBezTo>
                <a:cubicBezTo>
                  <a:pt x="143703" y="4555"/>
                  <a:pt x="144277" y="8601"/>
                  <a:pt x="141887" y="11022"/>
                </a:cubicBezTo>
                <a:lnTo>
                  <a:pt x="113631" y="39279"/>
                </a:lnTo>
                <a:cubicBezTo>
                  <a:pt x="112675" y="40234"/>
                  <a:pt x="112134" y="41540"/>
                  <a:pt x="112134" y="42878"/>
                </a:cubicBezTo>
                <a:lnTo>
                  <a:pt x="112134" y="56067"/>
                </a:lnTo>
                <a:cubicBezTo>
                  <a:pt x="112134" y="58870"/>
                  <a:pt x="114427" y="61164"/>
                  <a:pt x="117231" y="61164"/>
                </a:cubicBezTo>
                <a:lnTo>
                  <a:pt x="130419" y="61164"/>
                </a:lnTo>
                <a:cubicBezTo>
                  <a:pt x="131757" y="61164"/>
                  <a:pt x="133063" y="60622"/>
                  <a:pt x="134019" y="59667"/>
                </a:cubicBezTo>
                <a:lnTo>
                  <a:pt x="162275" y="3141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4" name="Text 42"/>
          <p:cNvSpPr/>
          <p:nvPr/>
        </p:nvSpPr>
        <p:spPr>
          <a:xfrm>
            <a:off x="6773263" y="3841092"/>
            <a:ext cx="1655502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Recommended Actions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512297" y="4167299"/>
            <a:ext cx="81552" cy="130483"/>
          </a:xfrm>
          <a:custGeom>
            <a:avLst/>
            <a:gdLst/>
            <a:ahLst/>
            <a:cxnLst/>
            <a:rect l="l" t="t" r="r" b="b"/>
            <a:pathLst>
              <a:path w="81552" h="130483">
                <a:moveTo>
                  <a:pt x="79284" y="59482"/>
                </a:moveTo>
                <a:cubicBezTo>
                  <a:pt x="82469" y="62667"/>
                  <a:pt x="82469" y="67841"/>
                  <a:pt x="79284" y="71027"/>
                </a:cubicBezTo>
                <a:lnTo>
                  <a:pt x="30353" y="119958"/>
                </a:lnTo>
                <a:cubicBezTo>
                  <a:pt x="27167" y="123143"/>
                  <a:pt x="21994" y="123143"/>
                  <a:pt x="18808" y="119958"/>
                </a:cubicBezTo>
                <a:cubicBezTo>
                  <a:pt x="15622" y="116772"/>
                  <a:pt x="15622" y="111599"/>
                  <a:pt x="18808" y="108413"/>
                </a:cubicBezTo>
                <a:lnTo>
                  <a:pt x="61979" y="65241"/>
                </a:lnTo>
                <a:lnTo>
                  <a:pt x="18833" y="22070"/>
                </a:lnTo>
                <a:cubicBezTo>
                  <a:pt x="15648" y="18884"/>
                  <a:pt x="15648" y="13711"/>
                  <a:pt x="18833" y="10525"/>
                </a:cubicBezTo>
                <a:cubicBezTo>
                  <a:pt x="22019" y="7340"/>
                  <a:pt x="27192" y="7340"/>
                  <a:pt x="30378" y="10525"/>
                </a:cubicBezTo>
                <a:lnTo>
                  <a:pt x="79309" y="5945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6" name="Text 44"/>
          <p:cNvSpPr/>
          <p:nvPr/>
        </p:nvSpPr>
        <p:spPr>
          <a:xfrm>
            <a:off x="6699866" y="4134678"/>
            <a:ext cx="1655502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Ground aircraft immediately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512297" y="4428265"/>
            <a:ext cx="81552" cy="130483"/>
          </a:xfrm>
          <a:custGeom>
            <a:avLst/>
            <a:gdLst/>
            <a:ahLst/>
            <a:cxnLst/>
            <a:rect l="l" t="t" r="r" b="b"/>
            <a:pathLst>
              <a:path w="81552" h="130483">
                <a:moveTo>
                  <a:pt x="79284" y="59482"/>
                </a:moveTo>
                <a:cubicBezTo>
                  <a:pt x="82469" y="62667"/>
                  <a:pt x="82469" y="67841"/>
                  <a:pt x="79284" y="71027"/>
                </a:cubicBezTo>
                <a:lnTo>
                  <a:pt x="30353" y="119958"/>
                </a:lnTo>
                <a:cubicBezTo>
                  <a:pt x="27167" y="123143"/>
                  <a:pt x="21994" y="123143"/>
                  <a:pt x="18808" y="119958"/>
                </a:cubicBezTo>
                <a:cubicBezTo>
                  <a:pt x="15622" y="116772"/>
                  <a:pt x="15622" y="111599"/>
                  <a:pt x="18808" y="108413"/>
                </a:cubicBezTo>
                <a:lnTo>
                  <a:pt x="61979" y="65241"/>
                </a:lnTo>
                <a:lnTo>
                  <a:pt x="18833" y="22070"/>
                </a:lnTo>
                <a:cubicBezTo>
                  <a:pt x="15648" y="18884"/>
                  <a:pt x="15648" y="13711"/>
                  <a:pt x="18833" y="10525"/>
                </a:cubicBezTo>
                <a:cubicBezTo>
                  <a:pt x="22019" y="7340"/>
                  <a:pt x="27192" y="7340"/>
                  <a:pt x="30378" y="10525"/>
                </a:cubicBezTo>
                <a:lnTo>
                  <a:pt x="79309" y="5945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8" name="Text 46"/>
          <p:cNvSpPr/>
          <p:nvPr/>
        </p:nvSpPr>
        <p:spPr>
          <a:xfrm>
            <a:off x="6699866" y="4395644"/>
            <a:ext cx="2046951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emergency maintenance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512297" y="4689231"/>
            <a:ext cx="81552" cy="130483"/>
          </a:xfrm>
          <a:custGeom>
            <a:avLst/>
            <a:gdLst/>
            <a:ahLst/>
            <a:cxnLst/>
            <a:rect l="l" t="t" r="r" b="b"/>
            <a:pathLst>
              <a:path w="81552" h="130483">
                <a:moveTo>
                  <a:pt x="79284" y="59482"/>
                </a:moveTo>
                <a:cubicBezTo>
                  <a:pt x="82469" y="62667"/>
                  <a:pt x="82469" y="67841"/>
                  <a:pt x="79284" y="71027"/>
                </a:cubicBezTo>
                <a:lnTo>
                  <a:pt x="30353" y="119958"/>
                </a:lnTo>
                <a:cubicBezTo>
                  <a:pt x="27167" y="123143"/>
                  <a:pt x="21994" y="123143"/>
                  <a:pt x="18808" y="119958"/>
                </a:cubicBezTo>
                <a:cubicBezTo>
                  <a:pt x="15622" y="116772"/>
                  <a:pt x="15622" y="111599"/>
                  <a:pt x="18808" y="108413"/>
                </a:cubicBezTo>
                <a:lnTo>
                  <a:pt x="61979" y="65241"/>
                </a:lnTo>
                <a:lnTo>
                  <a:pt x="18833" y="22070"/>
                </a:lnTo>
                <a:cubicBezTo>
                  <a:pt x="15648" y="18884"/>
                  <a:pt x="15648" y="13711"/>
                  <a:pt x="18833" y="10525"/>
                </a:cubicBezTo>
                <a:cubicBezTo>
                  <a:pt x="22019" y="7340"/>
                  <a:pt x="27192" y="7340"/>
                  <a:pt x="30378" y="10525"/>
                </a:cubicBezTo>
                <a:lnTo>
                  <a:pt x="79309" y="5945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0" name="Text 48"/>
          <p:cNvSpPr/>
          <p:nvPr/>
        </p:nvSpPr>
        <p:spPr>
          <a:xfrm>
            <a:off x="6699866" y="4656610"/>
            <a:ext cx="1573951" cy="1957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Inspect sensor data trends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165701" y="5296792"/>
            <a:ext cx="5700474" cy="1231433"/>
          </a:xfrm>
          <a:custGeom>
            <a:avLst/>
            <a:gdLst/>
            <a:ahLst/>
            <a:cxnLst/>
            <a:rect l="l" t="t" r="r" b="b"/>
            <a:pathLst>
              <a:path w="5700474" h="1231433">
                <a:moveTo>
                  <a:pt x="0" y="0"/>
                </a:moveTo>
                <a:lnTo>
                  <a:pt x="5700474" y="0"/>
                </a:lnTo>
                <a:lnTo>
                  <a:pt x="5700474" y="1231433"/>
                </a:lnTo>
                <a:lnTo>
                  <a:pt x="0" y="123143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67361" y="5463973"/>
            <a:ext cx="293587" cy="293587"/>
          </a:xfrm>
          <a:custGeom>
            <a:avLst/>
            <a:gdLst/>
            <a:ahLst/>
            <a:cxnLst/>
            <a:rect l="l" t="t" r="r" b="b"/>
            <a:pathLst>
              <a:path w="293587" h="293587">
                <a:moveTo>
                  <a:pt x="146793" y="0"/>
                </a:moveTo>
                <a:cubicBezTo>
                  <a:pt x="149431" y="0"/>
                  <a:pt x="152069" y="573"/>
                  <a:pt x="154477" y="1663"/>
                </a:cubicBezTo>
                <a:lnTo>
                  <a:pt x="262508" y="47478"/>
                </a:lnTo>
                <a:cubicBezTo>
                  <a:pt x="275123" y="52811"/>
                  <a:pt x="284527" y="65254"/>
                  <a:pt x="284469" y="80278"/>
                </a:cubicBezTo>
                <a:cubicBezTo>
                  <a:pt x="284183" y="137160"/>
                  <a:pt x="260787" y="241234"/>
                  <a:pt x="161989" y="288541"/>
                </a:cubicBezTo>
                <a:cubicBezTo>
                  <a:pt x="152413" y="293128"/>
                  <a:pt x="141289" y="293128"/>
                  <a:pt x="131713" y="288541"/>
                </a:cubicBezTo>
                <a:cubicBezTo>
                  <a:pt x="32856" y="241234"/>
                  <a:pt x="9519" y="137160"/>
                  <a:pt x="9232" y="80278"/>
                </a:cubicBezTo>
                <a:cubicBezTo>
                  <a:pt x="9175" y="65254"/>
                  <a:pt x="18579" y="52811"/>
                  <a:pt x="31194" y="47478"/>
                </a:cubicBezTo>
                <a:lnTo>
                  <a:pt x="139167" y="1663"/>
                </a:lnTo>
                <a:cubicBezTo>
                  <a:pt x="141575" y="573"/>
                  <a:pt x="144156" y="0"/>
                  <a:pt x="146793" y="0"/>
                </a:cubicBezTo>
                <a:close/>
                <a:moveTo>
                  <a:pt x="146793" y="38304"/>
                </a:moveTo>
                <a:lnTo>
                  <a:pt x="146793" y="255111"/>
                </a:lnTo>
                <a:cubicBezTo>
                  <a:pt x="225924" y="216807"/>
                  <a:pt x="247198" y="131942"/>
                  <a:pt x="247714" y="81138"/>
                </a:cubicBezTo>
                <a:lnTo>
                  <a:pt x="146793" y="38361"/>
                </a:lnTo>
                <a:lnTo>
                  <a:pt x="146793" y="38361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3" name="Text 51"/>
          <p:cNvSpPr/>
          <p:nvPr/>
        </p:nvSpPr>
        <p:spPr>
          <a:xfrm>
            <a:off x="6292107" y="5855422"/>
            <a:ext cx="5447663" cy="228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84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First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300262" y="6149009"/>
            <a:ext cx="5431353" cy="212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02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Prevents catastrophic in-flight failures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avbuyer.com/6f38753fec8c051a179effca4a66f7a7f11810f3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12668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Text 2"/>
          <p:cNvSpPr/>
          <p:nvPr/>
        </p:nvSpPr>
        <p:spPr>
          <a:xfrm>
            <a:off x="475357" y="1438275"/>
            <a:ext cx="10096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50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485900" y="126682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486025"/>
            <a:ext cx="11858625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Impact &amp;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6750" b="1" dirty="0">
                <a:solidFill>
                  <a:srgbClr val="00A9E0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10075"/>
            <a:ext cx="74580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Results, benefits, and next steps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5443538"/>
            <a:ext cx="1219200" cy="28575"/>
          </a:xfrm>
          <a:custGeom>
            <a:avLst/>
            <a:gdLst/>
            <a:ahLst/>
            <a:cxnLst/>
            <a:rect l="l" t="t" r="r" b="b"/>
            <a:pathLst>
              <a:path w="1219200" h="28575">
                <a:moveTo>
                  <a:pt x="0" y="0"/>
                </a:moveTo>
                <a:lnTo>
                  <a:pt x="1219200" y="0"/>
                </a:lnTo>
                <a:lnTo>
                  <a:pt x="12192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0" name="Text 7"/>
          <p:cNvSpPr/>
          <p:nvPr/>
        </p:nvSpPr>
        <p:spPr>
          <a:xfrm>
            <a:off x="1905000" y="5324475"/>
            <a:ext cx="1952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Aviation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175" y="369175"/>
            <a:ext cx="11518256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7" b="1" spc="203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9175" y="627597"/>
            <a:ext cx="11619779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16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Business Impact &amp; Benefits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175" y="1144442"/>
            <a:ext cx="886020" cy="27688"/>
          </a:xfrm>
          <a:custGeom>
            <a:avLst/>
            <a:gdLst/>
            <a:ahLst/>
            <a:cxnLst/>
            <a:rect l="l" t="t" r="r" b="b"/>
            <a:pathLst>
              <a:path w="886020" h="27688">
                <a:moveTo>
                  <a:pt x="0" y="0"/>
                </a:moveTo>
                <a:lnTo>
                  <a:pt x="886020" y="0"/>
                </a:lnTo>
                <a:lnTo>
                  <a:pt x="886020" y="27688"/>
                </a:lnTo>
                <a:lnTo>
                  <a:pt x="0" y="27688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73790" y="1324415"/>
            <a:ext cx="7577314" cy="3774813"/>
          </a:xfrm>
          <a:custGeom>
            <a:avLst/>
            <a:gdLst/>
            <a:ahLst/>
            <a:cxnLst/>
            <a:rect l="l" t="t" r="r" b="b"/>
            <a:pathLst>
              <a:path w="7577314" h="3774813">
                <a:moveTo>
                  <a:pt x="0" y="0"/>
                </a:moveTo>
                <a:lnTo>
                  <a:pt x="7577314" y="0"/>
                </a:lnTo>
                <a:lnTo>
                  <a:pt x="7577314" y="3774813"/>
                </a:lnTo>
                <a:lnTo>
                  <a:pt x="0" y="377481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0680" y="1541305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27688" y="27688"/>
                </a:moveTo>
                <a:cubicBezTo>
                  <a:pt x="27688" y="20031"/>
                  <a:pt x="21502" y="13844"/>
                  <a:pt x="13844" y="13844"/>
                </a:cubicBezTo>
                <a:cubicBezTo>
                  <a:pt x="6187" y="13844"/>
                  <a:pt x="0" y="20031"/>
                  <a:pt x="0" y="27688"/>
                </a:cubicBezTo>
                <a:lnTo>
                  <a:pt x="0" y="173051"/>
                </a:lnTo>
                <a:cubicBezTo>
                  <a:pt x="0" y="192173"/>
                  <a:pt x="15488" y="207661"/>
                  <a:pt x="34610" y="207661"/>
                </a:cubicBezTo>
                <a:lnTo>
                  <a:pt x="207661" y="207661"/>
                </a:lnTo>
                <a:cubicBezTo>
                  <a:pt x="215318" y="207661"/>
                  <a:pt x="221505" y="201474"/>
                  <a:pt x="221505" y="193817"/>
                </a:cubicBezTo>
                <a:cubicBezTo>
                  <a:pt x="221505" y="186159"/>
                  <a:pt x="215318" y="179973"/>
                  <a:pt x="207661" y="179973"/>
                </a:cubicBezTo>
                <a:lnTo>
                  <a:pt x="34610" y="179973"/>
                </a:lnTo>
                <a:cubicBezTo>
                  <a:pt x="30803" y="179973"/>
                  <a:pt x="27688" y="176858"/>
                  <a:pt x="27688" y="173051"/>
                </a:cubicBezTo>
                <a:lnTo>
                  <a:pt x="27688" y="27688"/>
                </a:lnTo>
                <a:close/>
                <a:moveTo>
                  <a:pt x="203594" y="65154"/>
                </a:moveTo>
                <a:cubicBezTo>
                  <a:pt x="209002" y="59746"/>
                  <a:pt x="209002" y="50963"/>
                  <a:pt x="203594" y="45556"/>
                </a:cubicBezTo>
                <a:cubicBezTo>
                  <a:pt x="198186" y="40148"/>
                  <a:pt x="189404" y="40148"/>
                  <a:pt x="183996" y="45556"/>
                </a:cubicBezTo>
                <a:lnTo>
                  <a:pt x="138441" y="91154"/>
                </a:lnTo>
                <a:lnTo>
                  <a:pt x="113608" y="66365"/>
                </a:lnTo>
                <a:cubicBezTo>
                  <a:pt x="108200" y="60957"/>
                  <a:pt x="99418" y="60957"/>
                  <a:pt x="94010" y="66365"/>
                </a:cubicBezTo>
                <a:lnTo>
                  <a:pt x="52478" y="107897"/>
                </a:lnTo>
                <a:cubicBezTo>
                  <a:pt x="47070" y="113305"/>
                  <a:pt x="47070" y="122087"/>
                  <a:pt x="52478" y="127495"/>
                </a:cubicBezTo>
                <a:cubicBezTo>
                  <a:pt x="57885" y="132903"/>
                  <a:pt x="66668" y="132903"/>
                  <a:pt x="72076" y="127495"/>
                </a:cubicBezTo>
                <a:lnTo>
                  <a:pt x="103830" y="95740"/>
                </a:lnTo>
                <a:lnTo>
                  <a:pt x="128663" y="120573"/>
                </a:lnTo>
                <a:cubicBezTo>
                  <a:pt x="134071" y="125981"/>
                  <a:pt x="142853" y="125981"/>
                  <a:pt x="148261" y="120573"/>
                </a:cubicBezTo>
                <a:lnTo>
                  <a:pt x="203637" y="65197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920359" y="1513617"/>
            <a:ext cx="6952295" cy="295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44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2992" y="1956627"/>
            <a:ext cx="7272745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Predictive Maintenance system delivers </a:t>
            </a:r>
            <a:pPr>
              <a:lnSpc>
                <a:spcPct val="140000"/>
              </a:lnSpc>
            </a:pPr>
            <a:r>
              <a:rPr lang="en-US" sz="116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measurable business value</a:t>
            </a:r>
            <a:pPr>
              <a:lnSpc>
                <a:spcPct val="140000"/>
              </a:lnSpc>
            </a:pPr>
            <a:r>
              <a:rPr lang="en-US" sz="1163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transforming maintenance operations from reactive to predictive, reducing costs, and enhancing safety.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1450" y="2584224"/>
            <a:ext cx="3525620" cy="1107525"/>
          </a:xfrm>
          <a:custGeom>
            <a:avLst/>
            <a:gdLst/>
            <a:ahLst/>
            <a:cxnLst/>
            <a:rect l="l" t="t" r="r" b="b"/>
            <a:pathLst>
              <a:path w="3525620" h="1107525">
                <a:moveTo>
                  <a:pt x="0" y="0"/>
                </a:moveTo>
                <a:lnTo>
                  <a:pt x="3525620" y="0"/>
                </a:lnTo>
                <a:lnTo>
                  <a:pt x="3525620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450" y="2584224"/>
            <a:ext cx="36917" cy="1107525"/>
          </a:xfrm>
          <a:custGeom>
            <a:avLst/>
            <a:gdLst/>
            <a:ahLst/>
            <a:cxnLst/>
            <a:rect l="l" t="t" r="r" b="b"/>
            <a:pathLst>
              <a:path w="36917" h="1107525">
                <a:moveTo>
                  <a:pt x="0" y="0"/>
                </a:moveTo>
                <a:lnTo>
                  <a:pt x="36917" y="0"/>
                </a:lnTo>
                <a:lnTo>
                  <a:pt x="36917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Shape 9"/>
          <p:cNvSpPr/>
          <p:nvPr/>
        </p:nvSpPr>
        <p:spPr>
          <a:xfrm>
            <a:off x="729120" y="2768812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110752" y="0"/>
                </a:moveTo>
                <a:cubicBezTo>
                  <a:pt x="112743" y="0"/>
                  <a:pt x="114733" y="433"/>
                  <a:pt x="116550" y="1255"/>
                </a:cubicBezTo>
                <a:lnTo>
                  <a:pt x="198057" y="35821"/>
                </a:lnTo>
                <a:cubicBezTo>
                  <a:pt x="207574" y="39845"/>
                  <a:pt x="214669" y="49233"/>
                  <a:pt x="214626" y="60568"/>
                </a:cubicBezTo>
                <a:cubicBezTo>
                  <a:pt x="214410" y="103484"/>
                  <a:pt x="196759" y="182006"/>
                  <a:pt x="122217" y="217698"/>
                </a:cubicBezTo>
                <a:cubicBezTo>
                  <a:pt x="114992" y="221159"/>
                  <a:pt x="106599" y="221159"/>
                  <a:pt x="99374" y="217698"/>
                </a:cubicBezTo>
                <a:cubicBezTo>
                  <a:pt x="24790" y="182006"/>
                  <a:pt x="7182" y="103484"/>
                  <a:pt x="6965" y="60568"/>
                </a:cubicBezTo>
                <a:cubicBezTo>
                  <a:pt x="6922" y="49233"/>
                  <a:pt x="14017" y="39845"/>
                  <a:pt x="23535" y="35821"/>
                </a:cubicBezTo>
                <a:lnTo>
                  <a:pt x="104999" y="1255"/>
                </a:lnTo>
                <a:cubicBezTo>
                  <a:pt x="106816" y="433"/>
                  <a:pt x="108762" y="0"/>
                  <a:pt x="110752" y="0"/>
                </a:cubicBezTo>
                <a:close/>
                <a:moveTo>
                  <a:pt x="110752" y="28899"/>
                </a:moveTo>
                <a:lnTo>
                  <a:pt x="110752" y="192476"/>
                </a:lnTo>
                <a:cubicBezTo>
                  <a:pt x="170455" y="163576"/>
                  <a:pt x="186505" y="99547"/>
                  <a:pt x="186895" y="61217"/>
                </a:cubicBezTo>
                <a:lnTo>
                  <a:pt x="110752" y="28943"/>
                </a:lnTo>
                <a:lnTo>
                  <a:pt x="110752" y="28943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10"/>
          <p:cNvSpPr/>
          <p:nvPr/>
        </p:nvSpPr>
        <p:spPr>
          <a:xfrm>
            <a:off x="1042054" y="2731894"/>
            <a:ext cx="2999546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Catastrophic Failures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42054" y="3064151"/>
            <a:ext cx="2990316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warning system identifies at-risk engines before failure occurs.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5849" y="2584224"/>
            <a:ext cx="3525620" cy="1107525"/>
          </a:xfrm>
          <a:custGeom>
            <a:avLst/>
            <a:gdLst/>
            <a:ahLst/>
            <a:cxnLst/>
            <a:rect l="l" t="t" r="r" b="b"/>
            <a:pathLst>
              <a:path w="3525620" h="1107525">
                <a:moveTo>
                  <a:pt x="0" y="0"/>
                </a:moveTo>
                <a:lnTo>
                  <a:pt x="3525620" y="0"/>
                </a:lnTo>
                <a:lnTo>
                  <a:pt x="3525620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235849" y="2584224"/>
            <a:ext cx="36917" cy="1107525"/>
          </a:xfrm>
          <a:custGeom>
            <a:avLst/>
            <a:gdLst/>
            <a:ahLst/>
            <a:cxnLst/>
            <a:rect l="l" t="t" r="r" b="b"/>
            <a:pathLst>
              <a:path w="36917" h="1107525">
                <a:moveTo>
                  <a:pt x="0" y="0"/>
                </a:moveTo>
                <a:lnTo>
                  <a:pt x="36917" y="0"/>
                </a:lnTo>
                <a:lnTo>
                  <a:pt x="36917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6" name="Shape 14"/>
          <p:cNvSpPr/>
          <p:nvPr/>
        </p:nvSpPr>
        <p:spPr>
          <a:xfrm>
            <a:off x="4448125" y="2768812"/>
            <a:ext cx="138441" cy="221505"/>
          </a:xfrm>
          <a:custGeom>
            <a:avLst/>
            <a:gdLst/>
            <a:ahLst/>
            <a:cxnLst/>
            <a:rect l="l" t="t" r="r" b="b"/>
            <a:pathLst>
              <a:path w="138441" h="221505">
                <a:moveTo>
                  <a:pt x="58837" y="10383"/>
                </a:moveTo>
                <a:cubicBezTo>
                  <a:pt x="58837" y="4629"/>
                  <a:pt x="63466" y="0"/>
                  <a:pt x="69220" y="0"/>
                </a:cubicBezTo>
                <a:cubicBezTo>
                  <a:pt x="74974" y="0"/>
                  <a:pt x="79603" y="4629"/>
                  <a:pt x="79603" y="10383"/>
                </a:cubicBezTo>
                <a:lnTo>
                  <a:pt x="79603" y="27688"/>
                </a:lnTo>
                <a:lnTo>
                  <a:pt x="103830" y="27688"/>
                </a:lnTo>
                <a:cubicBezTo>
                  <a:pt x="111488" y="27688"/>
                  <a:pt x="117674" y="33875"/>
                  <a:pt x="117674" y="41532"/>
                </a:cubicBezTo>
                <a:cubicBezTo>
                  <a:pt x="117674" y="49190"/>
                  <a:pt x="111488" y="55376"/>
                  <a:pt x="103830" y="55376"/>
                </a:cubicBezTo>
                <a:lnTo>
                  <a:pt x="54122" y="55376"/>
                </a:lnTo>
                <a:cubicBezTo>
                  <a:pt x="43349" y="55376"/>
                  <a:pt x="34610" y="64115"/>
                  <a:pt x="34610" y="74888"/>
                </a:cubicBezTo>
                <a:cubicBezTo>
                  <a:pt x="34610" y="84622"/>
                  <a:pt x="41748" y="92842"/>
                  <a:pt x="51353" y="94226"/>
                </a:cubicBezTo>
                <a:lnTo>
                  <a:pt x="90981" y="99894"/>
                </a:lnTo>
                <a:cubicBezTo>
                  <a:pt x="114257" y="103225"/>
                  <a:pt x="131519" y="123126"/>
                  <a:pt x="131519" y="146617"/>
                </a:cubicBezTo>
                <a:cubicBezTo>
                  <a:pt x="131519" y="172705"/>
                  <a:pt x="110363" y="193817"/>
                  <a:pt x="84319" y="193817"/>
                </a:cubicBezTo>
                <a:lnTo>
                  <a:pt x="79603" y="193817"/>
                </a:lnTo>
                <a:lnTo>
                  <a:pt x="79603" y="211122"/>
                </a:lnTo>
                <a:cubicBezTo>
                  <a:pt x="79603" y="216876"/>
                  <a:pt x="74974" y="221505"/>
                  <a:pt x="69220" y="221505"/>
                </a:cubicBezTo>
                <a:cubicBezTo>
                  <a:pt x="63466" y="221505"/>
                  <a:pt x="58837" y="216876"/>
                  <a:pt x="58837" y="211122"/>
                </a:cubicBezTo>
                <a:lnTo>
                  <a:pt x="58837" y="193817"/>
                </a:lnTo>
                <a:lnTo>
                  <a:pt x="27688" y="193817"/>
                </a:lnTo>
                <a:cubicBezTo>
                  <a:pt x="20031" y="193817"/>
                  <a:pt x="13844" y="187630"/>
                  <a:pt x="13844" y="179973"/>
                </a:cubicBezTo>
                <a:cubicBezTo>
                  <a:pt x="13844" y="172315"/>
                  <a:pt x="20031" y="166129"/>
                  <a:pt x="27688" y="166129"/>
                </a:cubicBezTo>
                <a:lnTo>
                  <a:pt x="84319" y="166129"/>
                </a:lnTo>
                <a:cubicBezTo>
                  <a:pt x="95091" y="166129"/>
                  <a:pt x="103830" y="157390"/>
                  <a:pt x="103830" y="146617"/>
                </a:cubicBezTo>
                <a:cubicBezTo>
                  <a:pt x="103830" y="136883"/>
                  <a:pt x="96692" y="128663"/>
                  <a:pt x="87088" y="127279"/>
                </a:cubicBezTo>
                <a:lnTo>
                  <a:pt x="47459" y="121611"/>
                </a:lnTo>
                <a:cubicBezTo>
                  <a:pt x="24184" y="118323"/>
                  <a:pt x="6922" y="98379"/>
                  <a:pt x="6922" y="74888"/>
                </a:cubicBezTo>
                <a:cubicBezTo>
                  <a:pt x="6922" y="48844"/>
                  <a:pt x="28077" y="27688"/>
                  <a:pt x="54122" y="27688"/>
                </a:cubicBezTo>
                <a:lnTo>
                  <a:pt x="58837" y="27688"/>
                </a:lnTo>
                <a:lnTo>
                  <a:pt x="58837" y="10383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7" name="Text 15"/>
          <p:cNvSpPr/>
          <p:nvPr/>
        </p:nvSpPr>
        <p:spPr>
          <a:xfrm>
            <a:off x="4740580" y="2731894"/>
            <a:ext cx="2953399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Maintenance Costs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40580" y="3064151"/>
            <a:ext cx="2944170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20-30% cost reduction through optimized scheduling.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450" y="3802501"/>
            <a:ext cx="3525620" cy="1107525"/>
          </a:xfrm>
          <a:custGeom>
            <a:avLst/>
            <a:gdLst/>
            <a:ahLst/>
            <a:cxnLst/>
            <a:rect l="l" t="t" r="r" b="b"/>
            <a:pathLst>
              <a:path w="3525620" h="1107525">
                <a:moveTo>
                  <a:pt x="0" y="0"/>
                </a:moveTo>
                <a:lnTo>
                  <a:pt x="3525620" y="0"/>
                </a:lnTo>
                <a:lnTo>
                  <a:pt x="3525620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81450" y="3802501"/>
            <a:ext cx="36917" cy="1107525"/>
          </a:xfrm>
          <a:custGeom>
            <a:avLst/>
            <a:gdLst/>
            <a:ahLst/>
            <a:cxnLst/>
            <a:rect l="l" t="t" r="r" b="b"/>
            <a:pathLst>
              <a:path w="36917" h="1107525">
                <a:moveTo>
                  <a:pt x="0" y="0"/>
                </a:moveTo>
                <a:lnTo>
                  <a:pt x="36917" y="0"/>
                </a:lnTo>
                <a:lnTo>
                  <a:pt x="36917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1" name="Shape 19"/>
          <p:cNvSpPr/>
          <p:nvPr/>
        </p:nvSpPr>
        <p:spPr>
          <a:xfrm>
            <a:off x="733735" y="3987089"/>
            <a:ext cx="221505" cy="221505"/>
          </a:xfrm>
          <a:custGeom>
            <a:avLst/>
            <a:gdLst/>
            <a:ahLst/>
            <a:cxnLst/>
            <a:rect l="l" t="t" r="r" b="b"/>
            <a:pathLst>
              <a:path w="221505" h="221505">
                <a:moveTo>
                  <a:pt x="110752" y="0"/>
                </a:moveTo>
                <a:cubicBezTo>
                  <a:pt x="171878" y="0"/>
                  <a:pt x="221505" y="49627"/>
                  <a:pt x="221505" y="110752"/>
                </a:cubicBezTo>
                <a:cubicBezTo>
                  <a:pt x="221505" y="171878"/>
                  <a:pt x="171878" y="221505"/>
                  <a:pt x="110752" y="221505"/>
                </a:cubicBezTo>
                <a:cubicBezTo>
                  <a:pt x="49627" y="221505"/>
                  <a:pt x="0" y="171878"/>
                  <a:pt x="0" y="110752"/>
                </a:cubicBezTo>
                <a:cubicBezTo>
                  <a:pt x="0" y="49627"/>
                  <a:pt x="49627" y="0"/>
                  <a:pt x="110752" y="0"/>
                </a:cubicBezTo>
                <a:close/>
                <a:moveTo>
                  <a:pt x="100369" y="51915"/>
                </a:moveTo>
                <a:lnTo>
                  <a:pt x="100369" y="110752"/>
                </a:lnTo>
                <a:cubicBezTo>
                  <a:pt x="100369" y="114213"/>
                  <a:pt x="102100" y="117458"/>
                  <a:pt x="104999" y="119405"/>
                </a:cubicBezTo>
                <a:lnTo>
                  <a:pt x="146531" y="147093"/>
                </a:lnTo>
                <a:cubicBezTo>
                  <a:pt x="151290" y="150295"/>
                  <a:pt x="157736" y="148997"/>
                  <a:pt x="160937" y="144195"/>
                </a:cubicBezTo>
                <a:cubicBezTo>
                  <a:pt x="164139" y="139392"/>
                  <a:pt x="162841" y="132989"/>
                  <a:pt x="158039" y="129788"/>
                </a:cubicBezTo>
                <a:lnTo>
                  <a:pt x="121136" y="105215"/>
                </a:lnTo>
                <a:lnTo>
                  <a:pt x="121136" y="51915"/>
                </a:lnTo>
                <a:cubicBezTo>
                  <a:pt x="121136" y="46161"/>
                  <a:pt x="116506" y="41532"/>
                  <a:pt x="110752" y="41532"/>
                </a:cubicBezTo>
                <a:cubicBezTo>
                  <a:pt x="104999" y="41532"/>
                  <a:pt x="100369" y="46161"/>
                  <a:pt x="100369" y="51915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2" name="Text 20"/>
          <p:cNvSpPr/>
          <p:nvPr/>
        </p:nvSpPr>
        <p:spPr>
          <a:xfrm>
            <a:off x="1047966" y="3950171"/>
            <a:ext cx="2990316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Minimize Downtime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47966" y="4282428"/>
            <a:ext cx="2981087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Planned maintenance reduces unplanned downtime by up to 85%.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35849" y="3802501"/>
            <a:ext cx="3525620" cy="1107525"/>
          </a:xfrm>
          <a:custGeom>
            <a:avLst/>
            <a:gdLst/>
            <a:ahLst/>
            <a:cxnLst/>
            <a:rect l="l" t="t" r="r" b="b"/>
            <a:pathLst>
              <a:path w="3525620" h="1107525">
                <a:moveTo>
                  <a:pt x="0" y="0"/>
                </a:moveTo>
                <a:lnTo>
                  <a:pt x="3525620" y="0"/>
                </a:lnTo>
                <a:lnTo>
                  <a:pt x="3525620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35849" y="3802501"/>
            <a:ext cx="36917" cy="1107525"/>
          </a:xfrm>
          <a:custGeom>
            <a:avLst/>
            <a:gdLst/>
            <a:ahLst/>
            <a:cxnLst/>
            <a:rect l="l" t="t" r="r" b="b"/>
            <a:pathLst>
              <a:path w="36917" h="1107525">
                <a:moveTo>
                  <a:pt x="0" y="0"/>
                </a:moveTo>
                <a:lnTo>
                  <a:pt x="36917" y="0"/>
                </a:lnTo>
                <a:lnTo>
                  <a:pt x="36917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6" name="Shape 24"/>
          <p:cNvSpPr/>
          <p:nvPr/>
        </p:nvSpPr>
        <p:spPr>
          <a:xfrm>
            <a:off x="4369675" y="3987089"/>
            <a:ext cx="276881" cy="221505"/>
          </a:xfrm>
          <a:custGeom>
            <a:avLst/>
            <a:gdLst/>
            <a:ahLst/>
            <a:cxnLst/>
            <a:rect l="l" t="t" r="r" b="b"/>
            <a:pathLst>
              <a:path w="276881" h="221505">
                <a:moveTo>
                  <a:pt x="179929" y="91068"/>
                </a:moveTo>
                <a:cubicBezTo>
                  <a:pt x="185208" y="89640"/>
                  <a:pt x="190745" y="92150"/>
                  <a:pt x="193125" y="97038"/>
                </a:cubicBezTo>
                <a:lnTo>
                  <a:pt x="201171" y="113305"/>
                </a:lnTo>
                <a:cubicBezTo>
                  <a:pt x="205628" y="113911"/>
                  <a:pt x="209997" y="115122"/>
                  <a:pt x="214107" y="116809"/>
                </a:cubicBezTo>
                <a:lnTo>
                  <a:pt x="229249" y="106729"/>
                </a:lnTo>
                <a:cubicBezTo>
                  <a:pt x="233792" y="103701"/>
                  <a:pt x="239805" y="104306"/>
                  <a:pt x="243655" y="108157"/>
                </a:cubicBezTo>
                <a:lnTo>
                  <a:pt x="251962" y="116463"/>
                </a:lnTo>
                <a:cubicBezTo>
                  <a:pt x="255812" y="120314"/>
                  <a:pt x="256418" y="126370"/>
                  <a:pt x="253390" y="130870"/>
                </a:cubicBezTo>
                <a:lnTo>
                  <a:pt x="243309" y="145968"/>
                </a:lnTo>
                <a:cubicBezTo>
                  <a:pt x="244131" y="148002"/>
                  <a:pt x="244867" y="150121"/>
                  <a:pt x="245472" y="152328"/>
                </a:cubicBezTo>
                <a:cubicBezTo>
                  <a:pt x="246078" y="154534"/>
                  <a:pt x="246467" y="156697"/>
                  <a:pt x="246770" y="158904"/>
                </a:cubicBezTo>
                <a:lnTo>
                  <a:pt x="263080" y="166951"/>
                </a:lnTo>
                <a:cubicBezTo>
                  <a:pt x="267969" y="169373"/>
                  <a:pt x="270478" y="174911"/>
                  <a:pt x="269051" y="180146"/>
                </a:cubicBezTo>
                <a:lnTo>
                  <a:pt x="266022" y="191481"/>
                </a:lnTo>
                <a:cubicBezTo>
                  <a:pt x="264595" y="196715"/>
                  <a:pt x="259706" y="200263"/>
                  <a:pt x="254255" y="199917"/>
                </a:cubicBezTo>
                <a:lnTo>
                  <a:pt x="236084" y="198749"/>
                </a:lnTo>
                <a:cubicBezTo>
                  <a:pt x="233359" y="202253"/>
                  <a:pt x="230201" y="205498"/>
                  <a:pt x="226610" y="208267"/>
                </a:cubicBezTo>
                <a:lnTo>
                  <a:pt x="227778" y="226394"/>
                </a:lnTo>
                <a:cubicBezTo>
                  <a:pt x="228124" y="231845"/>
                  <a:pt x="224577" y="236777"/>
                  <a:pt x="219342" y="238161"/>
                </a:cubicBezTo>
                <a:lnTo>
                  <a:pt x="208007" y="241189"/>
                </a:lnTo>
                <a:cubicBezTo>
                  <a:pt x="202729" y="242617"/>
                  <a:pt x="197235" y="240108"/>
                  <a:pt x="194812" y="235219"/>
                </a:cubicBezTo>
                <a:lnTo>
                  <a:pt x="186765" y="218952"/>
                </a:lnTo>
                <a:cubicBezTo>
                  <a:pt x="182309" y="218347"/>
                  <a:pt x="177939" y="217135"/>
                  <a:pt x="173829" y="215448"/>
                </a:cubicBezTo>
                <a:lnTo>
                  <a:pt x="158688" y="225528"/>
                </a:lnTo>
                <a:cubicBezTo>
                  <a:pt x="154145" y="228557"/>
                  <a:pt x="148131" y="227951"/>
                  <a:pt x="144281" y="224101"/>
                </a:cubicBezTo>
                <a:lnTo>
                  <a:pt x="135975" y="215794"/>
                </a:lnTo>
                <a:cubicBezTo>
                  <a:pt x="132124" y="211944"/>
                  <a:pt x="131519" y="205930"/>
                  <a:pt x="134547" y="201388"/>
                </a:cubicBezTo>
                <a:lnTo>
                  <a:pt x="144627" y="186246"/>
                </a:lnTo>
                <a:cubicBezTo>
                  <a:pt x="143805" y="184212"/>
                  <a:pt x="143070" y="182093"/>
                  <a:pt x="142464" y="179886"/>
                </a:cubicBezTo>
                <a:cubicBezTo>
                  <a:pt x="141858" y="177680"/>
                  <a:pt x="141469" y="175473"/>
                  <a:pt x="141166" y="173310"/>
                </a:cubicBezTo>
                <a:lnTo>
                  <a:pt x="124856" y="165263"/>
                </a:lnTo>
                <a:cubicBezTo>
                  <a:pt x="119967" y="162841"/>
                  <a:pt x="117501" y="157303"/>
                  <a:pt x="118886" y="152068"/>
                </a:cubicBezTo>
                <a:lnTo>
                  <a:pt x="121914" y="140733"/>
                </a:lnTo>
                <a:cubicBezTo>
                  <a:pt x="123342" y="135499"/>
                  <a:pt x="128231" y="131951"/>
                  <a:pt x="133682" y="132297"/>
                </a:cubicBezTo>
                <a:lnTo>
                  <a:pt x="151809" y="133465"/>
                </a:lnTo>
                <a:cubicBezTo>
                  <a:pt x="154534" y="129961"/>
                  <a:pt x="157692" y="126716"/>
                  <a:pt x="161283" y="123948"/>
                </a:cubicBezTo>
                <a:lnTo>
                  <a:pt x="160115" y="105864"/>
                </a:lnTo>
                <a:cubicBezTo>
                  <a:pt x="159769" y="100413"/>
                  <a:pt x="163317" y="95481"/>
                  <a:pt x="168551" y="94096"/>
                </a:cubicBezTo>
                <a:lnTo>
                  <a:pt x="179886" y="91068"/>
                </a:lnTo>
                <a:close/>
                <a:moveTo>
                  <a:pt x="193990" y="147093"/>
                </a:moveTo>
                <a:cubicBezTo>
                  <a:pt x="183484" y="147105"/>
                  <a:pt x="174964" y="155644"/>
                  <a:pt x="174976" y="166150"/>
                </a:cubicBezTo>
                <a:cubicBezTo>
                  <a:pt x="174988" y="176656"/>
                  <a:pt x="183527" y="185176"/>
                  <a:pt x="194033" y="185164"/>
                </a:cubicBezTo>
                <a:cubicBezTo>
                  <a:pt x="204539" y="185152"/>
                  <a:pt x="213059" y="176613"/>
                  <a:pt x="213047" y="166107"/>
                </a:cubicBezTo>
                <a:cubicBezTo>
                  <a:pt x="213035" y="155601"/>
                  <a:pt x="204496" y="147081"/>
                  <a:pt x="193990" y="147093"/>
                </a:cubicBezTo>
                <a:close/>
                <a:moveTo>
                  <a:pt x="97298" y="-19685"/>
                </a:moveTo>
                <a:lnTo>
                  <a:pt x="108633" y="-16656"/>
                </a:lnTo>
                <a:cubicBezTo>
                  <a:pt x="113867" y="-15228"/>
                  <a:pt x="117415" y="-10297"/>
                  <a:pt x="117069" y="-4889"/>
                </a:cubicBezTo>
                <a:lnTo>
                  <a:pt x="115901" y="13195"/>
                </a:lnTo>
                <a:cubicBezTo>
                  <a:pt x="119492" y="15964"/>
                  <a:pt x="122650" y="19165"/>
                  <a:pt x="125375" y="22713"/>
                </a:cubicBezTo>
                <a:lnTo>
                  <a:pt x="143546" y="21545"/>
                </a:lnTo>
                <a:cubicBezTo>
                  <a:pt x="148953" y="21199"/>
                  <a:pt x="153885" y="24746"/>
                  <a:pt x="155313" y="29981"/>
                </a:cubicBezTo>
                <a:lnTo>
                  <a:pt x="158341" y="41316"/>
                </a:lnTo>
                <a:cubicBezTo>
                  <a:pt x="159726" y="46551"/>
                  <a:pt x="157260" y="52088"/>
                  <a:pt x="152371" y="54511"/>
                </a:cubicBezTo>
                <a:lnTo>
                  <a:pt x="136061" y="62558"/>
                </a:lnTo>
                <a:cubicBezTo>
                  <a:pt x="135758" y="64764"/>
                  <a:pt x="135326" y="66971"/>
                  <a:pt x="134763" y="69134"/>
                </a:cubicBezTo>
                <a:cubicBezTo>
                  <a:pt x="134201" y="71297"/>
                  <a:pt x="133422" y="73460"/>
                  <a:pt x="132600" y="75493"/>
                </a:cubicBezTo>
                <a:lnTo>
                  <a:pt x="142680" y="90635"/>
                </a:lnTo>
                <a:cubicBezTo>
                  <a:pt x="145709" y="95178"/>
                  <a:pt x="145103" y="101191"/>
                  <a:pt x="141253" y="105042"/>
                </a:cubicBezTo>
                <a:lnTo>
                  <a:pt x="132946" y="113348"/>
                </a:lnTo>
                <a:cubicBezTo>
                  <a:pt x="129096" y="117199"/>
                  <a:pt x="123082" y="117804"/>
                  <a:pt x="118540" y="114776"/>
                </a:cubicBezTo>
                <a:lnTo>
                  <a:pt x="103398" y="104696"/>
                </a:lnTo>
                <a:cubicBezTo>
                  <a:pt x="99288" y="106383"/>
                  <a:pt x="94918" y="107594"/>
                  <a:pt x="90462" y="108200"/>
                </a:cubicBezTo>
                <a:lnTo>
                  <a:pt x="82415" y="124467"/>
                </a:lnTo>
                <a:cubicBezTo>
                  <a:pt x="79993" y="129355"/>
                  <a:pt x="74455" y="131821"/>
                  <a:pt x="69220" y="130437"/>
                </a:cubicBezTo>
                <a:lnTo>
                  <a:pt x="57885" y="127409"/>
                </a:lnTo>
                <a:cubicBezTo>
                  <a:pt x="52607" y="125981"/>
                  <a:pt x="49103" y="121049"/>
                  <a:pt x="49449" y="115641"/>
                </a:cubicBezTo>
                <a:lnTo>
                  <a:pt x="50617" y="97514"/>
                </a:lnTo>
                <a:cubicBezTo>
                  <a:pt x="47027" y="94745"/>
                  <a:pt x="43868" y="91544"/>
                  <a:pt x="41143" y="87996"/>
                </a:cubicBezTo>
                <a:lnTo>
                  <a:pt x="22972" y="89164"/>
                </a:lnTo>
                <a:cubicBezTo>
                  <a:pt x="17565" y="89510"/>
                  <a:pt x="12633" y="85963"/>
                  <a:pt x="11205" y="80728"/>
                </a:cubicBezTo>
                <a:lnTo>
                  <a:pt x="8177" y="69393"/>
                </a:lnTo>
                <a:cubicBezTo>
                  <a:pt x="6792" y="64159"/>
                  <a:pt x="9258" y="58621"/>
                  <a:pt x="14147" y="56198"/>
                </a:cubicBezTo>
                <a:lnTo>
                  <a:pt x="30457" y="48151"/>
                </a:lnTo>
                <a:cubicBezTo>
                  <a:pt x="30760" y="45945"/>
                  <a:pt x="31192" y="43782"/>
                  <a:pt x="31755" y="41575"/>
                </a:cubicBezTo>
                <a:cubicBezTo>
                  <a:pt x="32360" y="39369"/>
                  <a:pt x="33053" y="37249"/>
                  <a:pt x="33918" y="35216"/>
                </a:cubicBezTo>
                <a:lnTo>
                  <a:pt x="23838" y="20117"/>
                </a:lnTo>
                <a:cubicBezTo>
                  <a:pt x="20809" y="15575"/>
                  <a:pt x="21415" y="9561"/>
                  <a:pt x="25265" y="5711"/>
                </a:cubicBezTo>
                <a:lnTo>
                  <a:pt x="33572" y="-2596"/>
                </a:lnTo>
                <a:cubicBezTo>
                  <a:pt x="37422" y="-6446"/>
                  <a:pt x="43436" y="-7052"/>
                  <a:pt x="47978" y="-4023"/>
                </a:cubicBezTo>
                <a:lnTo>
                  <a:pt x="63120" y="6057"/>
                </a:lnTo>
                <a:cubicBezTo>
                  <a:pt x="67230" y="4370"/>
                  <a:pt x="71600" y="3158"/>
                  <a:pt x="76056" y="2552"/>
                </a:cubicBezTo>
                <a:lnTo>
                  <a:pt x="84103" y="-13714"/>
                </a:lnTo>
                <a:cubicBezTo>
                  <a:pt x="86525" y="-18603"/>
                  <a:pt x="92020" y="-21069"/>
                  <a:pt x="97298" y="-19685"/>
                </a:cubicBezTo>
                <a:close/>
                <a:moveTo>
                  <a:pt x="83237" y="36341"/>
                </a:moveTo>
                <a:cubicBezTo>
                  <a:pt x="72731" y="36341"/>
                  <a:pt x="64202" y="44870"/>
                  <a:pt x="64202" y="55376"/>
                </a:cubicBezTo>
                <a:cubicBezTo>
                  <a:pt x="64202" y="65882"/>
                  <a:pt x="72731" y="74412"/>
                  <a:pt x="83237" y="74412"/>
                </a:cubicBezTo>
                <a:cubicBezTo>
                  <a:pt x="93743" y="74412"/>
                  <a:pt x="102273" y="65882"/>
                  <a:pt x="102273" y="55376"/>
                </a:cubicBezTo>
                <a:cubicBezTo>
                  <a:pt x="102273" y="44870"/>
                  <a:pt x="93743" y="36341"/>
                  <a:pt x="83237" y="36341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7" name="Text 25"/>
          <p:cNvSpPr/>
          <p:nvPr/>
        </p:nvSpPr>
        <p:spPr>
          <a:xfrm>
            <a:off x="4729044" y="3950171"/>
            <a:ext cx="2971858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 Operational Efficiency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29044" y="4282428"/>
            <a:ext cx="2962628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Prioritized queues help operators focus on urgent repairs.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73790" y="5219210"/>
            <a:ext cx="7577314" cy="1264424"/>
          </a:xfrm>
          <a:custGeom>
            <a:avLst/>
            <a:gdLst/>
            <a:ahLst/>
            <a:cxnLst/>
            <a:rect l="l" t="t" r="r" b="b"/>
            <a:pathLst>
              <a:path w="7577314" h="1264424">
                <a:moveTo>
                  <a:pt x="0" y="0"/>
                </a:moveTo>
                <a:lnTo>
                  <a:pt x="7577314" y="0"/>
                </a:lnTo>
                <a:lnTo>
                  <a:pt x="7577314" y="1264424"/>
                </a:lnTo>
                <a:lnTo>
                  <a:pt x="0" y="1264424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6065" y="5445329"/>
            <a:ext cx="184587" cy="184587"/>
          </a:xfrm>
          <a:custGeom>
            <a:avLst/>
            <a:gdLst/>
            <a:ahLst/>
            <a:cxnLst/>
            <a:rect l="l" t="t" r="r" b="b"/>
            <a:pathLst>
              <a:path w="184587" h="184587">
                <a:moveTo>
                  <a:pt x="11537" y="11537"/>
                </a:moveTo>
                <a:cubicBezTo>
                  <a:pt x="5155" y="11537"/>
                  <a:pt x="0" y="16692"/>
                  <a:pt x="0" y="23073"/>
                </a:cubicBezTo>
                <a:lnTo>
                  <a:pt x="0" y="155746"/>
                </a:lnTo>
                <a:cubicBezTo>
                  <a:pt x="0" y="165299"/>
                  <a:pt x="7751" y="173051"/>
                  <a:pt x="17305" y="173051"/>
                </a:cubicBezTo>
                <a:lnTo>
                  <a:pt x="167282" y="173051"/>
                </a:lnTo>
                <a:cubicBezTo>
                  <a:pt x="176836" y="173051"/>
                  <a:pt x="184587" y="165299"/>
                  <a:pt x="184587" y="155746"/>
                </a:cubicBezTo>
                <a:lnTo>
                  <a:pt x="184587" y="54871"/>
                </a:lnTo>
                <a:cubicBezTo>
                  <a:pt x="184587" y="48310"/>
                  <a:pt x="177593" y="44164"/>
                  <a:pt x="171825" y="47264"/>
                </a:cubicBezTo>
                <a:lnTo>
                  <a:pt x="115367" y="77657"/>
                </a:lnTo>
                <a:lnTo>
                  <a:pt x="115367" y="54871"/>
                </a:lnTo>
                <a:cubicBezTo>
                  <a:pt x="115367" y="48310"/>
                  <a:pt x="108373" y="44164"/>
                  <a:pt x="102605" y="47264"/>
                </a:cubicBezTo>
                <a:lnTo>
                  <a:pt x="46147" y="77657"/>
                </a:lnTo>
                <a:lnTo>
                  <a:pt x="46147" y="23073"/>
                </a:lnTo>
                <a:cubicBezTo>
                  <a:pt x="46147" y="16692"/>
                  <a:pt x="40991" y="11537"/>
                  <a:pt x="34610" y="11537"/>
                </a:cubicBezTo>
                <a:lnTo>
                  <a:pt x="11537" y="11537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1" name="Text 29"/>
          <p:cNvSpPr/>
          <p:nvPr/>
        </p:nvSpPr>
        <p:spPr>
          <a:xfrm>
            <a:off x="874212" y="5408412"/>
            <a:ext cx="6979983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5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Context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62992" y="5814504"/>
            <a:ext cx="7272745" cy="479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Aviation MRO is a </a:t>
            </a:r>
            <a:pPr>
              <a:lnSpc>
                <a:spcPct val="140000"/>
              </a:lnSpc>
            </a:pPr>
            <a:r>
              <a:rPr lang="en-US" sz="116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$75 billion global industry</a:t>
            </a:r>
            <a:pPr>
              <a:lnSpc>
                <a:spcPct val="140000"/>
              </a:lnSpc>
            </a:pPr>
            <a:r>
              <a:rPr lang="en-US" sz="11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Predictive maintenance can save airlines 5-10% of total maintenance costs, representing billions in annual savings.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07138" y="1324415"/>
            <a:ext cx="3710207" cy="4328575"/>
          </a:xfrm>
          <a:custGeom>
            <a:avLst/>
            <a:gdLst/>
            <a:ahLst/>
            <a:cxnLst/>
            <a:rect l="l" t="t" r="r" b="b"/>
            <a:pathLst>
              <a:path w="3710207" h="4328575">
                <a:moveTo>
                  <a:pt x="0" y="0"/>
                </a:moveTo>
                <a:lnTo>
                  <a:pt x="3710207" y="0"/>
                </a:lnTo>
                <a:lnTo>
                  <a:pt x="3710207" y="4328575"/>
                </a:lnTo>
                <a:lnTo>
                  <a:pt x="0" y="43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50193" y="1513617"/>
            <a:ext cx="3424097" cy="25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296340" y="1919709"/>
            <a:ext cx="3331803" cy="1107525"/>
          </a:xfrm>
          <a:custGeom>
            <a:avLst/>
            <a:gdLst/>
            <a:ahLst/>
            <a:cxnLst/>
            <a:rect l="l" t="t" r="r" b="b"/>
            <a:pathLst>
              <a:path w="3331803" h="1107525">
                <a:moveTo>
                  <a:pt x="0" y="0"/>
                </a:moveTo>
                <a:lnTo>
                  <a:pt x="3331803" y="0"/>
                </a:lnTo>
                <a:lnTo>
                  <a:pt x="3331803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411707" y="2067379"/>
            <a:ext cx="310106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Unplanned Downtime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60945" y="2288884"/>
            <a:ext cx="3202592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-85%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411707" y="2694977"/>
            <a:ext cx="310106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 reduction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96340" y="3137986"/>
            <a:ext cx="3331803" cy="1107525"/>
          </a:xfrm>
          <a:custGeom>
            <a:avLst/>
            <a:gdLst/>
            <a:ahLst/>
            <a:cxnLst/>
            <a:rect l="l" t="t" r="r" b="b"/>
            <a:pathLst>
              <a:path w="3331803" h="1107525">
                <a:moveTo>
                  <a:pt x="0" y="0"/>
                </a:moveTo>
                <a:lnTo>
                  <a:pt x="3331803" y="0"/>
                </a:lnTo>
                <a:lnTo>
                  <a:pt x="3331803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8411707" y="3285656"/>
            <a:ext cx="310106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Costs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60945" y="3507161"/>
            <a:ext cx="3202592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-30%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11707" y="3913254"/>
            <a:ext cx="310106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30% reduction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96340" y="4356263"/>
            <a:ext cx="3331803" cy="1107525"/>
          </a:xfrm>
          <a:custGeom>
            <a:avLst/>
            <a:gdLst/>
            <a:ahLst/>
            <a:cxnLst/>
            <a:rect l="l" t="t" r="r" b="b"/>
            <a:pathLst>
              <a:path w="3331803" h="1107525">
                <a:moveTo>
                  <a:pt x="0" y="0"/>
                </a:moveTo>
                <a:lnTo>
                  <a:pt x="3331803" y="0"/>
                </a:lnTo>
                <a:lnTo>
                  <a:pt x="3331803" y="1107525"/>
                </a:lnTo>
                <a:lnTo>
                  <a:pt x="0" y="11075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8411707" y="4503933"/>
            <a:ext cx="310106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Incidents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60945" y="4725438"/>
            <a:ext cx="3202592" cy="36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16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-90%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411707" y="5131531"/>
            <a:ext cx="3101069" cy="18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1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 reduction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341" y="349341"/>
            <a:ext cx="11554453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3" b="1" spc="193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341" y="593880"/>
            <a:ext cx="11650521" cy="349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6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 Performance &amp; Results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9341" y="1082957"/>
            <a:ext cx="838418" cy="26201"/>
          </a:xfrm>
          <a:custGeom>
            <a:avLst/>
            <a:gdLst/>
            <a:ahLst/>
            <a:cxnLst/>
            <a:rect l="l" t="t" r="r" b="b"/>
            <a:pathLst>
              <a:path w="838418" h="26201">
                <a:moveTo>
                  <a:pt x="0" y="0"/>
                </a:moveTo>
                <a:lnTo>
                  <a:pt x="838418" y="0"/>
                </a:lnTo>
                <a:lnTo>
                  <a:pt x="838418" y="26201"/>
                </a:lnTo>
                <a:lnTo>
                  <a:pt x="0" y="26201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53708" y="1253261"/>
            <a:ext cx="5668057" cy="3711748"/>
          </a:xfrm>
          <a:custGeom>
            <a:avLst/>
            <a:gdLst/>
            <a:ahLst/>
            <a:cxnLst/>
            <a:rect l="l" t="t" r="r" b="b"/>
            <a:pathLst>
              <a:path w="5668057" h="3711748">
                <a:moveTo>
                  <a:pt x="0" y="0"/>
                </a:moveTo>
                <a:lnTo>
                  <a:pt x="5668057" y="0"/>
                </a:lnTo>
                <a:lnTo>
                  <a:pt x="5668057" y="3711748"/>
                </a:lnTo>
                <a:lnTo>
                  <a:pt x="0" y="371174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8946" y="1458499"/>
            <a:ext cx="209605" cy="209605"/>
          </a:xfrm>
          <a:custGeom>
            <a:avLst/>
            <a:gdLst/>
            <a:ahLst/>
            <a:cxnLst/>
            <a:rect l="l" t="t" r="r" b="b"/>
            <a:pathLst>
              <a:path w="209605" h="209605">
                <a:moveTo>
                  <a:pt x="13100" y="13100"/>
                </a:moveTo>
                <a:cubicBezTo>
                  <a:pt x="20346" y="13100"/>
                  <a:pt x="26201" y="18954"/>
                  <a:pt x="26201" y="26201"/>
                </a:cubicBezTo>
                <a:lnTo>
                  <a:pt x="26201" y="163754"/>
                </a:lnTo>
                <a:cubicBezTo>
                  <a:pt x="26201" y="167356"/>
                  <a:pt x="29148" y="170304"/>
                  <a:pt x="32751" y="170304"/>
                </a:cubicBezTo>
                <a:lnTo>
                  <a:pt x="196504" y="170304"/>
                </a:lnTo>
                <a:cubicBezTo>
                  <a:pt x="203750" y="170304"/>
                  <a:pt x="209605" y="176158"/>
                  <a:pt x="209605" y="183404"/>
                </a:cubicBezTo>
                <a:cubicBezTo>
                  <a:pt x="209605" y="190650"/>
                  <a:pt x="203750" y="196504"/>
                  <a:pt x="196504" y="196504"/>
                </a:cubicBezTo>
                <a:lnTo>
                  <a:pt x="32751" y="196504"/>
                </a:lnTo>
                <a:cubicBezTo>
                  <a:pt x="14656" y="196504"/>
                  <a:pt x="0" y="181848"/>
                  <a:pt x="0" y="163754"/>
                </a:cubicBezTo>
                <a:lnTo>
                  <a:pt x="0" y="26201"/>
                </a:lnTo>
                <a:cubicBezTo>
                  <a:pt x="0" y="18954"/>
                  <a:pt x="5854" y="13100"/>
                  <a:pt x="13100" y="13100"/>
                </a:cubicBezTo>
                <a:close/>
                <a:moveTo>
                  <a:pt x="52401" y="39301"/>
                </a:moveTo>
                <a:cubicBezTo>
                  <a:pt x="52401" y="32055"/>
                  <a:pt x="58255" y="26201"/>
                  <a:pt x="65501" y="26201"/>
                </a:cubicBezTo>
                <a:lnTo>
                  <a:pt x="144103" y="26201"/>
                </a:lnTo>
                <a:cubicBezTo>
                  <a:pt x="151349" y="26201"/>
                  <a:pt x="157203" y="32055"/>
                  <a:pt x="157203" y="39301"/>
                </a:cubicBezTo>
                <a:cubicBezTo>
                  <a:pt x="157203" y="46547"/>
                  <a:pt x="151349" y="52401"/>
                  <a:pt x="144103" y="52401"/>
                </a:cubicBezTo>
                <a:lnTo>
                  <a:pt x="65501" y="52401"/>
                </a:lnTo>
                <a:cubicBezTo>
                  <a:pt x="58255" y="52401"/>
                  <a:pt x="52401" y="46547"/>
                  <a:pt x="52401" y="39301"/>
                </a:cubicBezTo>
                <a:close/>
                <a:moveTo>
                  <a:pt x="65501" y="72052"/>
                </a:moveTo>
                <a:lnTo>
                  <a:pt x="117903" y="72052"/>
                </a:lnTo>
                <a:cubicBezTo>
                  <a:pt x="125149" y="72052"/>
                  <a:pt x="131003" y="77906"/>
                  <a:pt x="131003" y="85152"/>
                </a:cubicBezTo>
                <a:cubicBezTo>
                  <a:pt x="131003" y="92398"/>
                  <a:pt x="125149" y="98252"/>
                  <a:pt x="117903" y="98252"/>
                </a:cubicBezTo>
                <a:lnTo>
                  <a:pt x="65501" y="98252"/>
                </a:lnTo>
                <a:cubicBezTo>
                  <a:pt x="58255" y="98252"/>
                  <a:pt x="52401" y="92398"/>
                  <a:pt x="52401" y="85152"/>
                </a:cubicBezTo>
                <a:cubicBezTo>
                  <a:pt x="52401" y="77906"/>
                  <a:pt x="58255" y="72052"/>
                  <a:pt x="65501" y="72052"/>
                </a:cubicBezTo>
                <a:close/>
                <a:moveTo>
                  <a:pt x="65501" y="117903"/>
                </a:moveTo>
                <a:lnTo>
                  <a:pt x="170304" y="117903"/>
                </a:lnTo>
                <a:cubicBezTo>
                  <a:pt x="177550" y="117903"/>
                  <a:pt x="183404" y="123757"/>
                  <a:pt x="183404" y="131003"/>
                </a:cubicBezTo>
                <a:cubicBezTo>
                  <a:pt x="183404" y="138249"/>
                  <a:pt x="177550" y="144103"/>
                  <a:pt x="170304" y="144103"/>
                </a:cubicBezTo>
                <a:lnTo>
                  <a:pt x="65501" y="144103"/>
                </a:lnTo>
                <a:cubicBezTo>
                  <a:pt x="58255" y="144103"/>
                  <a:pt x="52401" y="138249"/>
                  <a:pt x="52401" y="131003"/>
                </a:cubicBezTo>
                <a:cubicBezTo>
                  <a:pt x="52401" y="123757"/>
                  <a:pt x="58255" y="117903"/>
                  <a:pt x="65501" y="117903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Text 5"/>
          <p:cNvSpPr/>
          <p:nvPr/>
        </p:nvSpPr>
        <p:spPr>
          <a:xfrm>
            <a:off x="866821" y="1432298"/>
            <a:ext cx="5080709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Quantitative Results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2745" y="1851507"/>
            <a:ext cx="5379851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LSTM model demonstrates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predictive accuracy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the NASA C-MAPSS FD001 test dataset, with performance metrics that meet industry standards.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0212" y="2480321"/>
            <a:ext cx="5292516" cy="698682"/>
          </a:xfrm>
          <a:custGeom>
            <a:avLst/>
            <a:gdLst/>
            <a:ahLst/>
            <a:cxnLst/>
            <a:rect l="l" t="t" r="r" b="b"/>
            <a:pathLst>
              <a:path w="5292516" h="698682">
                <a:moveTo>
                  <a:pt x="0" y="0"/>
                </a:moveTo>
                <a:lnTo>
                  <a:pt x="5292516" y="0"/>
                </a:lnTo>
                <a:lnTo>
                  <a:pt x="5292516" y="698682"/>
                </a:lnTo>
                <a:lnTo>
                  <a:pt x="0" y="69868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50212" y="2480321"/>
            <a:ext cx="34934" cy="698682"/>
          </a:xfrm>
          <a:custGeom>
            <a:avLst/>
            <a:gdLst/>
            <a:ahLst/>
            <a:cxnLst/>
            <a:rect l="l" t="t" r="r" b="b"/>
            <a:pathLst>
              <a:path w="34934" h="698682">
                <a:moveTo>
                  <a:pt x="0" y="0"/>
                </a:moveTo>
                <a:lnTo>
                  <a:pt x="34934" y="0"/>
                </a:lnTo>
                <a:lnTo>
                  <a:pt x="34934" y="698682"/>
                </a:lnTo>
                <a:lnTo>
                  <a:pt x="0" y="698682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1" name="Text 9"/>
          <p:cNvSpPr/>
          <p:nvPr/>
        </p:nvSpPr>
        <p:spPr>
          <a:xfrm>
            <a:off x="707415" y="2620057"/>
            <a:ext cx="1353696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RMSE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7415" y="2864596"/>
            <a:ext cx="1336229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Mean Square Error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84737" y="2672458"/>
            <a:ext cx="550212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0212" y="3283805"/>
            <a:ext cx="5292516" cy="698682"/>
          </a:xfrm>
          <a:custGeom>
            <a:avLst/>
            <a:gdLst/>
            <a:ahLst/>
            <a:cxnLst/>
            <a:rect l="l" t="t" r="r" b="b"/>
            <a:pathLst>
              <a:path w="5292516" h="698682">
                <a:moveTo>
                  <a:pt x="0" y="0"/>
                </a:moveTo>
                <a:lnTo>
                  <a:pt x="5292516" y="0"/>
                </a:lnTo>
                <a:lnTo>
                  <a:pt x="5292516" y="698682"/>
                </a:lnTo>
                <a:lnTo>
                  <a:pt x="0" y="69868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50212" y="3283805"/>
            <a:ext cx="34934" cy="698682"/>
          </a:xfrm>
          <a:custGeom>
            <a:avLst/>
            <a:gdLst/>
            <a:ahLst/>
            <a:cxnLst/>
            <a:rect l="l" t="t" r="r" b="b"/>
            <a:pathLst>
              <a:path w="34934" h="698682">
                <a:moveTo>
                  <a:pt x="0" y="0"/>
                </a:moveTo>
                <a:lnTo>
                  <a:pt x="34934" y="0"/>
                </a:lnTo>
                <a:lnTo>
                  <a:pt x="34934" y="698682"/>
                </a:lnTo>
                <a:lnTo>
                  <a:pt x="0" y="698682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6" name="Text 14"/>
          <p:cNvSpPr/>
          <p:nvPr/>
        </p:nvSpPr>
        <p:spPr>
          <a:xfrm>
            <a:off x="707415" y="3423542"/>
            <a:ext cx="1179026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7415" y="3668080"/>
            <a:ext cx="1161559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Mean Absolute Error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83373" y="3475943"/>
            <a:ext cx="550212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~12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0212" y="4087289"/>
            <a:ext cx="5292516" cy="698682"/>
          </a:xfrm>
          <a:custGeom>
            <a:avLst/>
            <a:gdLst/>
            <a:ahLst/>
            <a:cxnLst/>
            <a:rect l="l" t="t" r="r" b="b"/>
            <a:pathLst>
              <a:path w="5292516" h="698682">
                <a:moveTo>
                  <a:pt x="0" y="0"/>
                </a:moveTo>
                <a:lnTo>
                  <a:pt x="5292516" y="0"/>
                </a:lnTo>
                <a:lnTo>
                  <a:pt x="5292516" y="698682"/>
                </a:lnTo>
                <a:lnTo>
                  <a:pt x="0" y="698682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50212" y="4087289"/>
            <a:ext cx="34934" cy="698682"/>
          </a:xfrm>
          <a:custGeom>
            <a:avLst/>
            <a:gdLst/>
            <a:ahLst/>
            <a:cxnLst/>
            <a:rect l="l" t="t" r="r" b="b"/>
            <a:pathLst>
              <a:path w="34934" h="698682">
                <a:moveTo>
                  <a:pt x="0" y="0"/>
                </a:moveTo>
                <a:lnTo>
                  <a:pt x="34934" y="0"/>
                </a:lnTo>
                <a:lnTo>
                  <a:pt x="34934" y="698682"/>
                </a:lnTo>
                <a:lnTo>
                  <a:pt x="0" y="698682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1" name="Text 19"/>
          <p:cNvSpPr/>
          <p:nvPr/>
        </p:nvSpPr>
        <p:spPr>
          <a:xfrm>
            <a:off x="707415" y="4227026"/>
            <a:ext cx="1467232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Prediction Window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7415" y="4471564"/>
            <a:ext cx="1449765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±10 cycles 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59466" y="4279427"/>
            <a:ext cx="672481" cy="314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63" b="1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3708" y="5113479"/>
            <a:ext cx="5668057" cy="1161559"/>
          </a:xfrm>
          <a:custGeom>
            <a:avLst/>
            <a:gdLst/>
            <a:ahLst/>
            <a:cxnLst/>
            <a:rect l="l" t="t" r="r" b="b"/>
            <a:pathLst>
              <a:path w="5668057" h="1161559">
                <a:moveTo>
                  <a:pt x="0" y="0"/>
                </a:moveTo>
                <a:lnTo>
                  <a:pt x="5668057" y="0"/>
                </a:lnTo>
                <a:lnTo>
                  <a:pt x="5668057" y="1161559"/>
                </a:lnTo>
                <a:lnTo>
                  <a:pt x="0" y="1161559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4579" y="5327450"/>
            <a:ext cx="174670" cy="174670"/>
          </a:xfrm>
          <a:custGeom>
            <a:avLst/>
            <a:gdLst/>
            <a:ahLst/>
            <a:cxnLst/>
            <a:rect l="l" t="t" r="r" b="b"/>
            <a:pathLst>
              <a:path w="174670" h="174670">
                <a:moveTo>
                  <a:pt x="49228" y="0"/>
                </a:moveTo>
                <a:lnTo>
                  <a:pt x="125647" y="0"/>
                </a:lnTo>
                <a:cubicBezTo>
                  <a:pt x="134687" y="0"/>
                  <a:pt x="142056" y="7437"/>
                  <a:pt x="141715" y="16444"/>
                </a:cubicBezTo>
                <a:cubicBezTo>
                  <a:pt x="141647" y="18252"/>
                  <a:pt x="141579" y="20060"/>
                  <a:pt x="141476" y="21834"/>
                </a:cubicBezTo>
                <a:lnTo>
                  <a:pt x="158397" y="21834"/>
                </a:lnTo>
                <a:cubicBezTo>
                  <a:pt x="167302" y="21834"/>
                  <a:pt x="175148" y="29203"/>
                  <a:pt x="174466" y="38823"/>
                </a:cubicBezTo>
                <a:cubicBezTo>
                  <a:pt x="171907" y="74201"/>
                  <a:pt x="153826" y="93647"/>
                  <a:pt x="134210" y="103813"/>
                </a:cubicBezTo>
                <a:cubicBezTo>
                  <a:pt x="128819" y="106610"/>
                  <a:pt x="123327" y="108691"/>
                  <a:pt x="118107" y="110227"/>
                </a:cubicBezTo>
                <a:cubicBezTo>
                  <a:pt x="111216" y="119984"/>
                  <a:pt x="104052" y="125135"/>
                  <a:pt x="98354" y="127898"/>
                </a:cubicBezTo>
                <a:lnTo>
                  <a:pt x="98354" y="152837"/>
                </a:lnTo>
                <a:lnTo>
                  <a:pt x="120188" y="152837"/>
                </a:lnTo>
                <a:cubicBezTo>
                  <a:pt x="126227" y="152837"/>
                  <a:pt x="131105" y="157715"/>
                  <a:pt x="131105" y="163754"/>
                </a:cubicBezTo>
                <a:cubicBezTo>
                  <a:pt x="131105" y="169792"/>
                  <a:pt x="126227" y="174670"/>
                  <a:pt x="120188" y="174670"/>
                </a:cubicBezTo>
                <a:lnTo>
                  <a:pt x="54687" y="174670"/>
                </a:lnTo>
                <a:cubicBezTo>
                  <a:pt x="48648" y="174670"/>
                  <a:pt x="43770" y="169792"/>
                  <a:pt x="43770" y="163754"/>
                </a:cubicBezTo>
                <a:cubicBezTo>
                  <a:pt x="43770" y="157715"/>
                  <a:pt x="48648" y="152837"/>
                  <a:pt x="54687" y="152837"/>
                </a:cubicBezTo>
                <a:lnTo>
                  <a:pt x="76521" y="152837"/>
                </a:lnTo>
                <a:lnTo>
                  <a:pt x="76521" y="127898"/>
                </a:lnTo>
                <a:cubicBezTo>
                  <a:pt x="71062" y="125271"/>
                  <a:pt x="64273" y="120393"/>
                  <a:pt x="57655" y="111421"/>
                </a:cubicBezTo>
                <a:cubicBezTo>
                  <a:pt x="51378" y="109783"/>
                  <a:pt x="44555" y="107293"/>
                  <a:pt x="37902" y="103540"/>
                </a:cubicBezTo>
                <a:cubicBezTo>
                  <a:pt x="19446" y="93203"/>
                  <a:pt x="2797" y="73723"/>
                  <a:pt x="409" y="38755"/>
                </a:cubicBezTo>
                <a:cubicBezTo>
                  <a:pt x="-239" y="29169"/>
                  <a:pt x="7574" y="21800"/>
                  <a:pt x="16478" y="21800"/>
                </a:cubicBezTo>
                <a:lnTo>
                  <a:pt x="33399" y="21800"/>
                </a:lnTo>
                <a:cubicBezTo>
                  <a:pt x="33297" y="20026"/>
                  <a:pt x="33228" y="18252"/>
                  <a:pt x="33160" y="16409"/>
                </a:cubicBezTo>
                <a:cubicBezTo>
                  <a:pt x="32819" y="7369"/>
                  <a:pt x="40188" y="-34"/>
                  <a:pt x="49228" y="-34"/>
                </a:cubicBezTo>
                <a:close/>
                <a:moveTo>
                  <a:pt x="34627" y="38209"/>
                </a:moveTo>
                <a:lnTo>
                  <a:pt x="16751" y="38209"/>
                </a:lnTo>
                <a:cubicBezTo>
                  <a:pt x="18866" y="67105"/>
                  <a:pt x="32137" y="81570"/>
                  <a:pt x="45817" y="89246"/>
                </a:cubicBezTo>
                <a:cubicBezTo>
                  <a:pt x="40904" y="76521"/>
                  <a:pt x="36845" y="59907"/>
                  <a:pt x="34627" y="38209"/>
                </a:cubicBezTo>
                <a:close/>
                <a:moveTo>
                  <a:pt x="129638" y="87608"/>
                </a:moveTo>
                <a:cubicBezTo>
                  <a:pt x="143455" y="79489"/>
                  <a:pt x="155941" y="65058"/>
                  <a:pt x="158056" y="38209"/>
                </a:cubicBezTo>
                <a:lnTo>
                  <a:pt x="140214" y="38209"/>
                </a:lnTo>
                <a:cubicBezTo>
                  <a:pt x="138099" y="58985"/>
                  <a:pt x="134278" y="75122"/>
                  <a:pt x="129638" y="87608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6" name="Text 24"/>
          <p:cNvSpPr/>
          <p:nvPr/>
        </p:nvSpPr>
        <p:spPr>
          <a:xfrm>
            <a:off x="823153" y="5292516"/>
            <a:ext cx="5106910" cy="244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Performance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2745" y="5641857"/>
            <a:ext cx="5379851" cy="4541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results are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with state-of-the-art methods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the C-MAPSS dataset, demonstrating the effectiveness of our LSTM architecture.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168188" y="1253261"/>
            <a:ext cx="5668057" cy="5248848"/>
          </a:xfrm>
          <a:custGeom>
            <a:avLst/>
            <a:gdLst/>
            <a:ahLst/>
            <a:cxnLst/>
            <a:rect l="l" t="t" r="r" b="b"/>
            <a:pathLst>
              <a:path w="5668057" h="5248848">
                <a:moveTo>
                  <a:pt x="0" y="0"/>
                </a:moveTo>
                <a:lnTo>
                  <a:pt x="5668057" y="0"/>
                </a:lnTo>
                <a:lnTo>
                  <a:pt x="5668057" y="5248848"/>
                </a:lnTo>
                <a:lnTo>
                  <a:pt x="0" y="5248848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4824" y="1432298"/>
            <a:ext cx="5414785" cy="279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Convergence</a:t>
            </a:r>
            <a:endParaRPr lang="en-US" sz="1600" dirty="0"/>
          </a:p>
        </p:txBody>
      </p:sp>
      <p:pic>
        <p:nvPicPr>
          <p:cNvPr id="30" name="Image 0" descr="https://kimi-img.moonshot.cn/pub/slides/26-01-18-13:59:42-d5m7djj1cvff2pbenit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47225" y="1851507"/>
            <a:ext cx="4803438" cy="4227026"/>
          </a:xfrm>
          <a:prstGeom prst="roundRect">
            <a:avLst>
              <a:gd name="adj" fmla="val 0"/>
            </a:avLst>
          </a:prstGeom>
        </p:spPr>
      </p:pic>
      <p:sp>
        <p:nvSpPr>
          <p:cNvPr id="31" name="Text 28"/>
          <p:cNvSpPr/>
          <p:nvPr/>
        </p:nvSpPr>
        <p:spPr>
          <a:xfrm>
            <a:off x="6316658" y="6148401"/>
            <a:ext cx="5371117" cy="174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63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Loss reduction over epochs demonstrating model learning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210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914400" cy="28575"/>
          </a:xfrm>
          <a:custGeom>
            <a:avLst/>
            <a:gdLst/>
            <a:ahLst/>
            <a:cxnLst/>
            <a:rect l="l" t="t" r="r" b="b"/>
            <a:pathLst>
              <a:path w="914400" h="28575">
                <a:moveTo>
                  <a:pt x="0" y="0"/>
                </a:moveTo>
                <a:lnTo>
                  <a:pt x="914400" y="0"/>
                </a:lnTo>
                <a:lnTo>
                  <a:pt x="914400" y="28575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366838"/>
            <a:ext cx="3695700" cy="1495425"/>
          </a:xfrm>
          <a:custGeom>
            <a:avLst/>
            <a:gdLst/>
            <a:ahLst/>
            <a:cxnLst/>
            <a:rect l="l" t="t" r="r" b="b"/>
            <a:pathLst>
              <a:path w="3695700" h="1495425">
                <a:moveTo>
                  <a:pt x="0" y="0"/>
                </a:moveTo>
                <a:lnTo>
                  <a:pt x="3695700" y="0"/>
                </a:lnTo>
                <a:lnTo>
                  <a:pt x="36957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7" name="Shape 5"/>
          <p:cNvSpPr/>
          <p:nvPr/>
        </p:nvSpPr>
        <p:spPr>
          <a:xfrm>
            <a:off x="702469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35719"/>
                </a:moveTo>
                <a:cubicBezTo>
                  <a:pt x="73335" y="35719"/>
                  <a:pt x="42714" y="49113"/>
                  <a:pt x="20203" y="70917"/>
                </a:cubicBezTo>
                <a:cubicBezTo>
                  <a:pt x="15478" y="75493"/>
                  <a:pt x="7925" y="75381"/>
                  <a:pt x="3386" y="70656"/>
                </a:cubicBezTo>
                <a:cubicBezTo>
                  <a:pt x="-1153" y="65931"/>
                  <a:pt x="-1079" y="58378"/>
                  <a:pt x="3646" y="53839"/>
                </a:cubicBezTo>
                <a:cubicBezTo>
                  <a:pt x="30398" y="27868"/>
                  <a:pt x="66935" y="11906"/>
                  <a:pt x="107156" y="11906"/>
                </a:cubicBezTo>
                <a:cubicBezTo>
                  <a:pt x="147377" y="11906"/>
                  <a:pt x="183914" y="27868"/>
                  <a:pt x="210703" y="53839"/>
                </a:cubicBezTo>
                <a:cubicBezTo>
                  <a:pt x="215429" y="58415"/>
                  <a:pt x="215540" y="65968"/>
                  <a:pt x="210964" y="70656"/>
                </a:cubicBezTo>
                <a:cubicBezTo>
                  <a:pt x="206387" y="75344"/>
                  <a:pt x="198834" y="75493"/>
                  <a:pt x="194146" y="70917"/>
                </a:cubicBezTo>
                <a:cubicBezTo>
                  <a:pt x="171599" y="49113"/>
                  <a:pt x="140977" y="35719"/>
                  <a:pt x="107156" y="35719"/>
                </a:cubicBezTo>
                <a:close/>
                <a:moveTo>
                  <a:pt x="89297" y="160734"/>
                </a:moveTo>
                <a:cubicBezTo>
                  <a:pt x="89297" y="150878"/>
                  <a:pt x="97299" y="142875"/>
                  <a:pt x="107156" y="142875"/>
                </a:cubicBezTo>
                <a:cubicBezTo>
                  <a:pt x="117013" y="142875"/>
                  <a:pt x="125016" y="150878"/>
                  <a:pt x="125016" y="160734"/>
                </a:cubicBezTo>
                <a:cubicBezTo>
                  <a:pt x="125016" y="170591"/>
                  <a:pt x="117013" y="178594"/>
                  <a:pt x="107156" y="178594"/>
                </a:cubicBezTo>
                <a:cubicBezTo>
                  <a:pt x="97299" y="178594"/>
                  <a:pt x="89297" y="170591"/>
                  <a:pt x="89297" y="160734"/>
                </a:cubicBezTo>
                <a:close/>
                <a:moveTo>
                  <a:pt x="62508" y="121369"/>
                </a:moveTo>
                <a:cubicBezTo>
                  <a:pt x="58155" y="126318"/>
                  <a:pt x="50639" y="126764"/>
                  <a:pt x="45690" y="122411"/>
                </a:cubicBezTo>
                <a:cubicBezTo>
                  <a:pt x="40742" y="118058"/>
                  <a:pt x="40295" y="110542"/>
                  <a:pt x="44648" y="105594"/>
                </a:cubicBezTo>
                <a:cubicBezTo>
                  <a:pt x="59903" y="88329"/>
                  <a:pt x="82265" y="77391"/>
                  <a:pt x="107156" y="77391"/>
                </a:cubicBezTo>
                <a:cubicBezTo>
                  <a:pt x="132048" y="77391"/>
                  <a:pt x="154409" y="88329"/>
                  <a:pt x="169664" y="105594"/>
                </a:cubicBezTo>
                <a:cubicBezTo>
                  <a:pt x="174017" y="110542"/>
                  <a:pt x="173534" y="118058"/>
                  <a:pt x="168622" y="122411"/>
                </a:cubicBezTo>
                <a:cubicBezTo>
                  <a:pt x="163711" y="126764"/>
                  <a:pt x="156158" y="126281"/>
                  <a:pt x="151805" y="121369"/>
                </a:cubicBezTo>
                <a:cubicBezTo>
                  <a:pt x="140866" y="108979"/>
                  <a:pt x="124941" y="101203"/>
                  <a:pt x="107156" y="101203"/>
                </a:cubicBezTo>
                <a:cubicBezTo>
                  <a:pt x="89371" y="101203"/>
                  <a:pt x="73447" y="108979"/>
                  <a:pt x="62508" y="121369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8" name="Text 6"/>
          <p:cNvSpPr/>
          <p:nvPr/>
        </p:nvSpPr>
        <p:spPr>
          <a:xfrm>
            <a:off x="1152525" y="1657350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1717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with real-time IoT sensors for live data ingestion from aircraft engines in operation.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6513" y="1366838"/>
            <a:ext cx="3695700" cy="1495425"/>
          </a:xfrm>
          <a:custGeom>
            <a:avLst/>
            <a:gdLst/>
            <a:ahLst/>
            <a:cxnLst/>
            <a:rect l="l" t="t" r="r" b="b"/>
            <a:pathLst>
              <a:path w="3695700" h="1495425">
                <a:moveTo>
                  <a:pt x="0" y="0"/>
                </a:moveTo>
                <a:lnTo>
                  <a:pt x="3695700" y="0"/>
                </a:lnTo>
                <a:lnTo>
                  <a:pt x="36957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1775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Shape 10"/>
          <p:cNvSpPr/>
          <p:nvPr/>
        </p:nvSpPr>
        <p:spPr>
          <a:xfrm>
            <a:off x="4563219" y="16954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93477" y="74414"/>
                </a:moveTo>
                <a:cubicBezTo>
                  <a:pt x="204974" y="74414"/>
                  <a:pt x="214313" y="83753"/>
                  <a:pt x="214313" y="95250"/>
                </a:cubicBezTo>
                <a:cubicBezTo>
                  <a:pt x="214313" y="106747"/>
                  <a:pt x="204974" y="116086"/>
                  <a:pt x="193477" y="116086"/>
                </a:cubicBezTo>
                <a:lnTo>
                  <a:pt x="146112" y="116086"/>
                </a:lnTo>
                <a:lnTo>
                  <a:pt x="86878" y="180677"/>
                </a:lnTo>
                <a:cubicBezTo>
                  <a:pt x="84609" y="183133"/>
                  <a:pt x="81446" y="184547"/>
                  <a:pt x="78098" y="184547"/>
                </a:cubicBezTo>
                <a:lnTo>
                  <a:pt x="61838" y="184547"/>
                </a:lnTo>
                <a:cubicBezTo>
                  <a:pt x="57783" y="184547"/>
                  <a:pt x="54918" y="180566"/>
                  <a:pt x="56183" y="176696"/>
                </a:cubicBezTo>
                <a:lnTo>
                  <a:pt x="76386" y="116086"/>
                </a:lnTo>
                <a:lnTo>
                  <a:pt x="39291" y="116086"/>
                </a:lnTo>
                <a:lnTo>
                  <a:pt x="19645" y="140643"/>
                </a:lnTo>
                <a:cubicBezTo>
                  <a:pt x="18529" y="142056"/>
                  <a:pt x="16818" y="142875"/>
                  <a:pt x="14994" y="142875"/>
                </a:cubicBezTo>
                <a:lnTo>
                  <a:pt x="7627" y="142875"/>
                </a:lnTo>
                <a:cubicBezTo>
                  <a:pt x="3758" y="142875"/>
                  <a:pt x="930" y="139229"/>
                  <a:pt x="1860" y="135471"/>
                </a:cubicBezTo>
                <a:lnTo>
                  <a:pt x="11906" y="95250"/>
                </a:lnTo>
                <a:lnTo>
                  <a:pt x="1860" y="55029"/>
                </a:lnTo>
                <a:cubicBezTo>
                  <a:pt x="893" y="51271"/>
                  <a:pt x="3758" y="47625"/>
                  <a:pt x="7627" y="47625"/>
                </a:cubicBezTo>
                <a:lnTo>
                  <a:pt x="14994" y="47625"/>
                </a:lnTo>
                <a:cubicBezTo>
                  <a:pt x="16818" y="47625"/>
                  <a:pt x="18529" y="48444"/>
                  <a:pt x="19645" y="49857"/>
                </a:cubicBezTo>
                <a:lnTo>
                  <a:pt x="39291" y="74414"/>
                </a:lnTo>
                <a:lnTo>
                  <a:pt x="76386" y="74414"/>
                </a:lnTo>
                <a:lnTo>
                  <a:pt x="56183" y="13804"/>
                </a:lnTo>
                <a:cubicBezTo>
                  <a:pt x="54918" y="9934"/>
                  <a:pt x="57783" y="5953"/>
                  <a:pt x="61838" y="5953"/>
                </a:cubicBezTo>
                <a:lnTo>
                  <a:pt x="78098" y="5953"/>
                </a:lnTo>
                <a:cubicBezTo>
                  <a:pt x="81446" y="5953"/>
                  <a:pt x="84609" y="7367"/>
                  <a:pt x="86878" y="9823"/>
                </a:cubicBezTo>
                <a:lnTo>
                  <a:pt x="146112" y="74414"/>
                </a:lnTo>
                <a:lnTo>
                  <a:pt x="193477" y="74414"/>
                </a:ln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5013275" y="1657350"/>
            <a:ext cx="2000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Multi-Engine Support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41775" y="21717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Expand to different engine types and aircraft models beyond the C-MAPSS dataset.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07263" y="1366838"/>
            <a:ext cx="3695700" cy="1495425"/>
          </a:xfrm>
          <a:custGeom>
            <a:avLst/>
            <a:gdLst/>
            <a:ahLst/>
            <a:cxnLst/>
            <a:rect l="l" t="t" r="r" b="b"/>
            <a:pathLst>
              <a:path w="3695700" h="1495425">
                <a:moveTo>
                  <a:pt x="0" y="0"/>
                </a:moveTo>
                <a:lnTo>
                  <a:pt x="3695700" y="0"/>
                </a:lnTo>
                <a:lnTo>
                  <a:pt x="36957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2526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5876" y="1695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8" name="Text 16"/>
          <p:cNvSpPr/>
          <p:nvPr/>
        </p:nvSpPr>
        <p:spPr>
          <a:xfrm>
            <a:off x="8874026" y="1657350"/>
            <a:ext cx="1800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02526" y="217170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ensemble models combining LSTM with other architectures for improved accuracy.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024188"/>
            <a:ext cx="3695700" cy="1495425"/>
          </a:xfrm>
          <a:custGeom>
            <a:avLst/>
            <a:gdLst/>
            <a:ahLst/>
            <a:cxnLst/>
            <a:rect l="l" t="t" r="r" b="b"/>
            <a:pathLst>
              <a:path w="3695700" h="1495425">
                <a:moveTo>
                  <a:pt x="0" y="0"/>
                </a:moveTo>
                <a:lnTo>
                  <a:pt x="3695700" y="0"/>
                </a:lnTo>
                <a:lnTo>
                  <a:pt x="36957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1025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2" name="Shape 20"/>
          <p:cNvSpPr/>
          <p:nvPr/>
        </p:nvSpPr>
        <p:spPr>
          <a:xfrm>
            <a:off x="714375" y="33528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Text 21"/>
          <p:cNvSpPr/>
          <p:nvPr/>
        </p:nvSpPr>
        <p:spPr>
          <a:xfrm>
            <a:off x="1152525" y="3314700"/>
            <a:ext cx="1781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Anomaly Detection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1025" y="38290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unsupervised anomaly detection for unexpected failure modes not seen in training.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46513" y="3024188"/>
            <a:ext cx="3695700" cy="1495425"/>
          </a:xfrm>
          <a:custGeom>
            <a:avLst/>
            <a:gdLst/>
            <a:ahLst/>
            <a:cxnLst/>
            <a:rect l="l" t="t" r="r" b="b"/>
            <a:pathLst>
              <a:path w="3695700" h="1495425">
                <a:moveTo>
                  <a:pt x="0" y="0"/>
                </a:moveTo>
                <a:lnTo>
                  <a:pt x="3695700" y="0"/>
                </a:lnTo>
                <a:lnTo>
                  <a:pt x="36957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41775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7" name="Shape 25"/>
          <p:cNvSpPr/>
          <p:nvPr/>
        </p:nvSpPr>
        <p:spPr>
          <a:xfrm>
            <a:off x="4598938" y="33528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8" name="Text 26"/>
          <p:cNvSpPr/>
          <p:nvPr/>
        </p:nvSpPr>
        <p:spPr>
          <a:xfrm>
            <a:off x="5013275" y="3314700"/>
            <a:ext cx="1762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Application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441775" y="38290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mobile app for field maintenance technicians to access real-time alerts.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7263" y="3024188"/>
            <a:ext cx="3695700" cy="1495425"/>
          </a:xfrm>
          <a:custGeom>
            <a:avLst/>
            <a:gdLst/>
            <a:ahLst/>
            <a:cxnLst/>
            <a:rect l="l" t="t" r="r" b="b"/>
            <a:pathLst>
              <a:path w="3695700" h="1495425">
                <a:moveTo>
                  <a:pt x="0" y="0"/>
                </a:moveTo>
                <a:lnTo>
                  <a:pt x="3695700" y="0"/>
                </a:lnTo>
                <a:lnTo>
                  <a:pt x="3695700" y="1495425"/>
                </a:lnTo>
                <a:lnTo>
                  <a:pt x="0" y="1495425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02526" y="3219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2" name="Shape 30"/>
          <p:cNvSpPr/>
          <p:nvPr/>
        </p:nvSpPr>
        <p:spPr>
          <a:xfrm>
            <a:off x="8423970" y="33528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56083" y="35719"/>
                </a:moveTo>
                <a:cubicBezTo>
                  <a:pt x="149907" y="35719"/>
                  <a:pt x="143917" y="37393"/>
                  <a:pt x="138671" y="40444"/>
                </a:cubicBezTo>
                <a:cubicBezTo>
                  <a:pt x="132792" y="34491"/>
                  <a:pt x="125946" y="29505"/>
                  <a:pt x="118393" y="25747"/>
                </a:cubicBezTo>
                <a:cubicBezTo>
                  <a:pt x="128885" y="16818"/>
                  <a:pt x="142242" y="11906"/>
                  <a:pt x="156083" y="11906"/>
                </a:cubicBezTo>
                <a:cubicBezTo>
                  <a:pt x="188230" y="11906"/>
                  <a:pt x="214313" y="37951"/>
                  <a:pt x="214313" y="70135"/>
                </a:cubicBezTo>
                <a:cubicBezTo>
                  <a:pt x="214313" y="85576"/>
                  <a:pt x="208173" y="100385"/>
                  <a:pt x="197272" y="111286"/>
                </a:cubicBezTo>
                <a:lnTo>
                  <a:pt x="170817" y="137740"/>
                </a:lnTo>
                <a:cubicBezTo>
                  <a:pt x="159916" y="148642"/>
                  <a:pt x="145107" y="154781"/>
                  <a:pt x="129667" y="154781"/>
                </a:cubicBezTo>
                <a:cubicBezTo>
                  <a:pt x="97520" y="154781"/>
                  <a:pt x="71438" y="128736"/>
                  <a:pt x="71438" y="96552"/>
                </a:cubicBezTo>
                <a:cubicBezTo>
                  <a:pt x="71438" y="95994"/>
                  <a:pt x="71438" y="95436"/>
                  <a:pt x="71475" y="94878"/>
                </a:cubicBezTo>
                <a:cubicBezTo>
                  <a:pt x="71661" y="88292"/>
                  <a:pt x="77130" y="83121"/>
                  <a:pt x="83716" y="83307"/>
                </a:cubicBezTo>
                <a:cubicBezTo>
                  <a:pt x="90301" y="83493"/>
                  <a:pt x="95473" y="88962"/>
                  <a:pt x="95287" y="95548"/>
                </a:cubicBezTo>
                <a:cubicBezTo>
                  <a:pt x="95287" y="95883"/>
                  <a:pt x="95287" y="96217"/>
                  <a:pt x="95287" y="96515"/>
                </a:cubicBezTo>
                <a:cubicBezTo>
                  <a:pt x="95287" y="115528"/>
                  <a:pt x="110691" y="130932"/>
                  <a:pt x="129704" y="130932"/>
                </a:cubicBezTo>
                <a:cubicBezTo>
                  <a:pt x="138819" y="130932"/>
                  <a:pt x="147563" y="127322"/>
                  <a:pt x="154037" y="120848"/>
                </a:cubicBezTo>
                <a:lnTo>
                  <a:pt x="180491" y="94394"/>
                </a:lnTo>
                <a:cubicBezTo>
                  <a:pt x="186928" y="87957"/>
                  <a:pt x="190574" y="79177"/>
                  <a:pt x="190574" y="70061"/>
                </a:cubicBezTo>
                <a:cubicBezTo>
                  <a:pt x="190574" y="51048"/>
                  <a:pt x="175171" y="35644"/>
                  <a:pt x="156158" y="35644"/>
                </a:cubicBezTo>
                <a:close/>
                <a:moveTo>
                  <a:pt x="102394" y="64480"/>
                </a:moveTo>
                <a:cubicBezTo>
                  <a:pt x="101687" y="64182"/>
                  <a:pt x="100980" y="63773"/>
                  <a:pt x="100347" y="63326"/>
                </a:cubicBezTo>
                <a:cubicBezTo>
                  <a:pt x="95659" y="60908"/>
                  <a:pt x="90301" y="59531"/>
                  <a:pt x="84683" y="59531"/>
                </a:cubicBezTo>
                <a:cubicBezTo>
                  <a:pt x="75567" y="59531"/>
                  <a:pt x="66824" y="63140"/>
                  <a:pt x="60350" y="69614"/>
                </a:cubicBezTo>
                <a:lnTo>
                  <a:pt x="33896" y="96069"/>
                </a:lnTo>
                <a:cubicBezTo>
                  <a:pt x="27459" y="102505"/>
                  <a:pt x="23812" y="111286"/>
                  <a:pt x="23812" y="120402"/>
                </a:cubicBezTo>
                <a:cubicBezTo>
                  <a:pt x="23812" y="139415"/>
                  <a:pt x="39216" y="154818"/>
                  <a:pt x="58229" y="154818"/>
                </a:cubicBezTo>
                <a:cubicBezTo>
                  <a:pt x="64368" y="154818"/>
                  <a:pt x="70358" y="153181"/>
                  <a:pt x="75605" y="150130"/>
                </a:cubicBezTo>
                <a:cubicBezTo>
                  <a:pt x="81483" y="156083"/>
                  <a:pt x="88329" y="161069"/>
                  <a:pt x="95920" y="164827"/>
                </a:cubicBezTo>
                <a:cubicBezTo>
                  <a:pt x="85427" y="173720"/>
                  <a:pt x="72107" y="178668"/>
                  <a:pt x="58229" y="178668"/>
                </a:cubicBezTo>
                <a:cubicBezTo>
                  <a:pt x="26082" y="178668"/>
                  <a:pt x="0" y="152623"/>
                  <a:pt x="0" y="120439"/>
                </a:cubicBezTo>
                <a:cubicBezTo>
                  <a:pt x="0" y="104998"/>
                  <a:pt x="6139" y="90190"/>
                  <a:pt x="17041" y="79288"/>
                </a:cubicBezTo>
                <a:lnTo>
                  <a:pt x="43495" y="52834"/>
                </a:lnTo>
                <a:cubicBezTo>
                  <a:pt x="54397" y="41932"/>
                  <a:pt x="69205" y="35793"/>
                  <a:pt x="84646" y="35793"/>
                </a:cubicBezTo>
                <a:cubicBezTo>
                  <a:pt x="116867" y="35793"/>
                  <a:pt x="142875" y="62061"/>
                  <a:pt x="142875" y="94171"/>
                </a:cubicBezTo>
                <a:cubicBezTo>
                  <a:pt x="142875" y="94655"/>
                  <a:pt x="142875" y="95138"/>
                  <a:pt x="142875" y="95622"/>
                </a:cubicBezTo>
                <a:cubicBezTo>
                  <a:pt x="142726" y="102208"/>
                  <a:pt x="137257" y="107379"/>
                  <a:pt x="130671" y="107231"/>
                </a:cubicBezTo>
                <a:cubicBezTo>
                  <a:pt x="124085" y="107082"/>
                  <a:pt x="118914" y="101612"/>
                  <a:pt x="119063" y="95027"/>
                </a:cubicBezTo>
                <a:cubicBezTo>
                  <a:pt x="119063" y="94729"/>
                  <a:pt x="119063" y="94469"/>
                  <a:pt x="119063" y="94171"/>
                </a:cubicBezTo>
                <a:cubicBezTo>
                  <a:pt x="119063" y="81632"/>
                  <a:pt x="112365" y="70619"/>
                  <a:pt x="102394" y="64554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8874026" y="3314700"/>
            <a:ext cx="1543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MRO Integration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02526" y="3829050"/>
            <a:ext cx="338137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with existing Maintenance, Repair, Overhaul systems for seamless workflows.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85763" y="4681538"/>
            <a:ext cx="11420475" cy="1647825"/>
          </a:xfrm>
          <a:custGeom>
            <a:avLst/>
            <a:gdLst/>
            <a:ahLst/>
            <a:cxnLst/>
            <a:rect l="l" t="t" r="r" b="b"/>
            <a:pathLst>
              <a:path w="11420475" h="1647825">
                <a:moveTo>
                  <a:pt x="0" y="0"/>
                </a:moveTo>
                <a:lnTo>
                  <a:pt x="11420475" y="0"/>
                </a:lnTo>
                <a:lnTo>
                  <a:pt x="11420475" y="1647825"/>
                </a:lnTo>
                <a:lnTo>
                  <a:pt x="0" y="1647825"/>
                </a:lnTo>
                <a:lnTo>
                  <a:pt x="0" y="0"/>
                </a:lnTo>
                <a:close/>
              </a:path>
            </a:pathLst>
          </a:custGeom>
          <a:solidFill>
            <a:srgbClr val="1A1D21">
              <a:alpha val="60000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88247" y="4905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7" name="Text 35"/>
          <p:cNvSpPr/>
          <p:nvPr/>
        </p:nvSpPr>
        <p:spPr>
          <a:xfrm>
            <a:off x="895350" y="4876800"/>
            <a:ext cx="10772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Roadmap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57225" y="5334000"/>
            <a:ext cx="3133725" cy="495300"/>
          </a:xfrm>
          <a:custGeom>
            <a:avLst/>
            <a:gdLst/>
            <a:ahLst/>
            <a:cxnLst/>
            <a:rect l="l" t="t" r="r" b="b"/>
            <a:pathLst>
              <a:path w="3133725" h="495300">
                <a:moveTo>
                  <a:pt x="0" y="0"/>
                </a:moveTo>
                <a:lnTo>
                  <a:pt x="3133725" y="0"/>
                </a:lnTo>
                <a:lnTo>
                  <a:pt x="31337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39" name="Text 37"/>
          <p:cNvSpPr/>
          <p:nvPr/>
        </p:nvSpPr>
        <p:spPr>
          <a:xfrm>
            <a:off x="728663" y="5448300"/>
            <a:ext cx="299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9125" y="590550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with regional airline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045000" y="5619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2" name="Shape 40"/>
          <p:cNvSpPr/>
          <p:nvPr/>
        </p:nvSpPr>
        <p:spPr>
          <a:xfrm>
            <a:off x="4530775" y="5334000"/>
            <a:ext cx="3133725" cy="495300"/>
          </a:xfrm>
          <a:custGeom>
            <a:avLst/>
            <a:gdLst/>
            <a:ahLst/>
            <a:cxnLst/>
            <a:rect l="l" t="t" r="r" b="b"/>
            <a:pathLst>
              <a:path w="3133725" h="495300">
                <a:moveTo>
                  <a:pt x="0" y="0"/>
                </a:moveTo>
                <a:lnTo>
                  <a:pt x="3133725" y="0"/>
                </a:lnTo>
                <a:lnTo>
                  <a:pt x="31337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602212" y="5448300"/>
            <a:ext cx="299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4492675" y="590550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 to major carriers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18549" y="56197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46" name="Shape 44"/>
          <p:cNvSpPr/>
          <p:nvPr/>
        </p:nvSpPr>
        <p:spPr>
          <a:xfrm>
            <a:off x="8404324" y="5334000"/>
            <a:ext cx="3133725" cy="495300"/>
          </a:xfrm>
          <a:custGeom>
            <a:avLst/>
            <a:gdLst/>
            <a:ahLst/>
            <a:cxnLst/>
            <a:rect l="l" t="t" r="r" b="b"/>
            <a:pathLst>
              <a:path w="3133725" h="495300">
                <a:moveTo>
                  <a:pt x="0" y="0"/>
                </a:moveTo>
                <a:lnTo>
                  <a:pt x="3133725" y="0"/>
                </a:lnTo>
                <a:lnTo>
                  <a:pt x="3133725" y="495300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6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475762" y="5448300"/>
            <a:ext cx="2990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1A1D2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366224" y="5905500"/>
            <a:ext cx="3209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market expansion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ransform.octanecdn.com/753f7881e561d364fd33b817f14ff2782f950730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1449" b="11449"/>
          <a:stretch/>
        </p:blipFill>
        <p:spPr>
          <a:xfrm>
            <a:off x="0" y="0"/>
            <a:ext cx="12192000" cy="7050237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7050237"/>
          </a:xfrm>
          <a:custGeom>
            <a:avLst/>
            <a:gdLst/>
            <a:ahLst/>
            <a:cxnLst/>
            <a:rect l="l" t="t" r="r" b="b"/>
            <a:pathLst>
              <a:path w="12192000" h="7050237">
                <a:moveTo>
                  <a:pt x="0" y="0"/>
                </a:moveTo>
                <a:lnTo>
                  <a:pt x="12192000" y="0"/>
                </a:lnTo>
                <a:lnTo>
                  <a:pt x="12192000" y="7050237"/>
                </a:lnTo>
                <a:lnTo>
                  <a:pt x="0" y="7050237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68825" y="11870"/>
            <a:ext cx="4048559" cy="611453"/>
          </a:xfrm>
          <a:custGeom>
            <a:avLst/>
            <a:gdLst/>
            <a:ahLst/>
            <a:cxnLst/>
            <a:rect l="l" t="t" r="r" b="b"/>
            <a:pathLst>
              <a:path w="4048559" h="611453">
                <a:moveTo>
                  <a:pt x="0" y="0"/>
                </a:moveTo>
                <a:lnTo>
                  <a:pt x="4048559" y="0"/>
                </a:lnTo>
                <a:lnTo>
                  <a:pt x="4048559" y="611453"/>
                </a:lnTo>
                <a:lnTo>
                  <a:pt x="0" y="611453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20000"/>
            </a:srgbClr>
          </a:solidFill>
          <a:ln w="25400">
            <a:solidFill>
              <a:srgbClr val="00A9E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318965" y="169366"/>
            <a:ext cx="3548280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spc="525" kern="0" dirty="0">
                <a:solidFill>
                  <a:srgbClr val="00A9E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HACKATHON 2026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537712" y="1225511"/>
            <a:ext cx="5113970" cy="926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95" b="1" dirty="0">
                <a:solidFill>
                  <a:srgbClr val="E8E8E8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204443" y="2448417"/>
            <a:ext cx="1778772" cy="0"/>
          </a:xfrm>
          <a:custGeom>
            <a:avLst/>
            <a:gdLst/>
            <a:ahLst/>
            <a:cxnLst/>
            <a:rect l="l" t="t" r="r" b="b"/>
            <a:pathLst>
              <a:path w="1778772" h="0">
                <a:moveTo>
                  <a:pt x="0" y="0"/>
                </a:moveTo>
                <a:lnTo>
                  <a:pt x="1778772" y="0"/>
                </a:lnTo>
                <a:lnTo>
                  <a:pt x="1778772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8" name="Text 5"/>
          <p:cNvSpPr/>
          <p:nvPr/>
        </p:nvSpPr>
        <p:spPr>
          <a:xfrm>
            <a:off x="3067253" y="2744879"/>
            <a:ext cx="6049678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dirty="0">
                <a:solidFill>
                  <a:srgbClr val="8A91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Innovate for Efficiency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81149" y="3300745"/>
            <a:ext cx="6021884" cy="722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75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reactive maintenance to predictive intelligence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75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deep learning and real-time monitoring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957816" y="4324466"/>
            <a:ext cx="6272024" cy="2158614"/>
          </a:xfrm>
          <a:custGeom>
            <a:avLst/>
            <a:gdLst/>
            <a:ahLst/>
            <a:cxnLst/>
            <a:rect l="l" t="t" r="r" b="b"/>
            <a:pathLst>
              <a:path w="6272024" h="2158614">
                <a:moveTo>
                  <a:pt x="0" y="0"/>
                </a:moveTo>
                <a:lnTo>
                  <a:pt x="6272024" y="0"/>
                </a:lnTo>
                <a:lnTo>
                  <a:pt x="6272024" y="2158614"/>
                </a:lnTo>
                <a:lnTo>
                  <a:pt x="0" y="2158614"/>
                </a:lnTo>
                <a:lnTo>
                  <a:pt x="0" y="0"/>
                </a:lnTo>
                <a:close/>
              </a:path>
            </a:pathLst>
          </a:custGeom>
          <a:solidFill>
            <a:srgbClr val="00A9E0">
              <a:alpha val="10196"/>
            </a:srgbClr>
          </a:solidFill>
          <a:ln w="12700">
            <a:solidFill>
              <a:srgbClr val="00A9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01820" y="4644089"/>
            <a:ext cx="347416" cy="277933"/>
          </a:xfrm>
          <a:custGeom>
            <a:avLst/>
            <a:gdLst/>
            <a:ahLst/>
            <a:cxnLst/>
            <a:rect l="l" t="t" r="r" b="b"/>
            <a:pathLst>
              <a:path w="347416" h="277933">
                <a:moveTo>
                  <a:pt x="173708" y="8685"/>
                </a:moveTo>
                <a:cubicBezTo>
                  <a:pt x="204867" y="8685"/>
                  <a:pt x="230163" y="33982"/>
                  <a:pt x="230163" y="65141"/>
                </a:cubicBezTo>
                <a:cubicBezTo>
                  <a:pt x="230163" y="96299"/>
                  <a:pt x="204867" y="121596"/>
                  <a:pt x="173708" y="121596"/>
                </a:cubicBezTo>
                <a:cubicBezTo>
                  <a:pt x="142550" y="121596"/>
                  <a:pt x="117253" y="96299"/>
                  <a:pt x="117253" y="65141"/>
                </a:cubicBezTo>
                <a:cubicBezTo>
                  <a:pt x="117253" y="33982"/>
                  <a:pt x="142550" y="8685"/>
                  <a:pt x="173708" y="8685"/>
                </a:cubicBezTo>
                <a:close/>
                <a:moveTo>
                  <a:pt x="52112" y="47770"/>
                </a:moveTo>
                <a:cubicBezTo>
                  <a:pt x="73684" y="47770"/>
                  <a:pt x="91197" y="65283"/>
                  <a:pt x="91197" y="86854"/>
                </a:cubicBezTo>
                <a:cubicBezTo>
                  <a:pt x="91197" y="108425"/>
                  <a:pt x="73684" y="125938"/>
                  <a:pt x="52112" y="125938"/>
                </a:cubicBezTo>
                <a:cubicBezTo>
                  <a:pt x="30541" y="125938"/>
                  <a:pt x="13028" y="108425"/>
                  <a:pt x="13028" y="86854"/>
                </a:cubicBezTo>
                <a:cubicBezTo>
                  <a:pt x="13028" y="65283"/>
                  <a:pt x="30541" y="47770"/>
                  <a:pt x="52112" y="47770"/>
                </a:cubicBezTo>
                <a:close/>
                <a:moveTo>
                  <a:pt x="0" y="225821"/>
                </a:moveTo>
                <a:cubicBezTo>
                  <a:pt x="0" y="187442"/>
                  <a:pt x="31105" y="156337"/>
                  <a:pt x="69483" y="156337"/>
                </a:cubicBezTo>
                <a:cubicBezTo>
                  <a:pt x="76432" y="156337"/>
                  <a:pt x="83163" y="157369"/>
                  <a:pt x="89514" y="159269"/>
                </a:cubicBezTo>
                <a:cubicBezTo>
                  <a:pt x="71655" y="179245"/>
                  <a:pt x="60798" y="205627"/>
                  <a:pt x="60798" y="234506"/>
                </a:cubicBezTo>
                <a:lnTo>
                  <a:pt x="60798" y="243191"/>
                </a:lnTo>
                <a:cubicBezTo>
                  <a:pt x="60798" y="249380"/>
                  <a:pt x="62101" y="255242"/>
                  <a:pt x="64435" y="260562"/>
                </a:cubicBezTo>
                <a:lnTo>
                  <a:pt x="17371" y="260562"/>
                </a:lnTo>
                <a:cubicBezTo>
                  <a:pt x="7763" y="260562"/>
                  <a:pt x="0" y="252800"/>
                  <a:pt x="0" y="243191"/>
                </a:cubicBezTo>
                <a:lnTo>
                  <a:pt x="0" y="225821"/>
                </a:lnTo>
                <a:close/>
                <a:moveTo>
                  <a:pt x="282982" y="260562"/>
                </a:moveTo>
                <a:cubicBezTo>
                  <a:pt x="285316" y="255242"/>
                  <a:pt x="286619" y="249380"/>
                  <a:pt x="286619" y="243191"/>
                </a:cubicBezTo>
                <a:lnTo>
                  <a:pt x="286619" y="234506"/>
                </a:lnTo>
                <a:cubicBezTo>
                  <a:pt x="286619" y="205627"/>
                  <a:pt x="275762" y="179245"/>
                  <a:pt x="257902" y="159269"/>
                </a:cubicBezTo>
                <a:cubicBezTo>
                  <a:pt x="264254" y="157369"/>
                  <a:pt x="270985" y="156337"/>
                  <a:pt x="277933" y="156337"/>
                </a:cubicBezTo>
                <a:cubicBezTo>
                  <a:pt x="316312" y="156337"/>
                  <a:pt x="347416" y="187442"/>
                  <a:pt x="347416" y="225821"/>
                </a:cubicBezTo>
                <a:lnTo>
                  <a:pt x="347416" y="243191"/>
                </a:lnTo>
                <a:cubicBezTo>
                  <a:pt x="347416" y="252800"/>
                  <a:pt x="339654" y="260562"/>
                  <a:pt x="330046" y="260562"/>
                </a:cubicBezTo>
                <a:lnTo>
                  <a:pt x="282982" y="260562"/>
                </a:lnTo>
                <a:close/>
                <a:moveTo>
                  <a:pt x="256220" y="86854"/>
                </a:moveTo>
                <a:cubicBezTo>
                  <a:pt x="256220" y="65283"/>
                  <a:pt x="273733" y="47770"/>
                  <a:pt x="295304" y="47770"/>
                </a:cubicBezTo>
                <a:cubicBezTo>
                  <a:pt x="316875" y="47770"/>
                  <a:pt x="334388" y="65283"/>
                  <a:pt x="334388" y="86854"/>
                </a:cubicBezTo>
                <a:cubicBezTo>
                  <a:pt x="334388" y="108425"/>
                  <a:pt x="316875" y="125938"/>
                  <a:pt x="295304" y="125938"/>
                </a:cubicBezTo>
                <a:cubicBezTo>
                  <a:pt x="273733" y="125938"/>
                  <a:pt x="256220" y="108425"/>
                  <a:pt x="256220" y="86854"/>
                </a:cubicBezTo>
                <a:close/>
                <a:moveTo>
                  <a:pt x="86854" y="234506"/>
                </a:moveTo>
                <a:cubicBezTo>
                  <a:pt x="86854" y="186519"/>
                  <a:pt x="125721" y="147652"/>
                  <a:pt x="173708" y="147652"/>
                </a:cubicBezTo>
                <a:cubicBezTo>
                  <a:pt x="221695" y="147652"/>
                  <a:pt x="260562" y="186519"/>
                  <a:pt x="260562" y="234506"/>
                </a:cubicBezTo>
                <a:lnTo>
                  <a:pt x="260562" y="243191"/>
                </a:lnTo>
                <a:cubicBezTo>
                  <a:pt x="260562" y="252800"/>
                  <a:pt x="252800" y="260562"/>
                  <a:pt x="243191" y="260562"/>
                </a:cubicBezTo>
                <a:lnTo>
                  <a:pt x="104225" y="260562"/>
                </a:lnTo>
                <a:cubicBezTo>
                  <a:pt x="94617" y="260562"/>
                  <a:pt x="86854" y="252800"/>
                  <a:pt x="86854" y="243191"/>
                </a:cubicBezTo>
                <a:lnTo>
                  <a:pt x="86854" y="234506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2" name="Text 9"/>
          <p:cNvSpPr/>
          <p:nvPr/>
        </p:nvSpPr>
        <p:spPr>
          <a:xfrm>
            <a:off x="3649608" y="4625560"/>
            <a:ext cx="5348622" cy="33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18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Contributors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959100" y="5181426"/>
            <a:ext cx="291830" cy="333520"/>
          </a:xfrm>
          <a:custGeom>
            <a:avLst/>
            <a:gdLst/>
            <a:ahLst/>
            <a:cxnLst/>
            <a:rect l="l" t="t" r="r" b="b"/>
            <a:pathLst>
              <a:path w="291830" h="333520">
                <a:moveTo>
                  <a:pt x="157184" y="-8468"/>
                </a:moveTo>
                <a:cubicBezTo>
                  <a:pt x="149758" y="-9967"/>
                  <a:pt x="142137" y="-9967"/>
                  <a:pt x="134711" y="-8468"/>
                </a:cubicBezTo>
                <a:lnTo>
                  <a:pt x="12572" y="15959"/>
                </a:lnTo>
                <a:cubicBezTo>
                  <a:pt x="5276" y="17393"/>
                  <a:pt x="0" y="23841"/>
                  <a:pt x="0" y="31267"/>
                </a:cubicBezTo>
                <a:cubicBezTo>
                  <a:pt x="0" y="37977"/>
                  <a:pt x="4234" y="43840"/>
                  <a:pt x="10422" y="45989"/>
                </a:cubicBezTo>
                <a:lnTo>
                  <a:pt x="10422" y="93802"/>
                </a:lnTo>
                <a:lnTo>
                  <a:pt x="195" y="145003"/>
                </a:lnTo>
                <a:cubicBezTo>
                  <a:pt x="65" y="145589"/>
                  <a:pt x="0" y="146241"/>
                  <a:pt x="0" y="146892"/>
                </a:cubicBezTo>
                <a:cubicBezTo>
                  <a:pt x="0" y="152103"/>
                  <a:pt x="4234" y="156403"/>
                  <a:pt x="9511" y="156403"/>
                </a:cubicBezTo>
                <a:lnTo>
                  <a:pt x="32245" y="156403"/>
                </a:lnTo>
                <a:cubicBezTo>
                  <a:pt x="37456" y="156403"/>
                  <a:pt x="41755" y="152168"/>
                  <a:pt x="41755" y="146892"/>
                </a:cubicBezTo>
                <a:cubicBezTo>
                  <a:pt x="41755" y="146241"/>
                  <a:pt x="41690" y="145654"/>
                  <a:pt x="41560" y="145003"/>
                </a:cubicBezTo>
                <a:lnTo>
                  <a:pt x="31267" y="93802"/>
                </a:lnTo>
                <a:lnTo>
                  <a:pt x="31267" y="50354"/>
                </a:lnTo>
                <a:lnTo>
                  <a:pt x="62535" y="56607"/>
                </a:lnTo>
                <a:lnTo>
                  <a:pt x="62535" y="93802"/>
                </a:lnTo>
                <a:cubicBezTo>
                  <a:pt x="62535" y="139857"/>
                  <a:pt x="99861" y="177182"/>
                  <a:pt x="145915" y="177182"/>
                </a:cubicBezTo>
                <a:cubicBezTo>
                  <a:pt x="191969" y="177182"/>
                  <a:pt x="229295" y="139857"/>
                  <a:pt x="229295" y="93802"/>
                </a:cubicBezTo>
                <a:lnTo>
                  <a:pt x="229295" y="56607"/>
                </a:lnTo>
                <a:lnTo>
                  <a:pt x="279258" y="46641"/>
                </a:lnTo>
                <a:cubicBezTo>
                  <a:pt x="286553" y="45142"/>
                  <a:pt x="291830" y="38694"/>
                  <a:pt x="291830" y="31267"/>
                </a:cubicBezTo>
                <a:cubicBezTo>
                  <a:pt x="291830" y="23841"/>
                  <a:pt x="286553" y="17393"/>
                  <a:pt x="279258" y="15959"/>
                </a:cubicBezTo>
                <a:lnTo>
                  <a:pt x="157184" y="-8468"/>
                </a:lnTo>
                <a:close/>
                <a:moveTo>
                  <a:pt x="145915" y="145915"/>
                </a:moveTo>
                <a:cubicBezTo>
                  <a:pt x="117123" y="145915"/>
                  <a:pt x="93802" y="122595"/>
                  <a:pt x="93802" y="93802"/>
                </a:cubicBezTo>
                <a:lnTo>
                  <a:pt x="198027" y="93802"/>
                </a:lnTo>
                <a:cubicBezTo>
                  <a:pt x="198027" y="122595"/>
                  <a:pt x="174707" y="145915"/>
                  <a:pt x="145915" y="145915"/>
                </a:cubicBezTo>
                <a:close/>
                <a:moveTo>
                  <a:pt x="78234" y="208515"/>
                </a:moveTo>
                <a:cubicBezTo>
                  <a:pt x="38238" y="226885"/>
                  <a:pt x="10422" y="267272"/>
                  <a:pt x="10422" y="314173"/>
                </a:cubicBezTo>
                <a:cubicBezTo>
                  <a:pt x="10422" y="324856"/>
                  <a:pt x="19086" y="333520"/>
                  <a:pt x="29769" y="333520"/>
                </a:cubicBezTo>
                <a:lnTo>
                  <a:pt x="130281" y="333520"/>
                </a:lnTo>
                <a:lnTo>
                  <a:pt x="130281" y="238415"/>
                </a:lnTo>
                <a:lnTo>
                  <a:pt x="92890" y="210404"/>
                </a:lnTo>
                <a:cubicBezTo>
                  <a:pt x="88656" y="207212"/>
                  <a:pt x="82989" y="206365"/>
                  <a:pt x="78169" y="208580"/>
                </a:cubicBezTo>
                <a:close/>
                <a:moveTo>
                  <a:pt x="161549" y="333520"/>
                </a:moveTo>
                <a:lnTo>
                  <a:pt x="262061" y="333520"/>
                </a:lnTo>
                <a:cubicBezTo>
                  <a:pt x="272744" y="333520"/>
                  <a:pt x="281407" y="324856"/>
                  <a:pt x="281407" y="314173"/>
                </a:cubicBezTo>
                <a:cubicBezTo>
                  <a:pt x="281407" y="267272"/>
                  <a:pt x="253592" y="226885"/>
                  <a:pt x="213596" y="208580"/>
                </a:cubicBezTo>
                <a:cubicBezTo>
                  <a:pt x="208776" y="206365"/>
                  <a:pt x="203108" y="207212"/>
                  <a:pt x="198874" y="210404"/>
                </a:cubicBezTo>
                <a:lnTo>
                  <a:pt x="161483" y="238415"/>
                </a:lnTo>
                <a:lnTo>
                  <a:pt x="161483" y="33352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4" name="Text 11"/>
          <p:cNvSpPr/>
          <p:nvPr/>
        </p:nvSpPr>
        <p:spPr>
          <a:xfrm>
            <a:off x="3203324" y="5626119"/>
            <a:ext cx="180656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Soumyadeep De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21853" y="5959639"/>
            <a:ext cx="176950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947914" y="5181426"/>
            <a:ext cx="291830" cy="333520"/>
          </a:xfrm>
          <a:custGeom>
            <a:avLst/>
            <a:gdLst/>
            <a:ahLst/>
            <a:cxnLst/>
            <a:rect l="l" t="t" r="r" b="b"/>
            <a:pathLst>
              <a:path w="291830" h="333520">
                <a:moveTo>
                  <a:pt x="157184" y="-8468"/>
                </a:moveTo>
                <a:cubicBezTo>
                  <a:pt x="149758" y="-9967"/>
                  <a:pt x="142137" y="-9967"/>
                  <a:pt x="134711" y="-8468"/>
                </a:cubicBezTo>
                <a:lnTo>
                  <a:pt x="12572" y="15959"/>
                </a:lnTo>
                <a:cubicBezTo>
                  <a:pt x="5276" y="17393"/>
                  <a:pt x="0" y="23841"/>
                  <a:pt x="0" y="31267"/>
                </a:cubicBezTo>
                <a:cubicBezTo>
                  <a:pt x="0" y="37977"/>
                  <a:pt x="4234" y="43840"/>
                  <a:pt x="10422" y="45989"/>
                </a:cubicBezTo>
                <a:lnTo>
                  <a:pt x="10422" y="93802"/>
                </a:lnTo>
                <a:lnTo>
                  <a:pt x="195" y="145003"/>
                </a:lnTo>
                <a:cubicBezTo>
                  <a:pt x="65" y="145589"/>
                  <a:pt x="0" y="146241"/>
                  <a:pt x="0" y="146892"/>
                </a:cubicBezTo>
                <a:cubicBezTo>
                  <a:pt x="0" y="152103"/>
                  <a:pt x="4234" y="156403"/>
                  <a:pt x="9511" y="156403"/>
                </a:cubicBezTo>
                <a:lnTo>
                  <a:pt x="32245" y="156403"/>
                </a:lnTo>
                <a:cubicBezTo>
                  <a:pt x="37456" y="156403"/>
                  <a:pt x="41755" y="152168"/>
                  <a:pt x="41755" y="146892"/>
                </a:cubicBezTo>
                <a:cubicBezTo>
                  <a:pt x="41755" y="146241"/>
                  <a:pt x="41690" y="145654"/>
                  <a:pt x="41560" y="145003"/>
                </a:cubicBezTo>
                <a:lnTo>
                  <a:pt x="31267" y="93802"/>
                </a:lnTo>
                <a:lnTo>
                  <a:pt x="31267" y="50354"/>
                </a:lnTo>
                <a:lnTo>
                  <a:pt x="62535" y="56607"/>
                </a:lnTo>
                <a:lnTo>
                  <a:pt x="62535" y="93802"/>
                </a:lnTo>
                <a:cubicBezTo>
                  <a:pt x="62535" y="139857"/>
                  <a:pt x="99861" y="177182"/>
                  <a:pt x="145915" y="177182"/>
                </a:cubicBezTo>
                <a:cubicBezTo>
                  <a:pt x="191969" y="177182"/>
                  <a:pt x="229295" y="139857"/>
                  <a:pt x="229295" y="93802"/>
                </a:cubicBezTo>
                <a:lnTo>
                  <a:pt x="229295" y="56607"/>
                </a:lnTo>
                <a:lnTo>
                  <a:pt x="279258" y="46641"/>
                </a:lnTo>
                <a:cubicBezTo>
                  <a:pt x="286553" y="45142"/>
                  <a:pt x="291830" y="38694"/>
                  <a:pt x="291830" y="31267"/>
                </a:cubicBezTo>
                <a:cubicBezTo>
                  <a:pt x="291830" y="23841"/>
                  <a:pt x="286553" y="17393"/>
                  <a:pt x="279258" y="15959"/>
                </a:cubicBezTo>
                <a:lnTo>
                  <a:pt x="157184" y="-8468"/>
                </a:lnTo>
                <a:close/>
                <a:moveTo>
                  <a:pt x="145915" y="145915"/>
                </a:moveTo>
                <a:cubicBezTo>
                  <a:pt x="117123" y="145915"/>
                  <a:pt x="93802" y="122595"/>
                  <a:pt x="93802" y="93802"/>
                </a:cubicBezTo>
                <a:lnTo>
                  <a:pt x="198027" y="93802"/>
                </a:lnTo>
                <a:cubicBezTo>
                  <a:pt x="198027" y="122595"/>
                  <a:pt x="174707" y="145915"/>
                  <a:pt x="145915" y="145915"/>
                </a:cubicBezTo>
                <a:close/>
                <a:moveTo>
                  <a:pt x="78234" y="208515"/>
                </a:moveTo>
                <a:cubicBezTo>
                  <a:pt x="38238" y="226885"/>
                  <a:pt x="10422" y="267272"/>
                  <a:pt x="10422" y="314173"/>
                </a:cubicBezTo>
                <a:cubicBezTo>
                  <a:pt x="10422" y="324856"/>
                  <a:pt x="19086" y="333520"/>
                  <a:pt x="29769" y="333520"/>
                </a:cubicBezTo>
                <a:lnTo>
                  <a:pt x="130281" y="333520"/>
                </a:lnTo>
                <a:lnTo>
                  <a:pt x="130281" y="238415"/>
                </a:lnTo>
                <a:lnTo>
                  <a:pt x="92890" y="210404"/>
                </a:lnTo>
                <a:cubicBezTo>
                  <a:pt x="88656" y="207212"/>
                  <a:pt x="82989" y="206365"/>
                  <a:pt x="78169" y="208580"/>
                </a:cubicBezTo>
                <a:close/>
                <a:moveTo>
                  <a:pt x="161549" y="333520"/>
                </a:moveTo>
                <a:lnTo>
                  <a:pt x="262061" y="333520"/>
                </a:lnTo>
                <a:cubicBezTo>
                  <a:pt x="272744" y="333520"/>
                  <a:pt x="281407" y="324856"/>
                  <a:pt x="281407" y="314173"/>
                </a:cubicBezTo>
                <a:cubicBezTo>
                  <a:pt x="281407" y="267272"/>
                  <a:pt x="253592" y="226885"/>
                  <a:pt x="213596" y="208580"/>
                </a:cubicBezTo>
                <a:cubicBezTo>
                  <a:pt x="208776" y="206365"/>
                  <a:pt x="203108" y="207212"/>
                  <a:pt x="198874" y="210404"/>
                </a:cubicBezTo>
                <a:lnTo>
                  <a:pt x="161483" y="238415"/>
                </a:lnTo>
                <a:lnTo>
                  <a:pt x="161483" y="33352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17" name="Text 14"/>
          <p:cNvSpPr/>
          <p:nvPr/>
        </p:nvSpPr>
        <p:spPr>
          <a:xfrm>
            <a:off x="5192138" y="5626119"/>
            <a:ext cx="180656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Rishav Kundu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10667" y="5959639"/>
            <a:ext cx="176950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936728" y="5181426"/>
            <a:ext cx="291830" cy="333520"/>
          </a:xfrm>
          <a:custGeom>
            <a:avLst/>
            <a:gdLst/>
            <a:ahLst/>
            <a:cxnLst/>
            <a:rect l="l" t="t" r="r" b="b"/>
            <a:pathLst>
              <a:path w="291830" h="333520">
                <a:moveTo>
                  <a:pt x="157184" y="-8468"/>
                </a:moveTo>
                <a:cubicBezTo>
                  <a:pt x="149758" y="-9967"/>
                  <a:pt x="142137" y="-9967"/>
                  <a:pt x="134711" y="-8468"/>
                </a:cubicBezTo>
                <a:lnTo>
                  <a:pt x="12572" y="15959"/>
                </a:lnTo>
                <a:cubicBezTo>
                  <a:pt x="5276" y="17393"/>
                  <a:pt x="0" y="23841"/>
                  <a:pt x="0" y="31267"/>
                </a:cubicBezTo>
                <a:cubicBezTo>
                  <a:pt x="0" y="37977"/>
                  <a:pt x="4234" y="43840"/>
                  <a:pt x="10422" y="45989"/>
                </a:cubicBezTo>
                <a:lnTo>
                  <a:pt x="10422" y="93802"/>
                </a:lnTo>
                <a:lnTo>
                  <a:pt x="195" y="145003"/>
                </a:lnTo>
                <a:cubicBezTo>
                  <a:pt x="65" y="145589"/>
                  <a:pt x="0" y="146241"/>
                  <a:pt x="0" y="146892"/>
                </a:cubicBezTo>
                <a:cubicBezTo>
                  <a:pt x="0" y="152103"/>
                  <a:pt x="4234" y="156403"/>
                  <a:pt x="9511" y="156403"/>
                </a:cubicBezTo>
                <a:lnTo>
                  <a:pt x="32245" y="156403"/>
                </a:lnTo>
                <a:cubicBezTo>
                  <a:pt x="37456" y="156403"/>
                  <a:pt x="41755" y="152168"/>
                  <a:pt x="41755" y="146892"/>
                </a:cubicBezTo>
                <a:cubicBezTo>
                  <a:pt x="41755" y="146241"/>
                  <a:pt x="41690" y="145654"/>
                  <a:pt x="41560" y="145003"/>
                </a:cubicBezTo>
                <a:lnTo>
                  <a:pt x="31267" y="93802"/>
                </a:lnTo>
                <a:lnTo>
                  <a:pt x="31267" y="50354"/>
                </a:lnTo>
                <a:lnTo>
                  <a:pt x="62535" y="56607"/>
                </a:lnTo>
                <a:lnTo>
                  <a:pt x="62535" y="93802"/>
                </a:lnTo>
                <a:cubicBezTo>
                  <a:pt x="62535" y="139857"/>
                  <a:pt x="99861" y="177182"/>
                  <a:pt x="145915" y="177182"/>
                </a:cubicBezTo>
                <a:cubicBezTo>
                  <a:pt x="191969" y="177182"/>
                  <a:pt x="229295" y="139857"/>
                  <a:pt x="229295" y="93802"/>
                </a:cubicBezTo>
                <a:lnTo>
                  <a:pt x="229295" y="56607"/>
                </a:lnTo>
                <a:lnTo>
                  <a:pt x="279258" y="46641"/>
                </a:lnTo>
                <a:cubicBezTo>
                  <a:pt x="286553" y="45142"/>
                  <a:pt x="291830" y="38694"/>
                  <a:pt x="291830" y="31267"/>
                </a:cubicBezTo>
                <a:cubicBezTo>
                  <a:pt x="291830" y="23841"/>
                  <a:pt x="286553" y="17393"/>
                  <a:pt x="279258" y="15959"/>
                </a:cubicBezTo>
                <a:lnTo>
                  <a:pt x="157184" y="-8468"/>
                </a:lnTo>
                <a:close/>
                <a:moveTo>
                  <a:pt x="145915" y="145915"/>
                </a:moveTo>
                <a:cubicBezTo>
                  <a:pt x="117123" y="145915"/>
                  <a:pt x="93802" y="122595"/>
                  <a:pt x="93802" y="93802"/>
                </a:cubicBezTo>
                <a:lnTo>
                  <a:pt x="198027" y="93802"/>
                </a:lnTo>
                <a:cubicBezTo>
                  <a:pt x="198027" y="122595"/>
                  <a:pt x="174707" y="145915"/>
                  <a:pt x="145915" y="145915"/>
                </a:cubicBezTo>
                <a:close/>
                <a:moveTo>
                  <a:pt x="78234" y="208515"/>
                </a:moveTo>
                <a:cubicBezTo>
                  <a:pt x="38238" y="226885"/>
                  <a:pt x="10422" y="267272"/>
                  <a:pt x="10422" y="314173"/>
                </a:cubicBezTo>
                <a:cubicBezTo>
                  <a:pt x="10422" y="324856"/>
                  <a:pt x="19086" y="333520"/>
                  <a:pt x="29769" y="333520"/>
                </a:cubicBezTo>
                <a:lnTo>
                  <a:pt x="130281" y="333520"/>
                </a:lnTo>
                <a:lnTo>
                  <a:pt x="130281" y="238415"/>
                </a:lnTo>
                <a:lnTo>
                  <a:pt x="92890" y="210404"/>
                </a:lnTo>
                <a:cubicBezTo>
                  <a:pt x="88656" y="207212"/>
                  <a:pt x="82989" y="206365"/>
                  <a:pt x="78169" y="208580"/>
                </a:cubicBezTo>
                <a:close/>
                <a:moveTo>
                  <a:pt x="161549" y="333520"/>
                </a:moveTo>
                <a:lnTo>
                  <a:pt x="262061" y="333520"/>
                </a:lnTo>
                <a:cubicBezTo>
                  <a:pt x="272744" y="333520"/>
                  <a:pt x="281407" y="324856"/>
                  <a:pt x="281407" y="314173"/>
                </a:cubicBezTo>
                <a:cubicBezTo>
                  <a:pt x="281407" y="267272"/>
                  <a:pt x="253592" y="226885"/>
                  <a:pt x="213596" y="208580"/>
                </a:cubicBezTo>
                <a:cubicBezTo>
                  <a:pt x="208776" y="206365"/>
                  <a:pt x="203108" y="207212"/>
                  <a:pt x="198874" y="210404"/>
                </a:cubicBezTo>
                <a:lnTo>
                  <a:pt x="161483" y="238415"/>
                </a:lnTo>
                <a:lnTo>
                  <a:pt x="161483" y="333520"/>
                </a:lnTo>
                <a:close/>
              </a:path>
            </a:pathLst>
          </a:custGeom>
          <a:solidFill>
            <a:srgbClr val="00A9E0"/>
          </a:solidFill>
          <a:ln/>
        </p:spPr>
      </p:sp>
      <p:sp>
        <p:nvSpPr>
          <p:cNvPr id="20" name="Text 17"/>
          <p:cNvSpPr/>
          <p:nvPr/>
        </p:nvSpPr>
        <p:spPr>
          <a:xfrm>
            <a:off x="7180953" y="5626119"/>
            <a:ext cx="1806565" cy="2964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751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Ayindrik Deb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99481" y="5959639"/>
            <a:ext cx="1769508" cy="222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67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Member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584285" y="6784174"/>
            <a:ext cx="1019088" cy="259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59" dirty="0">
                <a:solidFill>
                  <a:srgbClr val="8A91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Aircraft Engine RUL Prediction &amp; Monitoring</dc:title>
  <dc:subject>Aircraft Engine RUL Prediction &amp; Monitoring</dc:subject>
  <dc:creator>Kimi</dc:creator>
  <cp:lastModifiedBy>Kimi</cp:lastModifiedBy>
  <cp:revision>1</cp:revision>
  <dcterms:created xsi:type="dcterms:W3CDTF">2026-01-18T06:06:38Z</dcterms:created>
  <dcterms:modified xsi:type="dcterms:W3CDTF">2026-01-18T06:06:38Z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{"Label":"Aircraft Engine RUL Prediction &amp; Monitoring","ContentProducer":"001191110108MACG2KBH8F10000","ProduceID":"19bcfa9e-9332-8b6f-8000-00008a0b96fe","ReservedCode1":"","ContentPropagator":"001191110108MACG2KBH8F20000","PropagateID":"19bcfa9e-9332-8b6f-8000-00008a0b96fe","ReservedCode2":""}</vt:lpwstr>
  </property>
</Properties>
</file>